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4206240"/>
            <a:ext cx="3840480" cy="3840480"/>
          </a:xfrm>
          <a:prstGeom prst="ellipse">
            <a:avLst/>
          </a:prstGeom>
          <a:solidFill>
            <a:srgbClr val="232C63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MANAGEMENT  ·  AGENT REFERENCE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19456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SLA Compliance Agent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338328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vendor's jobs are scored into a single SLA compliance percentage —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how that result is persisted for downstream vendor management.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70916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141B47"/>
          </a:solidFill>
          <a:ln w="12700">
            <a:solidFill>
              <a:srgbClr val="3440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48006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005840" y="52852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03320" y="470916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141B47"/>
          </a:solidFill>
          <a:ln w="12700">
            <a:solidFill>
              <a:srgbClr val="3440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86200" y="48006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886200" y="52852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Read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470916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141B47"/>
          </a:solidFill>
          <a:ln w="12700">
            <a:solidFill>
              <a:srgbClr val="3440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48006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766560" y="52852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Written (Upsert)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6263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internal review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SLA Compliance Agent Does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155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only a vendor ID, the agent reviews every job assigned to that vendor, scores how many met their SLA, calculates a compliance percentage, and stores the result so other vendor-management agents can consume it — without the Vendor Manager supplying any raw job data.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SIMPLE TERMS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1965960" cy="123444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3063240"/>
            <a:ext cx="174650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ID</a:t>
            </a:r>
            <a:endParaRPr lang="en-US" sz="12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comes 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14600" y="3063240"/>
            <a:ext cx="25603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770632" y="3063240"/>
            <a:ext cx="1965960" cy="123444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2880360" y="3063240"/>
            <a:ext cx="174650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pulls all</a:t>
            </a:r>
            <a:endParaRPr lang="en-US" sz="12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vendor's jobs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36592" y="3063240"/>
            <a:ext cx="25603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992624" y="3063240"/>
            <a:ext cx="1965960" cy="123444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102352" y="3063240"/>
            <a:ext cx="174650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Excludes jobs with</a:t>
            </a:r>
            <a:endParaRPr lang="en-US" sz="12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SLA status yet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58584" y="3063240"/>
            <a:ext cx="25603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214616" y="3063240"/>
            <a:ext cx="1965960" cy="123444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324344" y="3063240"/>
            <a:ext cx="174650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Overdue vs.</a:t>
            </a:r>
            <a:endParaRPr lang="en-US" sz="12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80576" y="3063240"/>
            <a:ext cx="25603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9436608" y="3063240"/>
            <a:ext cx="1965960" cy="1234440"/>
          </a:xfrm>
          <a:prstGeom prst="roundRect">
            <a:avLst>
              <a:gd name="adj" fmla="val 6667"/>
            </a:avLst>
          </a:prstGeom>
          <a:solidFill>
            <a:srgbClr val="2E9E6D"/>
          </a:solidFill>
          <a:ln/>
        </p:spPr>
      </p:sp>
      <p:sp>
        <p:nvSpPr>
          <p:cNvPr id="19" name="Text 17"/>
          <p:cNvSpPr/>
          <p:nvPr/>
        </p:nvSpPr>
        <p:spPr>
          <a:xfrm>
            <a:off x="9546336" y="3063240"/>
            <a:ext cx="174650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% in</a:t>
            </a:r>
            <a:endParaRPr lang="en-US" sz="12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sla_tracker_output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89204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4F6FC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029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BY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77240" y="53035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vendor ID from the Vendor Manager, e.g. "Check SLA for VEN-001"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389120" y="489204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4F6FC"/>
          </a:solidFill>
          <a:ln/>
        </p:spPr>
      </p:sp>
      <p:sp>
        <p:nvSpPr>
          <p:cNvPr id="24" name="Text 22"/>
          <p:cNvSpPr/>
          <p:nvPr/>
        </p:nvSpPr>
        <p:spPr>
          <a:xfrm>
            <a:off x="4617720" y="5029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OUTPUT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617720" y="53035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refreshed row in sla_tracker_output (SLA %, response &amp; completion time)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229600" y="489204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4F6FC"/>
          </a:solidFill>
          <a:ln/>
        </p:spPr>
      </p:sp>
      <p:sp>
        <p:nvSpPr>
          <p:cNvPr id="27" name="Text 25"/>
          <p:cNvSpPr/>
          <p:nvPr/>
        </p:nvSpPr>
        <p:spPr>
          <a:xfrm>
            <a:off x="8458200" y="5029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CONSUMERS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458200" y="53035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performance evaluation, escalation, operational monitoring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 Agent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Agent Sits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8595360" cy="658368"/>
          </a:xfrm>
          <a:prstGeom prst="roundRect">
            <a:avLst>
              <a:gd name="adj" fmla="val 9722"/>
            </a:avLst>
          </a:prstGeom>
          <a:solidFill>
            <a:srgbClr val="6E759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00200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Manager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886200" y="160020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a plain-language request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0" y="2240280"/>
            <a:ext cx="548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350008"/>
            <a:ext cx="8595360" cy="658368"/>
          </a:xfrm>
          <a:prstGeom prst="roundRect">
            <a:avLst>
              <a:gd name="adj" fmla="val 9722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350008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/chat  ·  port 9108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86200" y="2350008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 — server.py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0" y="2990088"/>
            <a:ext cx="548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099816"/>
            <a:ext cx="8595360" cy="658368"/>
          </a:xfrm>
          <a:prstGeom prst="roundRect">
            <a:avLst>
              <a:gd name="adj" fmla="val 9722"/>
            </a:avLst>
          </a:prstGeom>
          <a:solidFill>
            <a:srgbClr val="3A4A9E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099816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Agent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86200" y="3099816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the prompt, decides which tools to call via Azure OpenAI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0" y="3739896"/>
            <a:ext cx="548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849624"/>
            <a:ext cx="8595360" cy="658368"/>
          </a:xfrm>
          <a:prstGeom prst="roundRect">
            <a:avLst>
              <a:gd name="adj" fmla="val 9722"/>
            </a:avLst>
          </a:prstGeom>
          <a:solidFill>
            <a:srgbClr val="D98A2B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849624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 ·  port 9100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886200" y="3849624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get_vendor_jobs_sla, compute_sla_compliance, get_sla_tracker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0" y="4489704"/>
            <a:ext cx="548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599432"/>
            <a:ext cx="8595360" cy="658368"/>
          </a:xfrm>
          <a:prstGeom prst="roundRect">
            <a:avLst>
              <a:gd name="adj" fmla="val 9722"/>
            </a:avLst>
          </a:prstGeom>
          <a:solidFill>
            <a:srgbClr val="2E9E6D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599432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handler.py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886200" y="4599432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— reads jobs, calculates compliance, writes the tracker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0" y="5239512"/>
            <a:ext cx="548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349240"/>
            <a:ext cx="8595360" cy="658368"/>
          </a:xfrm>
          <a:prstGeom prst="roundRect">
            <a:avLst>
              <a:gd name="adj" fmla="val 9722"/>
            </a:avLst>
          </a:prstGeom>
          <a:solidFill>
            <a:srgbClr val="141B47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349240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886200" y="534924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vendor_jobs_input · vendor_master_input · vendors · sla_tracker_output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372600" y="1600200"/>
            <a:ext cx="2286000" cy="4434840"/>
          </a:xfrm>
          <a:prstGeom prst="roundRect">
            <a:avLst>
              <a:gd name="adj" fmla="val 3600"/>
            </a:avLst>
          </a:prstGeom>
          <a:solidFill>
            <a:srgbClr val="F4F6FC"/>
          </a:solidFill>
          <a:ln w="12700">
            <a:solidFill>
              <a:srgbClr val="E3E7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55480" y="17830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555480" y="2103120"/>
            <a:ext cx="1920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MCP tools run in a fixed sequence for every valid request — the agent never skips or reorders them.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 Agent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TRIGGER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Input Drives Three Tool Calls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Vendor Manager supplies only a vendor ID. Azure OpenAI resolves it and the agent runs three MCP tools in order — no vendor name or job data is ever supplied by the caller.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931920" cy="777240"/>
          </a:xfrm>
          <a:prstGeom prst="roundRect">
            <a:avLst>
              <a:gd name="adj" fmla="val 9412"/>
            </a:avLst>
          </a:prstGeom>
          <a:solidFill>
            <a:srgbClr val="141B4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2860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REQUEST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"Check SLA compliance for vendor VEN-001"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383280"/>
            <a:ext cx="3520440" cy="2377440"/>
          </a:xfrm>
          <a:prstGeom prst="roundRect">
            <a:avLst>
              <a:gd name="adj" fmla="val 3462"/>
            </a:avLst>
          </a:prstGeom>
          <a:solidFill>
            <a:srgbClr val="F4F6FC"/>
          </a:solidFill>
          <a:ln w="12700">
            <a:solidFill>
              <a:srgbClr val="E3E7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36118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611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42519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get_vendor_jobs_sla()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480060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vendor's jobs and current SLA statuses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023360" y="429768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297680" y="3383280"/>
            <a:ext cx="3520440" cy="2377440"/>
          </a:xfrm>
          <a:prstGeom prst="roundRect">
            <a:avLst>
              <a:gd name="adj" fmla="val 3462"/>
            </a:avLst>
          </a:prstGeom>
          <a:solidFill>
            <a:srgbClr val="F4F6FC"/>
          </a:solidFill>
          <a:ln w="12700">
            <a:solidFill>
              <a:srgbClr val="E3E7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26280" y="3611880"/>
            <a:ext cx="502920" cy="502920"/>
          </a:xfrm>
          <a:prstGeom prst="ellipse">
            <a:avLst/>
          </a:prstGeom>
          <a:solidFill>
            <a:srgbClr val="3A4A9E"/>
          </a:solidFill>
          <a:ln/>
        </p:spPr>
      </p:sp>
      <p:sp>
        <p:nvSpPr>
          <p:cNvPr id="16" name="Text 14"/>
          <p:cNvSpPr/>
          <p:nvPr/>
        </p:nvSpPr>
        <p:spPr>
          <a:xfrm>
            <a:off x="4526280" y="3611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26280" y="42519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3A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compute_sla_compliance()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26280" y="480060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Validates, calculates, and persists the SLA percentage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772400" y="429768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046720" y="3383280"/>
            <a:ext cx="3520440" cy="2377440"/>
          </a:xfrm>
          <a:prstGeom prst="roundRect">
            <a:avLst>
              <a:gd name="adj" fmla="val 3462"/>
            </a:avLst>
          </a:prstGeom>
          <a:solidFill>
            <a:srgbClr val="F4F6FC"/>
          </a:solidFill>
          <a:ln w="12700">
            <a:solidFill>
              <a:srgbClr val="E3E7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75320" y="3611880"/>
            <a:ext cx="502920" cy="502920"/>
          </a:xfrm>
          <a:prstGeom prst="ellipse">
            <a:avLst/>
          </a:prstGeom>
          <a:solidFill>
            <a:srgbClr val="2E9E6D"/>
          </a:solidFill>
          <a:ln/>
        </p:spPr>
      </p:sp>
      <p:sp>
        <p:nvSpPr>
          <p:cNvPr id="22" name="Text 20"/>
          <p:cNvSpPr/>
          <p:nvPr/>
        </p:nvSpPr>
        <p:spPr>
          <a:xfrm>
            <a:off x="8275320" y="3611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275320" y="42519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2E9E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get_sla_tracker()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75320" y="480060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back the latest stored SLA metrics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 Agent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Starting Database State for VEN-001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walkthrough that follows traces one real request end to end. Here is what the database holds before the agent runs.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486400" cy="1901952"/>
          </a:xfrm>
          <a:prstGeom prst="roundRect">
            <a:avLst>
              <a:gd name="adj" fmla="val 3365"/>
            </a:avLst>
          </a:prstGeom>
          <a:solidFill>
            <a:srgbClr val="F4F6FC"/>
          </a:solidFill>
          <a:ln w="12700">
            <a:solidFill>
              <a:srgbClr val="E3E7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65960"/>
            <a:ext cx="5486400" cy="457200"/>
          </a:xfrm>
          <a:prstGeom prst="roundRect">
            <a:avLst>
              <a:gd name="adj" fmla="val 14000"/>
            </a:avLst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221992"/>
            <a:ext cx="5486400" cy="2011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1965960"/>
            <a:ext cx="5157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vendor_jobs_input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13232" y="2496312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vendor_id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432304" y="2496312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claim_id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51376" y="2496312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sla_status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13232" y="2788920"/>
            <a:ext cx="1719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28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VEN-001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432304" y="2788920"/>
            <a:ext cx="1719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28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CLM-2026-1001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51376" y="2788920"/>
            <a:ext cx="1719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28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Track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13232" y="3118104"/>
            <a:ext cx="1719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28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VEN-001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432304" y="3118104"/>
            <a:ext cx="1719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28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CLM-2026-1002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151376" y="3118104"/>
            <a:ext cx="1719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28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Overdue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13232" y="3447288"/>
            <a:ext cx="1719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28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VEN-001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432304" y="3447288"/>
            <a:ext cx="1719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28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CLM-2026-1003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151376" y="3447288"/>
            <a:ext cx="1719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28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309360" y="1965960"/>
            <a:ext cx="5349240" cy="1243584"/>
          </a:xfrm>
          <a:prstGeom prst="roundRect">
            <a:avLst>
              <a:gd name="adj" fmla="val 5147"/>
            </a:avLst>
          </a:prstGeom>
          <a:solidFill>
            <a:srgbClr val="F4F6FC"/>
          </a:solidFill>
          <a:ln w="12700">
            <a:solidFill>
              <a:srgbClr val="E3E7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1965960"/>
            <a:ext cx="5349240" cy="457200"/>
          </a:xfrm>
          <a:prstGeom prst="roundRect">
            <a:avLst>
              <a:gd name="adj" fmla="val 14000"/>
            </a:avLst>
          </a:prstGeom>
          <a:solidFill>
            <a:srgbClr val="3A4A9E"/>
          </a:solidFill>
          <a:ln/>
        </p:spPr>
      </p:sp>
      <p:sp>
        <p:nvSpPr>
          <p:cNvPr id="23" name="Shape 21"/>
          <p:cNvSpPr/>
          <p:nvPr/>
        </p:nvSpPr>
        <p:spPr>
          <a:xfrm>
            <a:off x="6309360" y="2221992"/>
            <a:ext cx="5349240" cy="201168"/>
          </a:xfrm>
          <a:prstGeom prst="rect">
            <a:avLst/>
          </a:prstGeom>
          <a:solidFill>
            <a:srgbClr val="3A4A9E"/>
          </a:solidFill>
          <a:ln/>
        </p:spPr>
      </p:sp>
      <p:sp>
        <p:nvSpPr>
          <p:cNvPr id="24" name="Text 22"/>
          <p:cNvSpPr/>
          <p:nvPr/>
        </p:nvSpPr>
        <p:spPr>
          <a:xfrm>
            <a:off x="6473952" y="1965960"/>
            <a:ext cx="5020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vendor_master_input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73952" y="2496312"/>
            <a:ext cx="25100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vendor_id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983980" y="2496312"/>
            <a:ext cx="25100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473952" y="2788920"/>
            <a:ext cx="25100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28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VEN-001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983980" y="2788920"/>
            <a:ext cx="25100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28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Springfield Plumbing Pros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309360" y="3703320"/>
            <a:ext cx="5349240" cy="1243584"/>
          </a:xfrm>
          <a:prstGeom prst="roundRect">
            <a:avLst>
              <a:gd name="adj" fmla="val 5147"/>
            </a:avLst>
          </a:prstGeom>
          <a:solidFill>
            <a:srgbClr val="F4F6FC"/>
          </a:solidFill>
          <a:ln w="12700">
            <a:solidFill>
              <a:srgbClr val="E3E7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3703320"/>
            <a:ext cx="5349240" cy="457200"/>
          </a:xfrm>
          <a:prstGeom prst="roundRect">
            <a:avLst>
              <a:gd name="adj" fmla="val 14000"/>
            </a:avLst>
          </a:prstGeom>
          <a:solidFill>
            <a:srgbClr val="D98A2B"/>
          </a:solidFill>
          <a:ln/>
        </p:spPr>
      </p:sp>
      <p:sp>
        <p:nvSpPr>
          <p:cNvPr id="31" name="Shape 29"/>
          <p:cNvSpPr/>
          <p:nvPr/>
        </p:nvSpPr>
        <p:spPr>
          <a:xfrm>
            <a:off x="6309360" y="3959352"/>
            <a:ext cx="5349240" cy="201168"/>
          </a:xfrm>
          <a:prstGeom prst="rect">
            <a:avLst/>
          </a:prstGeom>
          <a:solidFill>
            <a:srgbClr val="D98A2B"/>
          </a:solidFill>
          <a:ln/>
        </p:spPr>
      </p:sp>
      <p:sp>
        <p:nvSpPr>
          <p:cNvPr id="32" name="Text 30"/>
          <p:cNvSpPr/>
          <p:nvPr/>
        </p:nvSpPr>
        <p:spPr>
          <a:xfrm>
            <a:off x="6473952" y="3703320"/>
            <a:ext cx="5020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vendors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473952" y="4233672"/>
            <a:ext cx="25100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983980" y="4233672"/>
            <a:ext cx="25100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avg_turnaround_days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473952" y="4526280"/>
            <a:ext cx="25100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28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Springfield Plumbing Pros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983980" y="4526280"/>
            <a:ext cx="25100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28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4160520"/>
            <a:ext cx="5486400" cy="1243584"/>
          </a:xfrm>
          <a:prstGeom prst="roundRect">
            <a:avLst>
              <a:gd name="adj" fmla="val 5147"/>
            </a:avLst>
          </a:prstGeom>
          <a:solidFill>
            <a:srgbClr val="F4F6FC"/>
          </a:solidFill>
          <a:ln w="12700">
            <a:solidFill>
              <a:srgbClr val="E3E7F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8640" y="4160520"/>
            <a:ext cx="5486400" cy="457200"/>
          </a:xfrm>
          <a:prstGeom prst="roundRect">
            <a:avLst>
              <a:gd name="adj" fmla="val 14000"/>
            </a:avLst>
          </a:prstGeom>
          <a:solidFill>
            <a:srgbClr val="2E9E6D"/>
          </a:solidFill>
          <a:ln/>
        </p:spPr>
      </p:sp>
      <p:sp>
        <p:nvSpPr>
          <p:cNvPr id="39" name="Shape 37"/>
          <p:cNvSpPr/>
          <p:nvPr/>
        </p:nvSpPr>
        <p:spPr>
          <a:xfrm>
            <a:off x="548640" y="4416552"/>
            <a:ext cx="5486400" cy="201168"/>
          </a:xfrm>
          <a:prstGeom prst="rect">
            <a:avLst/>
          </a:prstGeom>
          <a:solidFill>
            <a:srgbClr val="2E9E6D"/>
          </a:solidFill>
          <a:ln/>
        </p:spPr>
      </p:sp>
      <p:sp>
        <p:nvSpPr>
          <p:cNvPr id="40" name="Text 38"/>
          <p:cNvSpPr/>
          <p:nvPr/>
        </p:nvSpPr>
        <p:spPr>
          <a:xfrm>
            <a:off x="713232" y="4160520"/>
            <a:ext cx="5157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sla_tracker_output  (existing record)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713232" y="4690872"/>
            <a:ext cx="1289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vendor_id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2002536" y="4690872"/>
            <a:ext cx="1289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avg_response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291840" y="4690872"/>
            <a:ext cx="1289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avg_completion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581144" y="4690872"/>
            <a:ext cx="1289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sla_compliance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13232" y="4983480"/>
            <a:ext cx="12893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28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VEN-001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2002536" y="4983480"/>
            <a:ext cx="12893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28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days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3291840" y="4983480"/>
            <a:ext cx="12893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28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days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581144" y="4983480"/>
            <a:ext cx="12893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28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existing tracker record (100%) is what the new calculation will overwrite.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 Agent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1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get_vendor_jobs_sla("VEN-001")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call lets the agent review the vendor's current jobs and SLA statuses before any calculation happens.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6675120" cy="1234440"/>
          </a:xfrm>
          <a:prstGeom prst="roundRect">
            <a:avLst>
              <a:gd name="adj" fmla="val 5926"/>
            </a:avLst>
          </a:prstGeom>
          <a:solidFill>
            <a:srgbClr val="141B4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286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FE7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vendor_jobs_input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FE7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vendor_id = 'VEN-001'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FE7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id DESC;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452360" y="2148840"/>
            <a:ext cx="4206240" cy="3566160"/>
          </a:xfrm>
          <a:prstGeom prst="roundRect">
            <a:avLst>
              <a:gd name="adj" fmla="val 2051"/>
            </a:avLst>
          </a:prstGeom>
          <a:solidFill>
            <a:srgbClr val="F4F6FC"/>
          </a:solidFill>
          <a:ln w="12700">
            <a:solidFill>
              <a:srgbClr val="E3E7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0" y="2331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680960" y="2697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claim_id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601200" y="2697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sla_status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680960" y="3063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8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CLM-2026-1003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601200" y="3063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E75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680960" y="35661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8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CLM-2026-1002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601200" y="3566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43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Overdue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680960" y="4069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8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CLM-2026-1001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601200" y="4069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9E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Track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611880"/>
            <a:ext cx="6675120" cy="1051560"/>
          </a:xfrm>
          <a:prstGeom prst="roundRect">
            <a:avLst>
              <a:gd name="adj" fmla="val 6957"/>
            </a:avLst>
          </a:prstGeom>
          <a:solidFill>
            <a:srgbClr val="EAF0FF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611880"/>
            <a:ext cx="6217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records are returned to LangGraph — read-only, nothing written yet.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 Agent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2 OF 3 · PART 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Validating the Vendor and Counting Jobs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compute_sla_compliance(), the handler re-reads sla_status for every job and checks the vendor actually has jobs before doing anything else.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394960" cy="960120"/>
          </a:xfrm>
          <a:prstGeom prst="roundRect">
            <a:avLst>
              <a:gd name="adj" fmla="val 6667"/>
            </a:avLst>
          </a:prstGeom>
          <a:solidFill>
            <a:srgbClr val="141B4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24028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FE7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sla_status FROM vendor_jobs_input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FE7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vendor_id = 'VEN-001';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38328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520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job_count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37490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3200400" y="338328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F4F6FC"/>
          </a:solidFill>
          <a:ln w="12700">
            <a:solidFill>
              <a:srgbClr val="E3E7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3383280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rows where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sla_status is NULL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2240280"/>
            <a:ext cx="5394960" cy="3977640"/>
          </a:xfrm>
          <a:prstGeom prst="roundRect">
            <a:avLst>
              <a:gd name="adj" fmla="val 2069"/>
            </a:avLst>
          </a:prstGeom>
          <a:solidFill>
            <a:srgbClr val="F4F6FC"/>
          </a:solidFill>
          <a:ln w="12700">
            <a:solidFill>
              <a:srgbClr val="E3E7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4231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VENDOR-NOT-FOUND CHECK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92240" y="274320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043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job_count == 0: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043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raise VendorNotFoundError(...)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92240" y="3520440"/>
            <a:ext cx="4937760" cy="0"/>
          </a:xfrm>
          <a:prstGeom prst="line">
            <a:avLst/>
          </a:prstGeom>
          <a:noFill/>
          <a:ln w="12700">
            <a:solidFill>
              <a:srgbClr val="E3E7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36576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VEN-001: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92240" y="395020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9E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job_count = 3  →  vendor exists  →  continue processing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92240" y="44348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vendor had zero rows (e.g. VEN-991):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92240" y="472744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043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VendorNotFoundError → HTTP 404 → no tracker record created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 Agent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2 OF 3 · PART 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Excluding NULLs, Classifying the Rest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with no SLA status yet are dropped from the calculation set entirely — they are not compliant and not non-compliant.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F4F6FC"/>
          </a:solidFill>
          <a:ln w="12700">
            <a:solidFill>
              <a:srgbClr val="E3E7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3317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28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Track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77240" y="3383280"/>
            <a:ext cx="3063240" cy="502920"/>
          </a:xfrm>
          <a:prstGeom prst="roundRect">
            <a:avLst>
              <a:gd name="adj" fmla="val 54545"/>
            </a:avLst>
          </a:prstGeom>
          <a:solidFill>
            <a:srgbClr val="2E9E6D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38328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97680" y="214884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F4F6FC"/>
          </a:solidFill>
          <a:ln w="12700">
            <a:solidFill>
              <a:srgbClr val="E3E7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23317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26280" y="260604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28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Overdue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526280" y="3383280"/>
            <a:ext cx="3063240" cy="502920"/>
          </a:xfrm>
          <a:prstGeom prst="roundRect">
            <a:avLst>
              <a:gd name="adj" fmla="val 54545"/>
            </a:avLst>
          </a:prstGeom>
          <a:solidFill>
            <a:srgbClr val="C0435A"/>
          </a:solidFill>
          <a:ln/>
        </p:spPr>
      </p:sp>
      <p:sp>
        <p:nvSpPr>
          <p:cNvPr id="14" name="Text 12"/>
          <p:cNvSpPr/>
          <p:nvPr/>
        </p:nvSpPr>
        <p:spPr>
          <a:xfrm>
            <a:off x="4526280" y="338328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Non-Compliant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46720" y="214884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F4F6FC"/>
          </a:solidFill>
          <a:ln w="12700">
            <a:solidFill>
              <a:srgbClr val="E3E7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75320" y="23317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75320" y="260604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28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275320" y="3383280"/>
            <a:ext cx="3063240" cy="502920"/>
          </a:xfrm>
          <a:prstGeom prst="roundRect">
            <a:avLst>
              <a:gd name="adj" fmla="val 54545"/>
            </a:avLst>
          </a:prstGeom>
          <a:solidFill>
            <a:srgbClr val="6E7591"/>
          </a:solidFill>
          <a:ln/>
        </p:spPr>
      </p:sp>
      <p:sp>
        <p:nvSpPr>
          <p:cNvPr id="19" name="Text 17"/>
          <p:cNvSpPr/>
          <p:nvPr/>
        </p:nvSpPr>
        <p:spPr>
          <a:xfrm>
            <a:off x="8275320" y="338328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343400"/>
            <a:ext cx="11064240" cy="1508760"/>
          </a:xfrm>
          <a:prstGeom prst="roundRect">
            <a:avLst>
              <a:gd name="adj" fmla="val 5455"/>
            </a:avLst>
          </a:prstGeom>
          <a:solidFill>
            <a:srgbClr val="141B47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526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22960" y="4800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FE7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SLA_NON_COMPLIANT_STATUSES = {"overdue"}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22960" y="5212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_is_sla_compliant() normalizes with strip() + lower() — so "Overdue", "OVERDUE", " overdue " all match the same non-compliant status.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 Agent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2 OF 3 · PART 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Calculating SLA Compliance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394960" cy="1920240"/>
        </p:xfrm>
        <a:graphic>
          <a:graphicData uri="http://schemas.openxmlformats.org/drawingml/2006/table">
            <a:tbl>
              <a:tblPr/>
              <a:tblGrid>
                <a:gridCol w="1463040"/>
                <a:gridCol w="2103120"/>
                <a:gridCol w="1828800"/>
              </a:tblGrid>
              <a:tr h="4800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 Status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8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Job 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8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On Track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E9E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8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Job 2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8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Overdue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C043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Non-Compliant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8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Job 3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8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NULL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6E75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263640" y="1600200"/>
            <a:ext cx="5394960" cy="3977640"/>
          </a:xfrm>
          <a:prstGeom prst="roundRect">
            <a:avLst>
              <a:gd name="adj" fmla="val 2069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6492240" y="1783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492240" y="210312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 =</a:t>
            </a:r>
            <a:endParaRPr lang="en-US" sz="14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 Jobs ÷ Non-NULL SLA Jobs × 100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492240" y="3017520"/>
            <a:ext cx="4937760" cy="0"/>
          </a:xfrm>
          <a:prstGeom prst="line">
            <a:avLst/>
          </a:prstGeom>
          <a:noFill/>
          <a:ln w="12700">
            <a:solidFill>
              <a:srgbClr val="34407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92240" y="3200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 jobs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326880" y="32004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92240" y="3566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Non-NULL SLA jobs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326880" y="3566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492240" y="3977640"/>
            <a:ext cx="4937760" cy="0"/>
          </a:xfrm>
          <a:prstGeom prst="line">
            <a:avLst/>
          </a:prstGeom>
          <a:noFill/>
          <a:ln w="12700">
            <a:solidFill>
              <a:srgbClr val="34407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41605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FE7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/ 2 × 100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6492240" y="4709160"/>
            <a:ext cx="2926080" cy="777240"/>
          </a:xfrm>
          <a:prstGeom prst="roundRect">
            <a:avLst>
              <a:gd name="adj" fmla="val 9412"/>
            </a:avLst>
          </a:prstGeom>
          <a:solidFill>
            <a:srgbClr val="2E9E6D"/>
          </a:solidFill>
          <a:ln/>
        </p:spPr>
      </p:sp>
      <p:sp>
        <p:nvSpPr>
          <p:cNvPr id="16" name="Text 13"/>
          <p:cNvSpPr/>
          <p:nvPr/>
        </p:nvSpPr>
        <p:spPr>
          <a:xfrm>
            <a:off x="6492240" y="470916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sla_compliance_pct = 50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48640" y="37490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jobs = 3 · Used in calculation = 2 (NULL excluded)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 Agent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2 OF 3 · PART 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Resolving the Vendor's Turnaround Time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and completion time are never provided by the user — the handler resolves them through a two-table join.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6035040" cy="1371600"/>
          </a:xfrm>
          <a:prstGeom prst="roundRect">
            <a:avLst>
              <a:gd name="adj" fmla="val 5333"/>
            </a:avLst>
          </a:prstGeom>
          <a:solidFill>
            <a:srgbClr val="141B4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03120"/>
            <a:ext cx="5577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FE7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avg_turnaround_days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FE7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vendors v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FE7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vendor_master_input m ON m.name = v.name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FE7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m.vendor_id = 'VEN-001';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379476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79476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VEN-001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468880" y="402336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15768" y="379476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3A4A9E"/>
          </a:solidFill>
          <a:ln/>
        </p:spPr>
      </p:sp>
      <p:sp>
        <p:nvSpPr>
          <p:cNvPr id="11" name="Text 9"/>
          <p:cNvSpPr/>
          <p:nvPr/>
        </p:nvSpPr>
        <p:spPr>
          <a:xfrm>
            <a:off x="2807208" y="379476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vendor_master_input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636008" y="402336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82896" y="379476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D98A2B"/>
          </a:solidFill>
          <a:ln/>
        </p:spPr>
      </p:sp>
      <p:sp>
        <p:nvSpPr>
          <p:cNvPr id="14" name="Text 12"/>
          <p:cNvSpPr/>
          <p:nvPr/>
        </p:nvSpPr>
        <p:spPr>
          <a:xfrm>
            <a:off x="4974336" y="379476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Springfield</a:t>
            </a:r>
            <a:endParaRPr lang="en-US" sz="11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Plumbing Pros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803136" y="402336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050024" y="379476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2E9E6D"/>
          </a:solidFill>
          <a:ln/>
        </p:spPr>
      </p:sp>
      <p:sp>
        <p:nvSpPr>
          <p:cNvPr id="17" name="Text 15"/>
          <p:cNvSpPr/>
          <p:nvPr/>
        </p:nvSpPr>
        <p:spPr>
          <a:xfrm>
            <a:off x="7141464" y="379476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970264" y="402336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217152" y="379476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2E9E6D"/>
          </a:solidFill>
          <a:ln/>
        </p:spPr>
      </p:sp>
      <p:sp>
        <p:nvSpPr>
          <p:cNvPr id="20" name="Text 18"/>
          <p:cNvSpPr/>
          <p:nvPr/>
        </p:nvSpPr>
        <p:spPr>
          <a:xfrm>
            <a:off x="9308592" y="379476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avg_turnaround_days</a:t>
            </a:r>
            <a:endParaRPr lang="en-US" sz="11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3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507492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F4F6FC"/>
          </a:solidFill>
          <a:ln w="12700">
            <a:solidFill>
              <a:srgbClr val="E3E7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212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04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77240" y="54864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avg_response_time and avg_completion_time are not independently calculated from job timestamps — both are currently derived directly from vendors.avg_turnaround_days (3 days each).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 Agent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2 OF 3 · PART 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Persisting the Result — Upsert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handler writes the freshly calculated result into sla_tracker_output. Because vendor_id is unique, this is an insert on first run and an update afterward.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943600" cy="2331720"/>
          </a:xfrm>
          <a:prstGeom prst="roundRect">
            <a:avLst>
              <a:gd name="adj" fmla="val 3137"/>
            </a:avLst>
          </a:prstGeom>
          <a:solidFill>
            <a:srgbClr val="141B4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331720"/>
            <a:ext cx="5486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FE7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sla_tracker_output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FE7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(vendor_id, avg_response_time,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FE7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avg_completion_time, sla_compliance)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FE7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 (...)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FE7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CONFLICT (vendor_id)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FE7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UPDATE SET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FE7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avg_response_time = EXCLUDED...,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FE7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sla_compliance = EXCLUDED...;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46520" y="2194560"/>
            <a:ext cx="2514600" cy="2331720"/>
          </a:xfrm>
          <a:prstGeom prst="roundRect">
            <a:avLst>
              <a:gd name="adj" fmla="val 3529"/>
            </a:avLst>
          </a:prstGeom>
          <a:solidFill>
            <a:srgbClr val="F4F6FC"/>
          </a:solidFill>
          <a:ln w="12700">
            <a:solidFill>
              <a:srgbClr val="E3E7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233172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629400" y="265176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8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VEN-001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29400" y="292608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8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days / 3 days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629400" y="333756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6E7591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3337560"/>
            <a:ext cx="2148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915400" y="301752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9400032" y="2194560"/>
            <a:ext cx="2514600" cy="2331720"/>
          </a:xfrm>
          <a:prstGeom prst="roundRect">
            <a:avLst>
              <a:gd name="adj" fmla="val 3529"/>
            </a:avLst>
          </a:prstGeom>
          <a:solidFill>
            <a:srgbClr val="F4F6FC"/>
          </a:solidFill>
          <a:ln w="12700">
            <a:solidFill>
              <a:srgbClr val="E3E7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82912" y="233172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582912" y="265176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8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VEN-001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582912" y="292608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8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days / 3 days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582912" y="333756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2E9E6D"/>
          </a:solidFill>
          <a:ln/>
        </p:spPr>
      </p:sp>
      <p:sp>
        <p:nvSpPr>
          <p:cNvPr id="19" name="Text 17"/>
          <p:cNvSpPr/>
          <p:nvPr/>
        </p:nvSpPr>
        <p:spPr>
          <a:xfrm>
            <a:off x="9582912" y="3337560"/>
            <a:ext cx="2148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548640" y="4754880"/>
            <a:ext cx="11064240" cy="1097280"/>
          </a:xfrm>
          <a:prstGeom prst="roundRect">
            <a:avLst>
              <a:gd name="adj" fmla="val 7500"/>
            </a:avLst>
          </a:prstGeom>
          <a:solidFill>
            <a:srgbClr val="EAF0FF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7548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conn.commit() finalizes the write. On an unexpected DB error, conn.rollback() runs, the exception is logged, and re-raised to the router.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 Agent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3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Back the Latest Tracker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tool confirms the persisted result and gives LangGraph clean structured data to summarize for the Vendor Manager.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141B4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488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FE7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sla_tracker_output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FE7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vendor_id = 'VEN-001';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F4F6FC"/>
          </a:solidFill>
          <a:ln w="12700">
            <a:solidFill>
              <a:srgbClr val="E3E7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337560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5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vendor_id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749040" y="333756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8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VEN-001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3703320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5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avg_response_time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749040" y="370332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8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days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4069080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5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avg_completion_time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749040" y="406908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8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days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4434840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5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sla_compliance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749040" y="443484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8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2148840"/>
            <a:ext cx="5394960" cy="4572000"/>
          </a:xfrm>
          <a:prstGeom prst="roundRect">
            <a:avLst>
              <a:gd name="adj" fmla="val 1800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23317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RESPONSE TO VENDOR MANAGER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92240" y="274320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"Vendor VEN-001 has an SLA compliance of 50%. The average response time is 3 days and the average completion time is 3 days."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92240" y="4343400"/>
            <a:ext cx="4937760" cy="0"/>
          </a:xfrm>
          <a:prstGeom prst="line">
            <a:avLst/>
          </a:prstGeom>
          <a:noFill/>
          <a:ln w="12700">
            <a:solidFill>
              <a:srgbClr val="3440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452628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converts the three tool results into this concise summary, then ends the workflow.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92240" y="52120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232C63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52120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 Agent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the Workflow Doesn't Run to Completion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4480560"/>
          </a:xfrm>
          <a:prstGeom prst="roundRect">
            <a:avLst>
              <a:gd name="adj" fmla="val 1837"/>
            </a:avLst>
          </a:prstGeom>
          <a:solidFill>
            <a:srgbClr val="F4F6FC"/>
          </a:solidFill>
          <a:ln w="12700">
            <a:solidFill>
              <a:srgbClr val="E3E7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5440680" cy="548640"/>
          </a:xfrm>
          <a:prstGeom prst="roundRect">
            <a:avLst>
              <a:gd name="adj" fmla="val 15000"/>
            </a:avLst>
          </a:prstGeom>
          <a:solidFill>
            <a:srgbClr val="C0435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01952"/>
            <a:ext cx="5440680" cy="338328"/>
          </a:xfrm>
          <a:prstGeom prst="rect">
            <a:avLst/>
          </a:prstGeom>
          <a:solidFill>
            <a:srgbClr val="C0435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9164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VENDOR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4231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328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"Check SLA compliance for vendor VEN-991."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2971800"/>
            <a:ext cx="274320" cy="274320"/>
          </a:xfrm>
          <a:prstGeom prst="ellipse">
            <a:avLst/>
          </a:prstGeom>
          <a:solidFill>
            <a:srgbClr val="C0435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71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88720" y="29260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get_vendor_jobs_sla → no rows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3429000"/>
            <a:ext cx="274320" cy="274320"/>
          </a:xfrm>
          <a:prstGeom prst="ellipse">
            <a:avLst/>
          </a:prstGeom>
          <a:solidFill>
            <a:srgbClr val="C0435A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429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88720" y="33832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compute_sla_compliance → VendorNotFoundError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3886200"/>
            <a:ext cx="274320" cy="274320"/>
          </a:xfrm>
          <a:prstGeom prst="ellipse">
            <a:avLst/>
          </a:prstGeom>
          <a:solidFill>
            <a:srgbClr val="C0435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886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88720" y="38404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→ HTTP 404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" y="4343400"/>
            <a:ext cx="274320" cy="274320"/>
          </a:xfrm>
          <a:prstGeom prst="ellipse">
            <a:avLst/>
          </a:prstGeom>
          <a:solidFill>
            <a:srgbClr val="C0435A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343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88720" y="42976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tracker record is created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7240" y="4892040"/>
            <a:ext cx="4937760" cy="685800"/>
          </a:xfrm>
          <a:prstGeom prst="roundRect">
            <a:avLst>
              <a:gd name="adj" fmla="val 10667"/>
            </a:avLst>
          </a:prstGeom>
          <a:solidFill>
            <a:srgbClr val="141B47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89204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jobs found for vendor VEN-991."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1691640"/>
            <a:ext cx="5440680" cy="4480560"/>
          </a:xfrm>
          <a:prstGeom prst="roundRect">
            <a:avLst>
              <a:gd name="adj" fmla="val 1837"/>
            </a:avLst>
          </a:prstGeom>
          <a:solidFill>
            <a:srgbClr val="F4F6FC"/>
          </a:solidFill>
          <a:ln w="12700">
            <a:solidFill>
              <a:srgbClr val="E3E7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0" y="1691640"/>
            <a:ext cx="5440680" cy="548640"/>
          </a:xfrm>
          <a:prstGeom prst="roundRect">
            <a:avLst>
              <a:gd name="adj" fmla="val 15000"/>
            </a:avLst>
          </a:prstGeom>
          <a:solidFill>
            <a:srgbClr val="6E7591"/>
          </a:solidFill>
          <a:ln/>
        </p:spPr>
      </p:sp>
      <p:sp>
        <p:nvSpPr>
          <p:cNvPr id="25" name="Shape 23"/>
          <p:cNvSpPr/>
          <p:nvPr/>
        </p:nvSpPr>
        <p:spPr>
          <a:xfrm>
            <a:off x="6217920" y="1901952"/>
            <a:ext cx="5440680" cy="338328"/>
          </a:xfrm>
          <a:prstGeom prst="rect">
            <a:avLst/>
          </a:prstGeom>
          <a:solidFill>
            <a:srgbClr val="6E7591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169164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NON-BUSINESS REQUEST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46520" y="24231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328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"Hello"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46520" y="292608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recognizes no SLA information is needed, so Azure OpenAI responds directly.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446520" y="3657600"/>
            <a:ext cx="4937760" cy="457200"/>
          </a:xfrm>
          <a:prstGeom prst="roundRect">
            <a:avLst>
              <a:gd name="adj" fmla="val 14000"/>
            </a:avLst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6446520" y="36576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46520" y="4187952"/>
            <a:ext cx="4937760" cy="457200"/>
          </a:xfrm>
          <a:prstGeom prst="roundRect">
            <a:avLst>
              <a:gd name="adj" fmla="val 14000"/>
            </a:avLst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6446520" y="418795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46520" y="4718304"/>
            <a:ext cx="4937760" cy="457200"/>
          </a:xfrm>
          <a:prstGeom prst="roundRect">
            <a:avLst>
              <a:gd name="adj" fmla="val 14000"/>
            </a:avLst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6446520" y="4718304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46520" y="5248656"/>
            <a:ext cx="4937760" cy="457200"/>
          </a:xfrm>
          <a:prstGeom prst="roundRect">
            <a:avLst>
              <a:gd name="adj" fmla="val 14000"/>
            </a:avLst>
          </a:prstGeom>
          <a:solidFill>
            <a:srgbClr val="2E9E6D"/>
          </a:solidFill>
          <a:ln/>
        </p:spPr>
      </p:sp>
      <p:sp>
        <p:nvSpPr>
          <p:cNvPr id="36" name="Text 34"/>
          <p:cNvSpPr/>
          <p:nvPr/>
        </p:nvSpPr>
        <p:spPr>
          <a:xfrm>
            <a:off x="6446520" y="5248656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conversational reply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46520" y="587044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MCP tools are called.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 Agent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End-to-End Data 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316736" cy="1051560"/>
          </a:xfrm>
          <a:prstGeom prst="roundRect">
            <a:avLst>
              <a:gd name="adj" fmla="val 608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03504" y="1920240"/>
            <a:ext cx="120700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ID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810512" y="221742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38528" y="1920240"/>
            <a:ext cx="1316736" cy="1051560"/>
          </a:xfrm>
          <a:prstGeom prst="roundRect">
            <a:avLst>
              <a:gd name="adj" fmla="val 6087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993392" y="1920240"/>
            <a:ext cx="120700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vendor's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&amp; statuses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00400" y="221742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28416" y="1920240"/>
            <a:ext cx="1316736" cy="1051560"/>
          </a:xfrm>
          <a:prstGeom prst="roundRect">
            <a:avLst>
              <a:gd name="adj" fmla="val 6087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920240"/>
            <a:ext cx="120700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vendor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jobs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90288" y="221742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18304" y="1920240"/>
            <a:ext cx="1316736" cy="1051560"/>
          </a:xfrm>
          <a:prstGeom prst="roundRect">
            <a:avLst>
              <a:gd name="adj" fmla="val 6087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4773168" y="1920240"/>
            <a:ext cx="120700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NULLs,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rest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980176" y="221742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08192" y="1920240"/>
            <a:ext cx="1316736" cy="1051560"/>
          </a:xfrm>
          <a:prstGeom prst="roundRect">
            <a:avLst>
              <a:gd name="adj" fmla="val 6087"/>
            </a:avLst>
          </a:prstGeom>
          <a:solidFill>
            <a:srgbClr val="3A4A9E"/>
          </a:solidFill>
          <a:ln/>
        </p:spPr>
      </p:sp>
      <p:sp>
        <p:nvSpPr>
          <p:cNvPr id="17" name="Text 15"/>
          <p:cNvSpPr/>
          <p:nvPr/>
        </p:nvSpPr>
        <p:spPr>
          <a:xfrm>
            <a:off x="6163056" y="1920240"/>
            <a:ext cx="120700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% = 50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370064" y="221742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98080" y="1920240"/>
            <a:ext cx="1316736" cy="1051560"/>
          </a:xfrm>
          <a:prstGeom prst="roundRect">
            <a:avLst>
              <a:gd name="adj" fmla="val 6087"/>
            </a:avLst>
          </a:prstGeom>
          <a:solidFill>
            <a:srgbClr val="3A4A9E"/>
          </a:solidFill>
          <a:ln/>
        </p:spPr>
      </p:sp>
      <p:sp>
        <p:nvSpPr>
          <p:cNvPr id="20" name="Text 18"/>
          <p:cNvSpPr/>
          <p:nvPr/>
        </p:nvSpPr>
        <p:spPr>
          <a:xfrm>
            <a:off x="7552944" y="1920240"/>
            <a:ext cx="120700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vendor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turnaround (3 days)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759952" y="221742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887968" y="1920240"/>
            <a:ext cx="1316736" cy="1051560"/>
          </a:xfrm>
          <a:prstGeom prst="roundRect">
            <a:avLst>
              <a:gd name="adj" fmla="val 6087"/>
            </a:avLst>
          </a:prstGeom>
          <a:solidFill>
            <a:srgbClr val="2E9E6D"/>
          </a:solidFill>
          <a:ln/>
        </p:spPr>
      </p:sp>
      <p:sp>
        <p:nvSpPr>
          <p:cNvPr id="23" name="Text 21"/>
          <p:cNvSpPr/>
          <p:nvPr/>
        </p:nvSpPr>
        <p:spPr>
          <a:xfrm>
            <a:off x="8942832" y="1920240"/>
            <a:ext cx="120700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Upsert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sla_tracker_output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0149840" y="221742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277856" y="1920240"/>
            <a:ext cx="1316736" cy="1051560"/>
          </a:xfrm>
          <a:prstGeom prst="roundRect">
            <a:avLst>
              <a:gd name="adj" fmla="val 6087"/>
            </a:avLst>
          </a:prstGeom>
          <a:solidFill>
            <a:srgbClr val="2E9E6D"/>
          </a:solidFill>
          <a:ln/>
        </p:spPr>
      </p:sp>
      <p:sp>
        <p:nvSpPr>
          <p:cNvPr id="26" name="Text 24"/>
          <p:cNvSpPr/>
          <p:nvPr/>
        </p:nvSpPr>
        <p:spPr>
          <a:xfrm>
            <a:off x="10332720" y="1920240"/>
            <a:ext cx="120700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back +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response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3337560"/>
            <a:ext cx="11064240" cy="1005840"/>
          </a:xfrm>
          <a:prstGeom prst="roundRect">
            <a:avLst>
              <a:gd name="adj" fmla="val 8182"/>
            </a:avLst>
          </a:prstGeom>
          <a:solidFill>
            <a:srgbClr val="F4F6FC"/>
          </a:solidFill>
          <a:ln w="12700">
            <a:solidFill>
              <a:srgbClr val="E3E7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3474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JOBS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22960" y="3749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971800" y="3474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971800" y="3749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(On Track)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120640" y="3474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NON-COMPLIANT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120640" y="3749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(Overdue)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269480" y="3474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269480" y="3749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(NULL)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418320" y="3474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%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9418320" y="3749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50%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48640" y="44348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3108960" y="4800600"/>
            <a:ext cx="594360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40" name="Text 38"/>
          <p:cNvSpPr/>
          <p:nvPr/>
        </p:nvSpPr>
        <p:spPr>
          <a:xfrm>
            <a:off x="3108960" y="480060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"SLA compliance is 50%. Avg response and completion time: 3 days."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548640" y="57607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Downstream: vendor performance evaluation · vendor escalation · operational monitoring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 Agent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914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23444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One-Line Explanation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10515600" cy="2331720"/>
          </a:xfrm>
          <a:prstGeom prst="roundRect">
            <a:avLst>
              <a:gd name="adj" fmla="val 3922"/>
            </a:avLst>
          </a:prstGeom>
          <a:solidFill>
            <a:srgbClr val="141B47"/>
          </a:solidFill>
          <a:ln w="12700">
            <a:solidFill>
              <a:srgbClr val="3440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2331720"/>
            <a:ext cx="987552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only a vendor ID, the SLA Compliance Agent pulls the vendor's assigned jobs, validates that jobs exist, excludes SLA statuses that are still NULL, scores the rest as compliant or non-compliant, calculates an overall SLA percentage, resolves the vendor's configured turnaround time, persists the result via upsert, and reports the latest metrics back to the Vendor Manager for downstream vendor-management processing.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4800600"/>
            <a:ext cx="3429000" cy="685800"/>
          </a:xfrm>
          <a:prstGeom prst="roundRect">
            <a:avLst>
              <a:gd name="adj" fmla="val 49333"/>
            </a:avLst>
          </a:prstGeom>
          <a:solidFill>
            <a:srgbClr val="232C63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800600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NULLs excluded, not miscounted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34840" y="4800600"/>
            <a:ext cx="3429000" cy="685800"/>
          </a:xfrm>
          <a:prstGeom prst="roundRect">
            <a:avLst>
              <a:gd name="adj" fmla="val 49333"/>
            </a:avLst>
          </a:prstGeom>
          <a:solidFill>
            <a:srgbClr val="232C63"/>
          </a:solidFill>
          <a:ln/>
        </p:spPr>
      </p:sp>
      <p:sp>
        <p:nvSpPr>
          <p:cNvPr id="10" name="Text 8"/>
          <p:cNvSpPr/>
          <p:nvPr/>
        </p:nvSpPr>
        <p:spPr>
          <a:xfrm>
            <a:off x="4434840" y="4800600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Upsert keeps one record per vendor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0" y="4800600"/>
            <a:ext cx="3429000" cy="685800"/>
          </a:xfrm>
          <a:prstGeom prst="roundRect">
            <a:avLst>
              <a:gd name="adj" fmla="val 49333"/>
            </a:avLst>
          </a:prstGeom>
          <a:solidFill>
            <a:srgbClr val="232C63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0" y="4800600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jobs → clean 404, no bad data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2026-08-24T08:28:59Z</dcterms:created>
  <dcterms:modified xsi:type="dcterms:W3CDTF">2026-08-24T08:28:59Z</dcterms:modified>
</cp:coreProperties>
</file>