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E2761"/>
          </a:solidFill>
          <a:ln/>
        </p:spPr>
      </p:sp>
      <p:sp>
        <p:nvSpPr>
          <p:cNvPr id="3" name="Shape 1"/>
          <p:cNvSpPr/>
          <p:nvPr/>
        </p:nvSpPr>
        <p:spPr>
          <a:xfrm>
            <a:off x="8778240" y="-2011680"/>
            <a:ext cx="5943600" cy="5943600"/>
          </a:xfrm>
          <a:prstGeom prst="ellipse">
            <a:avLst/>
          </a:prstGeom>
          <a:solidFill>
            <a:srgbClr val="141B47"/>
          </a:solidFill>
          <a:ln/>
        </p:spPr>
      </p:sp>
      <p:sp>
        <p:nvSpPr>
          <p:cNvPr id="4" name="Shape 2"/>
          <p:cNvSpPr/>
          <p:nvPr/>
        </p:nvSpPr>
        <p:spPr>
          <a:xfrm>
            <a:off x="9966960" y="4206240"/>
            <a:ext cx="3840480" cy="3840480"/>
          </a:xfrm>
          <a:prstGeom prst="ellipse">
            <a:avLst/>
          </a:prstGeom>
          <a:solidFill>
            <a:srgbClr val="232C63"/>
          </a:solidFill>
          <a:ln/>
        </p:spPr>
      </p:sp>
      <p:sp>
        <p:nvSpPr>
          <p:cNvPr id="5" name="Text 3"/>
          <p:cNvSpPr/>
          <p:nvPr/>
        </p:nvSpPr>
        <p:spPr>
          <a:xfrm>
            <a:off x="822960" y="1828800"/>
            <a:ext cx="7315200" cy="320040"/>
          </a:xfrm>
          <a:prstGeom prst="rect">
            <a:avLst/>
          </a:prstGeom>
          <a:noFill/>
          <a:ln/>
        </p:spPr>
        <p:txBody>
          <a:bodyPr wrap="square" rtlCol="0" anchor="ctr"/>
          <a:lstStyle/>
          <a:p>
            <a:pPr indent="0" marL="0">
              <a:buNone/>
            </a:pPr>
            <a:r>
              <a:rPr lang="en-US" sz="1300" b="1" spc="300" kern="0" dirty="0">
                <a:solidFill>
                  <a:srgbClr val="CADCFC"/>
                </a:solidFill>
                <a:latin typeface="Calibri" pitchFamily="34" charset="0"/>
                <a:ea typeface="Calibri" pitchFamily="34" charset="-122"/>
                <a:cs typeface="Calibri" pitchFamily="34" charset="-120"/>
              </a:rPr>
              <a:t>CLAIMS AUTOMATION  ·  AGENT REFERENCE</a:t>
            </a:r>
            <a:endParaRPr lang="en-US" sz="1300" dirty="0"/>
          </a:p>
        </p:txBody>
      </p:sp>
      <p:sp>
        <p:nvSpPr>
          <p:cNvPr id="6" name="Text 4"/>
          <p:cNvSpPr/>
          <p:nvPr/>
        </p:nvSpPr>
        <p:spPr>
          <a:xfrm>
            <a:off x="777240" y="2194560"/>
            <a:ext cx="9601200" cy="1280160"/>
          </a:xfrm>
          <a:prstGeom prst="rect">
            <a:avLst/>
          </a:prstGeom>
          <a:noFill/>
          <a:ln/>
        </p:spPr>
        <p:txBody>
          <a:bodyPr wrap="square"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Dispatch Agent</a:t>
            </a:r>
            <a:endParaRPr lang="en-US" sz="5400" dirty="0"/>
          </a:p>
        </p:txBody>
      </p:sp>
      <p:sp>
        <p:nvSpPr>
          <p:cNvPr id="7" name="Text 5"/>
          <p:cNvSpPr/>
          <p:nvPr/>
        </p:nvSpPr>
        <p:spPr>
          <a:xfrm>
            <a:off x="822960" y="3429000"/>
            <a:ext cx="8686800" cy="822960"/>
          </a:xfrm>
          <a:prstGeom prst="rect">
            <a:avLst/>
          </a:prstGeom>
          <a:noFill/>
          <a:ln/>
        </p:spPr>
        <p:txBody>
          <a:bodyPr wrap="square" rtlCol="0" anchor="ctr"/>
          <a:lstStyle/>
          <a:p>
            <a:pPr indent="0" marL="0">
              <a:lnSpc>
                <a:spcPts val="2200"/>
              </a:lnSpc>
              <a:buNone/>
            </a:pPr>
            <a:r>
              <a:rPr lang="en-US" sz="1600" dirty="0">
                <a:solidFill>
                  <a:srgbClr val="CADCFC"/>
                </a:solidFill>
                <a:latin typeface="Calibri" pitchFamily="34" charset="0"/>
                <a:ea typeface="Calibri" pitchFamily="34" charset="-122"/>
                <a:cs typeface="Calibri" pitchFamily="34" charset="-120"/>
              </a:rPr>
              <a:t>How a claim gets matched to an expert, a work order is created, and the</a:t>
            </a:r>
            <a:endParaRPr lang="en-US" sz="1600" dirty="0"/>
          </a:p>
          <a:p>
            <a:pPr indent="0" marL="0">
              <a:lnSpc>
                <a:spcPts val="2200"/>
              </a:lnSpc>
              <a:buNone/>
            </a:pPr>
            <a:r>
              <a:rPr lang="en-US" sz="1600" dirty="0">
                <a:solidFill>
                  <a:srgbClr val="CADCFC"/>
                </a:solidFill>
                <a:latin typeface="Calibri" pitchFamily="34" charset="0"/>
                <a:ea typeface="Calibri" pitchFamily="34" charset="-122"/>
                <a:cs typeface="Calibri" pitchFamily="34" charset="-120"/>
              </a:rPr>
              <a:t>vendor job is tracked through completion — end to end.</a:t>
            </a:r>
            <a:endParaRPr lang="en-US" sz="1600" dirty="0"/>
          </a:p>
        </p:txBody>
      </p:sp>
      <p:sp>
        <p:nvSpPr>
          <p:cNvPr id="8" name="Shape 6"/>
          <p:cNvSpPr/>
          <p:nvPr/>
        </p:nvSpPr>
        <p:spPr>
          <a:xfrm>
            <a:off x="822960" y="4709160"/>
            <a:ext cx="2377440" cy="1005840"/>
          </a:xfrm>
          <a:prstGeom prst="roundRect">
            <a:avLst>
              <a:gd name="adj" fmla="val 7273"/>
            </a:avLst>
          </a:prstGeom>
          <a:solidFill>
            <a:srgbClr val="141B47"/>
          </a:solidFill>
          <a:ln w="12700">
            <a:solidFill>
              <a:srgbClr val="34407A"/>
            </a:solidFill>
            <a:prstDash val="solid"/>
          </a:ln>
        </p:spPr>
      </p:sp>
      <p:sp>
        <p:nvSpPr>
          <p:cNvPr id="9" name="Text 7"/>
          <p:cNvSpPr/>
          <p:nvPr/>
        </p:nvSpPr>
        <p:spPr>
          <a:xfrm>
            <a:off x="1005840" y="4800600"/>
            <a:ext cx="2011680" cy="502920"/>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5</a:t>
            </a:r>
            <a:endParaRPr lang="en-US" sz="2600" dirty="0"/>
          </a:p>
        </p:txBody>
      </p:sp>
      <p:sp>
        <p:nvSpPr>
          <p:cNvPr id="10" name="Text 8"/>
          <p:cNvSpPr/>
          <p:nvPr/>
        </p:nvSpPr>
        <p:spPr>
          <a:xfrm>
            <a:off x="1005840" y="5285232"/>
            <a:ext cx="2011680" cy="320040"/>
          </a:xfrm>
          <a:prstGeom prst="rect">
            <a:avLst/>
          </a:prstGeom>
          <a:noFill/>
          <a:ln/>
        </p:spPr>
        <p:txBody>
          <a:bodyPr wrap="square" rtlCol="0" anchor="ctr"/>
          <a:lstStyle/>
          <a:p>
            <a:pPr indent="0" marL="0">
              <a:buNone/>
            </a:pPr>
            <a:r>
              <a:rPr lang="en-US" sz="1100" dirty="0">
                <a:solidFill>
                  <a:srgbClr val="AAB4E0"/>
                </a:solidFill>
                <a:latin typeface="Calibri" pitchFamily="34" charset="0"/>
                <a:ea typeface="Calibri" pitchFamily="34" charset="-122"/>
                <a:cs typeface="Calibri" pitchFamily="34" charset="-120"/>
              </a:rPr>
              <a:t>MCP Tools</a:t>
            </a:r>
            <a:endParaRPr lang="en-US" sz="1100" dirty="0"/>
          </a:p>
        </p:txBody>
      </p:sp>
      <p:sp>
        <p:nvSpPr>
          <p:cNvPr id="11" name="Shape 9"/>
          <p:cNvSpPr/>
          <p:nvPr/>
        </p:nvSpPr>
        <p:spPr>
          <a:xfrm>
            <a:off x="3429000" y="4709160"/>
            <a:ext cx="2377440" cy="1005840"/>
          </a:xfrm>
          <a:prstGeom prst="roundRect">
            <a:avLst>
              <a:gd name="adj" fmla="val 7273"/>
            </a:avLst>
          </a:prstGeom>
          <a:solidFill>
            <a:srgbClr val="141B47"/>
          </a:solidFill>
          <a:ln w="12700">
            <a:solidFill>
              <a:srgbClr val="34407A"/>
            </a:solidFill>
            <a:prstDash val="solid"/>
          </a:ln>
        </p:spPr>
      </p:sp>
      <p:sp>
        <p:nvSpPr>
          <p:cNvPr id="12" name="Text 10"/>
          <p:cNvSpPr/>
          <p:nvPr/>
        </p:nvSpPr>
        <p:spPr>
          <a:xfrm>
            <a:off x="3611880" y="4800600"/>
            <a:ext cx="2011680" cy="502920"/>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3</a:t>
            </a:r>
            <a:endParaRPr lang="en-US" sz="2600" dirty="0"/>
          </a:p>
        </p:txBody>
      </p:sp>
      <p:sp>
        <p:nvSpPr>
          <p:cNvPr id="13" name="Text 11"/>
          <p:cNvSpPr/>
          <p:nvPr/>
        </p:nvSpPr>
        <p:spPr>
          <a:xfrm>
            <a:off x="3611880" y="5285232"/>
            <a:ext cx="2011680" cy="320040"/>
          </a:xfrm>
          <a:prstGeom prst="rect">
            <a:avLst/>
          </a:prstGeom>
          <a:noFill/>
          <a:ln/>
        </p:spPr>
        <p:txBody>
          <a:bodyPr wrap="square" rtlCol="0" anchor="ctr"/>
          <a:lstStyle/>
          <a:p>
            <a:pPr indent="0" marL="0">
              <a:buNone/>
            </a:pPr>
            <a:r>
              <a:rPr lang="en-US" sz="1100" dirty="0">
                <a:solidFill>
                  <a:srgbClr val="AAB4E0"/>
                </a:solidFill>
                <a:latin typeface="Calibri" pitchFamily="34" charset="0"/>
                <a:ea typeface="Calibri" pitchFamily="34" charset="-122"/>
                <a:cs typeface="Calibri" pitchFamily="34" charset="-120"/>
              </a:rPr>
              <a:t>DB Writes</a:t>
            </a:r>
            <a:endParaRPr lang="en-US" sz="1100" dirty="0"/>
          </a:p>
        </p:txBody>
      </p:sp>
      <p:sp>
        <p:nvSpPr>
          <p:cNvPr id="14" name="Shape 12"/>
          <p:cNvSpPr/>
          <p:nvPr/>
        </p:nvSpPr>
        <p:spPr>
          <a:xfrm>
            <a:off x="6035040" y="4709160"/>
            <a:ext cx="2377440" cy="1005840"/>
          </a:xfrm>
          <a:prstGeom prst="roundRect">
            <a:avLst>
              <a:gd name="adj" fmla="val 7273"/>
            </a:avLst>
          </a:prstGeom>
          <a:solidFill>
            <a:srgbClr val="141B47"/>
          </a:solidFill>
          <a:ln w="12700">
            <a:solidFill>
              <a:srgbClr val="34407A"/>
            </a:solidFill>
            <a:prstDash val="solid"/>
          </a:ln>
        </p:spPr>
      </p:sp>
      <p:sp>
        <p:nvSpPr>
          <p:cNvPr id="15" name="Text 13"/>
          <p:cNvSpPr/>
          <p:nvPr/>
        </p:nvSpPr>
        <p:spPr>
          <a:xfrm>
            <a:off x="6217920" y="4800600"/>
            <a:ext cx="2011680" cy="502920"/>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4</a:t>
            </a:r>
            <a:endParaRPr lang="en-US" sz="2600" dirty="0"/>
          </a:p>
        </p:txBody>
      </p:sp>
      <p:sp>
        <p:nvSpPr>
          <p:cNvPr id="16" name="Text 14"/>
          <p:cNvSpPr/>
          <p:nvPr/>
        </p:nvSpPr>
        <p:spPr>
          <a:xfrm>
            <a:off x="6217920" y="5285232"/>
            <a:ext cx="2011680" cy="320040"/>
          </a:xfrm>
          <a:prstGeom prst="rect">
            <a:avLst/>
          </a:prstGeom>
          <a:noFill/>
          <a:ln/>
        </p:spPr>
        <p:txBody>
          <a:bodyPr wrap="square" rtlCol="0" anchor="ctr"/>
          <a:lstStyle/>
          <a:p>
            <a:pPr indent="0" marL="0">
              <a:buNone/>
            </a:pPr>
            <a:r>
              <a:rPr lang="en-US" sz="1100" dirty="0">
                <a:solidFill>
                  <a:srgbClr val="AAB4E0"/>
                </a:solidFill>
                <a:latin typeface="Calibri" pitchFamily="34" charset="0"/>
                <a:ea typeface="Calibri" pitchFamily="34" charset="-122"/>
                <a:cs typeface="Calibri" pitchFamily="34" charset="-120"/>
              </a:rPr>
              <a:t>Lifecycle States</a:t>
            </a:r>
            <a:endParaRPr lang="en-US" sz="1100" dirty="0"/>
          </a:p>
        </p:txBody>
      </p:sp>
      <p:sp>
        <p:nvSpPr>
          <p:cNvPr id="17" name="Text 15"/>
          <p:cNvSpPr/>
          <p:nvPr/>
        </p:nvSpPr>
        <p:spPr>
          <a:xfrm>
            <a:off x="822960" y="6263640"/>
            <a:ext cx="5486400" cy="274320"/>
          </a:xfrm>
          <a:prstGeom prst="rect">
            <a:avLst/>
          </a:prstGeom>
          <a:noFill/>
          <a:ln/>
        </p:spPr>
        <p:txBody>
          <a:bodyPr wrap="square" rtlCol="0" anchor="ctr"/>
          <a:lstStyle/>
          <a:p>
            <a:pPr indent="0" marL="0">
              <a:buNone/>
            </a:pPr>
            <a:r>
              <a:rPr lang="en-US" sz="1000" dirty="0">
                <a:solidFill>
                  <a:srgbClr val="7F89BE"/>
                </a:solidFill>
                <a:latin typeface="Calibri" pitchFamily="34" charset="0"/>
                <a:ea typeface="Calibri" pitchFamily="34" charset="-122"/>
                <a:cs typeface="Calibri" pitchFamily="34" charset="-120"/>
              </a:rPr>
              <a:t>Prepared for internal review</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rtlCol="0" anchor="ctr"/>
          <a:lstStyle/>
          <a:p>
            <a:pPr indent="0" marL="0">
              <a:buNone/>
            </a:pPr>
            <a:r>
              <a:rPr lang="en-US" sz="1200" b="1" spc="200" kern="0" dirty="0">
                <a:solidFill>
                  <a:srgbClr val="6E7591"/>
                </a:solidFill>
                <a:latin typeface="Calibri" pitchFamily="34" charset="0"/>
                <a:ea typeface="Calibri" pitchFamily="34" charset="-122"/>
                <a:cs typeface="Calibri" pitchFamily="34" charset="-120"/>
              </a:rPr>
              <a:t>OVERVIEW</a:t>
            </a:r>
            <a:endParaRPr lang="en-US" sz="1200" dirty="0"/>
          </a:p>
        </p:txBody>
      </p:sp>
      <p:sp>
        <p:nvSpPr>
          <p:cNvPr id="3" name="Text 1"/>
          <p:cNvSpPr/>
          <p:nvPr/>
        </p:nvSpPr>
        <p:spPr>
          <a:xfrm>
            <a:off x="548640" y="621792"/>
            <a:ext cx="11064240" cy="685800"/>
          </a:xfrm>
          <a:prstGeom prst="rect">
            <a:avLst/>
          </a:prstGeom>
          <a:noFill/>
          <a:ln/>
        </p:spPr>
        <p:txBody>
          <a:bodyPr wrap="square"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What the Dispatch Agent Does</a:t>
            </a:r>
            <a:endParaRPr lang="en-US" sz="3000" dirty="0"/>
          </a:p>
        </p:txBody>
      </p:sp>
      <p:sp>
        <p:nvSpPr>
          <p:cNvPr id="4" name="Text 2"/>
          <p:cNvSpPr/>
          <p:nvPr/>
        </p:nvSpPr>
        <p:spPr>
          <a:xfrm>
            <a:off x="548640" y="1554480"/>
            <a:ext cx="11155680" cy="1188720"/>
          </a:xfrm>
          <a:prstGeom prst="rect">
            <a:avLst/>
          </a:prstGeom>
          <a:noFill/>
          <a:ln/>
        </p:spPr>
        <p:txBody>
          <a:bodyPr wrap="square" rtlCol="0" anchor="ctr"/>
          <a:lstStyle/>
          <a:p>
            <a:pPr indent="0" marL="0">
              <a:lnSpc>
                <a:spcPts val="2300"/>
              </a:lnSpc>
              <a:buNone/>
            </a:pPr>
            <a:r>
              <a:rPr lang="en-US" sz="1500" dirty="0">
                <a:solidFill>
                  <a:srgbClr val="23283B"/>
                </a:solidFill>
                <a:latin typeface="Calibri" pitchFamily="34" charset="0"/>
                <a:ea typeface="Calibri" pitchFamily="34" charset="-122"/>
                <a:cs typeface="Calibri" pitchFamily="34" charset="-120"/>
              </a:rPr>
              <a:t>The Dispatch Agent creates and manages the operational work order required to send an expert or vendor to a claim. It validates the claim and expert against master data, prevents conflicting assignments, records a full audit trail, and keeps a downstream vendor job in sync for the agents that manage vendor performance and SLAs.</a:t>
            </a:r>
            <a:endParaRPr lang="en-US" sz="1500" dirty="0"/>
          </a:p>
        </p:txBody>
      </p:sp>
      <p:sp>
        <p:nvSpPr>
          <p:cNvPr id="5" name="Text 3"/>
          <p:cNvSpPr/>
          <p:nvPr/>
        </p:nvSpPr>
        <p:spPr>
          <a:xfrm>
            <a:off x="548640" y="2880360"/>
            <a:ext cx="5486400" cy="274320"/>
          </a:xfrm>
          <a:prstGeom prst="rect">
            <a:avLst/>
          </a:prstGeom>
          <a:noFill/>
          <a:ln/>
        </p:spPr>
        <p:txBody>
          <a:bodyPr wrap="square" rtlCol="0" anchor="ctr"/>
          <a:lstStyle/>
          <a:p>
            <a:pPr indent="0" marL="0">
              <a:buNone/>
            </a:pPr>
            <a:r>
              <a:rPr lang="en-US" sz="1100" b="1" spc="200" kern="0" dirty="0">
                <a:solidFill>
                  <a:srgbClr val="6E7591"/>
                </a:solidFill>
                <a:latin typeface="Calibri" pitchFamily="34" charset="0"/>
                <a:ea typeface="Calibri" pitchFamily="34" charset="-122"/>
                <a:cs typeface="Calibri" pitchFamily="34" charset="-120"/>
              </a:rPr>
              <a:t>IN SIMPLE TERMS</a:t>
            </a:r>
            <a:endParaRPr lang="en-US" sz="1100" dirty="0"/>
          </a:p>
        </p:txBody>
      </p:sp>
      <p:sp>
        <p:nvSpPr>
          <p:cNvPr id="6" name="Shape 4"/>
          <p:cNvSpPr/>
          <p:nvPr/>
        </p:nvSpPr>
        <p:spPr>
          <a:xfrm>
            <a:off x="548640" y="3291840"/>
            <a:ext cx="1965960" cy="1234440"/>
          </a:xfrm>
          <a:prstGeom prst="roundRect">
            <a:avLst>
              <a:gd name="adj" fmla="val 6667"/>
            </a:avLst>
          </a:prstGeom>
          <a:solidFill>
            <a:srgbClr val="1E2761"/>
          </a:solidFill>
          <a:ln/>
        </p:spPr>
      </p:sp>
      <p:sp>
        <p:nvSpPr>
          <p:cNvPr id="7" name="Text 5"/>
          <p:cNvSpPr/>
          <p:nvPr/>
        </p:nvSpPr>
        <p:spPr>
          <a:xfrm>
            <a:off x="658368" y="3291840"/>
            <a:ext cx="1746504" cy="1234440"/>
          </a:xfrm>
          <a:prstGeom prst="rect">
            <a:avLst/>
          </a:prstGeom>
          <a:noFill/>
          <a:ln/>
        </p:spPr>
        <p:txBody>
          <a:bodyPr wrap="square" rtlCol="0" anchor="ctr"/>
          <a:lstStyle/>
          <a:p>
            <a:pPr algn="ctr" indent="0" marL="0">
              <a:lnSpc>
                <a:spcPts val="1500"/>
              </a:lnSpc>
              <a:buNone/>
            </a:pPr>
            <a:r>
              <a:rPr lang="en-US" sz="1250" b="1" dirty="0">
                <a:solidFill>
                  <a:srgbClr val="FFFFFF"/>
                </a:solidFill>
                <a:latin typeface="Calibri" pitchFamily="34" charset="0"/>
                <a:ea typeface="Calibri" pitchFamily="34" charset="-122"/>
                <a:cs typeface="Calibri" pitchFamily="34" charset="-120"/>
              </a:rPr>
              <a:t>Claim needs a</a:t>
            </a:r>
            <a:endParaRPr lang="en-US" sz="1250" dirty="0"/>
          </a:p>
          <a:p>
            <a:pPr algn="ctr" indent="0" marL="0">
              <a:lnSpc>
                <a:spcPts val="1500"/>
              </a:lnSpc>
              <a:buNone/>
            </a:pPr>
            <a:r>
              <a:rPr lang="en-US" sz="1250" b="1" dirty="0">
                <a:solidFill>
                  <a:srgbClr val="FFFFFF"/>
                </a:solidFill>
                <a:latin typeface="Calibri" pitchFamily="34" charset="0"/>
                <a:ea typeface="Calibri" pitchFamily="34" charset="-122"/>
                <a:cs typeface="Calibri" pitchFamily="34" charset="-120"/>
              </a:rPr>
              <a:t>field expert</a:t>
            </a:r>
            <a:endParaRPr lang="en-US" sz="1250" dirty="0"/>
          </a:p>
        </p:txBody>
      </p:sp>
      <p:sp>
        <p:nvSpPr>
          <p:cNvPr id="8" name="Text 6"/>
          <p:cNvSpPr/>
          <p:nvPr/>
        </p:nvSpPr>
        <p:spPr>
          <a:xfrm>
            <a:off x="2514600" y="3291840"/>
            <a:ext cx="256032" cy="1234440"/>
          </a:xfrm>
          <a:prstGeom prst="rect">
            <a:avLst/>
          </a:prstGeom>
          <a:noFill/>
          <a:ln/>
        </p:spPr>
        <p:txBody>
          <a:bodyPr wrap="square" rtlCol="0" anchor="ctr"/>
          <a:lstStyle/>
          <a:p>
            <a:pPr algn="ctr" indent="0" marL="0">
              <a:buNone/>
            </a:pPr>
            <a:r>
              <a:rPr lang="en-US" sz="2000" dirty="0">
                <a:solidFill>
                  <a:srgbClr val="6E7591"/>
                </a:solidFill>
                <a:latin typeface="Calibri" pitchFamily="34" charset="0"/>
                <a:ea typeface="Calibri" pitchFamily="34" charset="-122"/>
                <a:cs typeface="Calibri" pitchFamily="34" charset="-120"/>
              </a:rPr>
              <a:t>→</a:t>
            </a:r>
            <a:endParaRPr lang="en-US" sz="2000" dirty="0"/>
          </a:p>
        </p:txBody>
      </p:sp>
      <p:sp>
        <p:nvSpPr>
          <p:cNvPr id="9" name="Shape 7"/>
          <p:cNvSpPr/>
          <p:nvPr/>
        </p:nvSpPr>
        <p:spPr>
          <a:xfrm>
            <a:off x="2770632" y="3291840"/>
            <a:ext cx="1965960" cy="1234440"/>
          </a:xfrm>
          <a:prstGeom prst="roundRect">
            <a:avLst>
              <a:gd name="adj" fmla="val 6667"/>
            </a:avLst>
          </a:prstGeom>
          <a:solidFill>
            <a:srgbClr val="1E2761"/>
          </a:solidFill>
          <a:ln/>
        </p:spPr>
      </p:sp>
      <p:sp>
        <p:nvSpPr>
          <p:cNvPr id="10" name="Text 8"/>
          <p:cNvSpPr/>
          <p:nvPr/>
        </p:nvSpPr>
        <p:spPr>
          <a:xfrm>
            <a:off x="2880360" y="3291840"/>
            <a:ext cx="1746504" cy="1234440"/>
          </a:xfrm>
          <a:prstGeom prst="rect">
            <a:avLst/>
          </a:prstGeom>
          <a:noFill/>
          <a:ln/>
        </p:spPr>
        <p:txBody>
          <a:bodyPr wrap="square" rtlCol="0" anchor="ctr"/>
          <a:lstStyle/>
          <a:p>
            <a:pPr algn="ctr" indent="0" marL="0">
              <a:lnSpc>
                <a:spcPts val="1500"/>
              </a:lnSpc>
              <a:buNone/>
            </a:pPr>
            <a:r>
              <a:rPr lang="en-US" sz="1250" b="1" dirty="0">
                <a:solidFill>
                  <a:srgbClr val="FFFFFF"/>
                </a:solidFill>
                <a:latin typeface="Calibri" pitchFamily="34" charset="0"/>
                <a:ea typeface="Calibri" pitchFamily="34" charset="-122"/>
                <a:cs typeface="Calibri" pitchFamily="34" charset="-120"/>
              </a:rPr>
              <a:t>Dispatch Agent</a:t>
            </a:r>
            <a:endParaRPr lang="en-US" sz="1250" dirty="0"/>
          </a:p>
          <a:p>
            <a:pPr algn="ctr" indent="0" marL="0">
              <a:lnSpc>
                <a:spcPts val="1500"/>
              </a:lnSpc>
              <a:buNone/>
            </a:pPr>
            <a:r>
              <a:rPr lang="en-US" sz="1250" b="1" dirty="0">
                <a:solidFill>
                  <a:srgbClr val="FFFFFF"/>
                </a:solidFill>
                <a:latin typeface="Calibri" pitchFamily="34" charset="0"/>
                <a:ea typeface="Calibri" pitchFamily="34" charset="-122"/>
                <a:cs typeface="Calibri" pitchFamily="34" charset="-120"/>
              </a:rPr>
              <a:t>assigns the expert</a:t>
            </a:r>
            <a:endParaRPr lang="en-US" sz="1250" dirty="0"/>
          </a:p>
        </p:txBody>
      </p:sp>
      <p:sp>
        <p:nvSpPr>
          <p:cNvPr id="11" name="Text 9"/>
          <p:cNvSpPr/>
          <p:nvPr/>
        </p:nvSpPr>
        <p:spPr>
          <a:xfrm>
            <a:off x="4736592" y="3291840"/>
            <a:ext cx="256032" cy="1234440"/>
          </a:xfrm>
          <a:prstGeom prst="rect">
            <a:avLst/>
          </a:prstGeom>
          <a:noFill/>
          <a:ln/>
        </p:spPr>
        <p:txBody>
          <a:bodyPr wrap="square" rtlCol="0" anchor="ctr"/>
          <a:lstStyle/>
          <a:p>
            <a:pPr algn="ctr" indent="0" marL="0">
              <a:buNone/>
            </a:pPr>
            <a:r>
              <a:rPr lang="en-US" sz="2000" dirty="0">
                <a:solidFill>
                  <a:srgbClr val="6E7591"/>
                </a:solidFill>
                <a:latin typeface="Calibri" pitchFamily="34" charset="0"/>
                <a:ea typeface="Calibri" pitchFamily="34" charset="-122"/>
                <a:cs typeface="Calibri" pitchFamily="34" charset="-120"/>
              </a:rPr>
              <a:t>→</a:t>
            </a:r>
            <a:endParaRPr lang="en-US" sz="2000" dirty="0"/>
          </a:p>
        </p:txBody>
      </p:sp>
      <p:sp>
        <p:nvSpPr>
          <p:cNvPr id="12" name="Shape 10"/>
          <p:cNvSpPr/>
          <p:nvPr/>
        </p:nvSpPr>
        <p:spPr>
          <a:xfrm>
            <a:off x="4992624" y="3291840"/>
            <a:ext cx="1965960" cy="1234440"/>
          </a:xfrm>
          <a:prstGeom prst="roundRect">
            <a:avLst>
              <a:gd name="adj" fmla="val 6667"/>
            </a:avLst>
          </a:prstGeom>
          <a:solidFill>
            <a:srgbClr val="1E2761"/>
          </a:solidFill>
          <a:ln/>
        </p:spPr>
      </p:sp>
      <p:sp>
        <p:nvSpPr>
          <p:cNvPr id="13" name="Text 11"/>
          <p:cNvSpPr/>
          <p:nvPr/>
        </p:nvSpPr>
        <p:spPr>
          <a:xfrm>
            <a:off x="5102352" y="3291840"/>
            <a:ext cx="1746504" cy="1234440"/>
          </a:xfrm>
          <a:prstGeom prst="rect">
            <a:avLst/>
          </a:prstGeom>
          <a:noFill/>
          <a:ln/>
        </p:spPr>
        <p:txBody>
          <a:bodyPr wrap="square" rtlCol="0" anchor="ctr"/>
          <a:lstStyle/>
          <a:p>
            <a:pPr algn="ctr" indent="0" marL="0">
              <a:lnSpc>
                <a:spcPts val="1500"/>
              </a:lnSpc>
              <a:buNone/>
            </a:pPr>
            <a:r>
              <a:rPr lang="en-US" sz="1250" b="1" dirty="0">
                <a:solidFill>
                  <a:srgbClr val="FFFFFF"/>
                </a:solidFill>
                <a:latin typeface="Calibri" pitchFamily="34" charset="0"/>
                <a:ea typeface="Calibri" pitchFamily="34" charset="-122"/>
                <a:cs typeface="Calibri" pitchFamily="34" charset="-120"/>
              </a:rPr>
              <a:t>Work Order</a:t>
            </a:r>
            <a:endParaRPr lang="en-US" sz="1250" dirty="0"/>
          </a:p>
          <a:p>
            <a:pPr algn="ctr" indent="0" marL="0">
              <a:lnSpc>
                <a:spcPts val="1500"/>
              </a:lnSpc>
              <a:buNone/>
            </a:pPr>
            <a:r>
              <a:rPr lang="en-US" sz="1250" b="1" dirty="0">
                <a:solidFill>
                  <a:srgbClr val="FFFFFF"/>
                </a:solidFill>
                <a:latin typeface="Calibri" pitchFamily="34" charset="0"/>
                <a:ea typeface="Calibri" pitchFamily="34" charset="-122"/>
                <a:cs typeface="Calibri" pitchFamily="34" charset="-120"/>
              </a:rPr>
              <a:t>is created</a:t>
            </a:r>
            <a:endParaRPr lang="en-US" sz="1250" dirty="0"/>
          </a:p>
        </p:txBody>
      </p:sp>
      <p:sp>
        <p:nvSpPr>
          <p:cNvPr id="14" name="Text 12"/>
          <p:cNvSpPr/>
          <p:nvPr/>
        </p:nvSpPr>
        <p:spPr>
          <a:xfrm>
            <a:off x="6958584" y="3291840"/>
            <a:ext cx="256032" cy="1234440"/>
          </a:xfrm>
          <a:prstGeom prst="rect">
            <a:avLst/>
          </a:prstGeom>
          <a:noFill/>
          <a:ln/>
        </p:spPr>
        <p:txBody>
          <a:bodyPr wrap="square" rtlCol="0" anchor="ctr"/>
          <a:lstStyle/>
          <a:p>
            <a:pPr algn="ctr" indent="0" marL="0">
              <a:buNone/>
            </a:pPr>
            <a:r>
              <a:rPr lang="en-US" sz="2000" dirty="0">
                <a:solidFill>
                  <a:srgbClr val="6E7591"/>
                </a:solidFill>
                <a:latin typeface="Calibri" pitchFamily="34" charset="0"/>
                <a:ea typeface="Calibri" pitchFamily="34" charset="-122"/>
                <a:cs typeface="Calibri" pitchFamily="34" charset="-120"/>
              </a:rPr>
              <a:t>→</a:t>
            </a:r>
            <a:endParaRPr lang="en-US" sz="2000" dirty="0"/>
          </a:p>
        </p:txBody>
      </p:sp>
      <p:sp>
        <p:nvSpPr>
          <p:cNvPr id="15" name="Shape 13"/>
          <p:cNvSpPr/>
          <p:nvPr/>
        </p:nvSpPr>
        <p:spPr>
          <a:xfrm>
            <a:off x="7214616" y="3291840"/>
            <a:ext cx="1965960" cy="1234440"/>
          </a:xfrm>
          <a:prstGeom prst="roundRect">
            <a:avLst>
              <a:gd name="adj" fmla="val 6667"/>
            </a:avLst>
          </a:prstGeom>
          <a:solidFill>
            <a:srgbClr val="1E2761"/>
          </a:solidFill>
          <a:ln/>
        </p:spPr>
      </p:sp>
      <p:sp>
        <p:nvSpPr>
          <p:cNvPr id="16" name="Text 14"/>
          <p:cNvSpPr/>
          <p:nvPr/>
        </p:nvSpPr>
        <p:spPr>
          <a:xfrm>
            <a:off x="7324344" y="3291840"/>
            <a:ext cx="1746504" cy="1234440"/>
          </a:xfrm>
          <a:prstGeom prst="rect">
            <a:avLst/>
          </a:prstGeom>
          <a:noFill/>
          <a:ln/>
        </p:spPr>
        <p:txBody>
          <a:bodyPr wrap="square" rtlCol="0" anchor="ctr"/>
          <a:lstStyle/>
          <a:p>
            <a:pPr algn="ctr" indent="0" marL="0">
              <a:lnSpc>
                <a:spcPts val="1500"/>
              </a:lnSpc>
              <a:buNone/>
            </a:pPr>
            <a:r>
              <a:rPr lang="en-US" sz="1250" b="1" dirty="0">
                <a:solidFill>
                  <a:srgbClr val="FFFFFF"/>
                </a:solidFill>
                <a:latin typeface="Calibri" pitchFamily="34" charset="0"/>
                <a:ea typeface="Calibri" pitchFamily="34" charset="-122"/>
                <a:cs typeface="Calibri" pitchFamily="34" charset="-120"/>
              </a:rPr>
              <a:t>Vendor Job</a:t>
            </a:r>
            <a:endParaRPr lang="en-US" sz="1250" dirty="0"/>
          </a:p>
          <a:p>
            <a:pPr algn="ctr" indent="0" marL="0">
              <a:lnSpc>
                <a:spcPts val="1500"/>
              </a:lnSpc>
              <a:buNone/>
            </a:pPr>
            <a:r>
              <a:rPr lang="en-US" sz="1250" b="1" dirty="0">
                <a:solidFill>
                  <a:srgbClr val="FFFFFF"/>
                </a:solidFill>
                <a:latin typeface="Calibri" pitchFamily="34" charset="0"/>
                <a:ea typeface="Calibri" pitchFamily="34" charset="-122"/>
                <a:cs typeface="Calibri" pitchFamily="34" charset="-120"/>
              </a:rPr>
              <a:t>is created</a:t>
            </a:r>
            <a:endParaRPr lang="en-US" sz="1250" dirty="0"/>
          </a:p>
        </p:txBody>
      </p:sp>
      <p:sp>
        <p:nvSpPr>
          <p:cNvPr id="17" name="Text 15"/>
          <p:cNvSpPr/>
          <p:nvPr/>
        </p:nvSpPr>
        <p:spPr>
          <a:xfrm>
            <a:off x="9180576" y="3291840"/>
            <a:ext cx="256032" cy="1234440"/>
          </a:xfrm>
          <a:prstGeom prst="rect">
            <a:avLst/>
          </a:prstGeom>
          <a:noFill/>
          <a:ln/>
        </p:spPr>
        <p:txBody>
          <a:bodyPr wrap="square" rtlCol="0" anchor="ctr"/>
          <a:lstStyle/>
          <a:p>
            <a:pPr algn="ctr" indent="0" marL="0">
              <a:buNone/>
            </a:pPr>
            <a:r>
              <a:rPr lang="en-US" sz="2000" dirty="0">
                <a:solidFill>
                  <a:srgbClr val="6E7591"/>
                </a:solidFill>
                <a:latin typeface="Calibri" pitchFamily="34" charset="0"/>
                <a:ea typeface="Calibri" pitchFamily="34" charset="-122"/>
                <a:cs typeface="Calibri" pitchFamily="34" charset="-120"/>
              </a:rPr>
              <a:t>→</a:t>
            </a:r>
            <a:endParaRPr lang="en-US" sz="2000" dirty="0"/>
          </a:p>
        </p:txBody>
      </p:sp>
      <p:sp>
        <p:nvSpPr>
          <p:cNvPr id="18" name="Shape 16"/>
          <p:cNvSpPr/>
          <p:nvPr/>
        </p:nvSpPr>
        <p:spPr>
          <a:xfrm>
            <a:off x="9436608" y="3291840"/>
            <a:ext cx="1965960" cy="1234440"/>
          </a:xfrm>
          <a:prstGeom prst="roundRect">
            <a:avLst>
              <a:gd name="adj" fmla="val 6667"/>
            </a:avLst>
          </a:prstGeom>
          <a:solidFill>
            <a:srgbClr val="2E9E6D"/>
          </a:solidFill>
          <a:ln/>
        </p:spPr>
      </p:sp>
      <p:sp>
        <p:nvSpPr>
          <p:cNvPr id="19" name="Text 17"/>
          <p:cNvSpPr/>
          <p:nvPr/>
        </p:nvSpPr>
        <p:spPr>
          <a:xfrm>
            <a:off x="9546336" y="3291840"/>
            <a:ext cx="1746504" cy="1234440"/>
          </a:xfrm>
          <a:prstGeom prst="rect">
            <a:avLst/>
          </a:prstGeom>
          <a:noFill/>
          <a:ln/>
        </p:spPr>
        <p:txBody>
          <a:bodyPr wrap="square" rtlCol="0" anchor="ctr"/>
          <a:lstStyle/>
          <a:p>
            <a:pPr algn="ctr" indent="0" marL="0">
              <a:lnSpc>
                <a:spcPts val="1500"/>
              </a:lnSpc>
              <a:buNone/>
            </a:pPr>
            <a:r>
              <a:rPr lang="en-US" sz="1250" b="1" dirty="0">
                <a:solidFill>
                  <a:srgbClr val="FFFFFF"/>
                </a:solidFill>
                <a:latin typeface="Calibri" pitchFamily="34" charset="0"/>
                <a:ea typeface="Calibri" pitchFamily="34" charset="-122"/>
                <a:cs typeface="Calibri" pitchFamily="34" charset="-120"/>
              </a:rPr>
              <a:t>Status tracked to</a:t>
            </a:r>
            <a:endParaRPr lang="en-US" sz="1250" dirty="0"/>
          </a:p>
          <a:p>
            <a:pPr algn="ctr" indent="0" marL="0">
              <a:lnSpc>
                <a:spcPts val="1500"/>
              </a:lnSpc>
              <a:buNone/>
            </a:pPr>
            <a:r>
              <a:rPr lang="en-US" sz="1250" b="1" dirty="0">
                <a:solidFill>
                  <a:srgbClr val="FFFFFF"/>
                </a:solidFill>
                <a:latin typeface="Calibri" pitchFamily="34" charset="0"/>
                <a:ea typeface="Calibri" pitchFamily="34" charset="-122"/>
                <a:cs typeface="Calibri" pitchFamily="34" charset="-120"/>
              </a:rPr>
              <a:t>Completed / Canceled</a:t>
            </a:r>
            <a:endParaRPr lang="en-US" sz="1250" dirty="0"/>
          </a:p>
        </p:txBody>
      </p:sp>
      <p:sp>
        <p:nvSpPr>
          <p:cNvPr id="20" name="Shape 18"/>
          <p:cNvSpPr/>
          <p:nvPr/>
        </p:nvSpPr>
        <p:spPr>
          <a:xfrm>
            <a:off x="548640" y="5074920"/>
            <a:ext cx="3611880" cy="1234440"/>
          </a:xfrm>
          <a:prstGeom prst="roundRect">
            <a:avLst>
              <a:gd name="adj" fmla="val 5926"/>
            </a:avLst>
          </a:prstGeom>
          <a:solidFill>
            <a:srgbClr val="F4F6FC"/>
          </a:solidFill>
          <a:ln/>
        </p:spPr>
      </p:sp>
      <p:sp>
        <p:nvSpPr>
          <p:cNvPr id="21" name="Text 19"/>
          <p:cNvSpPr/>
          <p:nvPr/>
        </p:nvSpPr>
        <p:spPr>
          <a:xfrm>
            <a:off x="777240" y="5212080"/>
            <a:ext cx="3200400" cy="274320"/>
          </a:xfrm>
          <a:prstGeom prst="rect">
            <a:avLst/>
          </a:prstGeom>
          <a:noFill/>
          <a:ln/>
        </p:spPr>
        <p:txBody>
          <a:bodyPr wrap="square" rtlCol="0" anchor="ctr"/>
          <a:lstStyle/>
          <a:p>
            <a:pPr indent="0" marL="0">
              <a:buNone/>
            </a:pPr>
            <a:r>
              <a:rPr lang="en-US" sz="1050" b="1" spc="100" kern="0" dirty="0">
                <a:solidFill>
                  <a:srgbClr val="1E2761"/>
                </a:solidFill>
                <a:latin typeface="Calibri" pitchFamily="34" charset="0"/>
                <a:ea typeface="Calibri" pitchFamily="34" charset="-122"/>
                <a:cs typeface="Calibri" pitchFamily="34" charset="-120"/>
              </a:rPr>
              <a:t>TRIGGERED BY</a:t>
            </a:r>
            <a:endParaRPr lang="en-US" sz="1050" dirty="0"/>
          </a:p>
        </p:txBody>
      </p:sp>
      <p:sp>
        <p:nvSpPr>
          <p:cNvPr id="22" name="Text 20"/>
          <p:cNvSpPr/>
          <p:nvPr/>
        </p:nvSpPr>
        <p:spPr>
          <a:xfrm>
            <a:off x="777240" y="5486400"/>
            <a:ext cx="3200400" cy="731520"/>
          </a:xfrm>
          <a:prstGeom prst="rect">
            <a:avLst/>
          </a:prstGeom>
          <a:noFill/>
          <a:ln/>
        </p:spPr>
        <p:txBody>
          <a:bodyPr wrap="square" rtlCol="0" anchor="ctr"/>
          <a:lstStyle/>
          <a:p>
            <a:pPr indent="0" marL="0">
              <a:lnSpc>
                <a:spcPts val="1500"/>
              </a:lnSpc>
              <a:buNone/>
            </a:pPr>
            <a:r>
              <a:rPr lang="en-US" sz="1200" dirty="0">
                <a:solidFill>
                  <a:srgbClr val="23283B"/>
                </a:solidFill>
                <a:latin typeface="Calibri" pitchFamily="34" charset="0"/>
                <a:ea typeface="Calibri" pitchFamily="34" charset="-122"/>
                <a:cs typeface="Calibri" pitchFamily="34" charset="-120"/>
              </a:rPr>
              <a:t>A claim requiring an expert / vendor assignment</a:t>
            </a:r>
            <a:endParaRPr lang="en-US" sz="1200" dirty="0"/>
          </a:p>
        </p:txBody>
      </p:sp>
      <p:sp>
        <p:nvSpPr>
          <p:cNvPr id="23" name="Shape 21"/>
          <p:cNvSpPr/>
          <p:nvPr/>
        </p:nvSpPr>
        <p:spPr>
          <a:xfrm>
            <a:off x="4389120" y="5074920"/>
            <a:ext cx="3611880" cy="1234440"/>
          </a:xfrm>
          <a:prstGeom prst="roundRect">
            <a:avLst>
              <a:gd name="adj" fmla="val 5926"/>
            </a:avLst>
          </a:prstGeom>
          <a:solidFill>
            <a:srgbClr val="F4F6FC"/>
          </a:solidFill>
          <a:ln/>
        </p:spPr>
      </p:sp>
      <p:sp>
        <p:nvSpPr>
          <p:cNvPr id="24" name="Text 22"/>
          <p:cNvSpPr/>
          <p:nvPr/>
        </p:nvSpPr>
        <p:spPr>
          <a:xfrm>
            <a:off x="4617720" y="5212080"/>
            <a:ext cx="3200400" cy="274320"/>
          </a:xfrm>
          <a:prstGeom prst="rect">
            <a:avLst/>
          </a:prstGeom>
          <a:noFill/>
          <a:ln/>
        </p:spPr>
        <p:txBody>
          <a:bodyPr wrap="square" rtlCol="0" anchor="ctr"/>
          <a:lstStyle/>
          <a:p>
            <a:pPr indent="0" marL="0">
              <a:buNone/>
            </a:pPr>
            <a:r>
              <a:rPr lang="en-US" sz="1050" b="1" spc="100" kern="0" dirty="0">
                <a:solidFill>
                  <a:srgbClr val="1E2761"/>
                </a:solidFill>
                <a:latin typeface="Calibri" pitchFamily="34" charset="0"/>
                <a:ea typeface="Calibri" pitchFamily="34" charset="-122"/>
                <a:cs typeface="Calibri" pitchFamily="34" charset="-120"/>
              </a:rPr>
              <a:t>CORE OUTPUTS</a:t>
            </a:r>
            <a:endParaRPr lang="en-US" sz="1050" dirty="0"/>
          </a:p>
        </p:txBody>
      </p:sp>
      <p:sp>
        <p:nvSpPr>
          <p:cNvPr id="25" name="Text 23"/>
          <p:cNvSpPr/>
          <p:nvPr/>
        </p:nvSpPr>
        <p:spPr>
          <a:xfrm>
            <a:off x="4617720" y="5486400"/>
            <a:ext cx="3200400" cy="731520"/>
          </a:xfrm>
          <a:prstGeom prst="rect">
            <a:avLst/>
          </a:prstGeom>
          <a:noFill/>
          <a:ln/>
        </p:spPr>
        <p:txBody>
          <a:bodyPr wrap="square" rtlCol="0" anchor="ctr"/>
          <a:lstStyle/>
          <a:p>
            <a:pPr indent="0" marL="0">
              <a:lnSpc>
                <a:spcPts val="1500"/>
              </a:lnSpc>
              <a:buNone/>
            </a:pPr>
            <a:r>
              <a:rPr lang="en-US" sz="1200" dirty="0">
                <a:solidFill>
                  <a:srgbClr val="23283B"/>
                </a:solidFill>
                <a:latin typeface="Calibri" pitchFamily="34" charset="0"/>
                <a:ea typeface="Calibri" pitchFamily="34" charset="-122"/>
                <a:cs typeface="Calibri" pitchFamily="34" charset="-120"/>
              </a:rPr>
              <a:t>work_orders, dispatch_logs, vendor_jobs_input</a:t>
            </a:r>
            <a:endParaRPr lang="en-US" sz="1200" dirty="0"/>
          </a:p>
        </p:txBody>
      </p:sp>
      <p:sp>
        <p:nvSpPr>
          <p:cNvPr id="26" name="Shape 24"/>
          <p:cNvSpPr/>
          <p:nvPr/>
        </p:nvSpPr>
        <p:spPr>
          <a:xfrm>
            <a:off x="8229600" y="5074920"/>
            <a:ext cx="3611880" cy="1234440"/>
          </a:xfrm>
          <a:prstGeom prst="roundRect">
            <a:avLst>
              <a:gd name="adj" fmla="val 5926"/>
            </a:avLst>
          </a:prstGeom>
          <a:solidFill>
            <a:srgbClr val="F4F6FC"/>
          </a:solidFill>
          <a:ln/>
        </p:spPr>
      </p:sp>
      <p:sp>
        <p:nvSpPr>
          <p:cNvPr id="27" name="Text 25"/>
          <p:cNvSpPr/>
          <p:nvPr/>
        </p:nvSpPr>
        <p:spPr>
          <a:xfrm>
            <a:off x="8458200" y="5212080"/>
            <a:ext cx="3200400" cy="274320"/>
          </a:xfrm>
          <a:prstGeom prst="rect">
            <a:avLst/>
          </a:prstGeom>
          <a:noFill/>
          <a:ln/>
        </p:spPr>
        <p:txBody>
          <a:bodyPr wrap="square" rtlCol="0" anchor="ctr"/>
          <a:lstStyle/>
          <a:p>
            <a:pPr indent="0" marL="0">
              <a:buNone/>
            </a:pPr>
            <a:r>
              <a:rPr lang="en-US" sz="1050" b="1" spc="100" kern="0" dirty="0">
                <a:solidFill>
                  <a:srgbClr val="1E2761"/>
                </a:solidFill>
                <a:latin typeface="Calibri" pitchFamily="34" charset="0"/>
                <a:ea typeface="Calibri" pitchFamily="34" charset="-122"/>
                <a:cs typeface="Calibri" pitchFamily="34" charset="-120"/>
              </a:rPr>
              <a:t>DOWNSTREAM CONSUMERS</a:t>
            </a:r>
            <a:endParaRPr lang="en-US" sz="1050" dirty="0"/>
          </a:p>
        </p:txBody>
      </p:sp>
      <p:sp>
        <p:nvSpPr>
          <p:cNvPr id="28" name="Text 26"/>
          <p:cNvSpPr/>
          <p:nvPr/>
        </p:nvSpPr>
        <p:spPr>
          <a:xfrm>
            <a:off x="8458200" y="5486400"/>
            <a:ext cx="3200400" cy="731520"/>
          </a:xfrm>
          <a:prstGeom prst="rect">
            <a:avLst/>
          </a:prstGeom>
          <a:noFill/>
          <a:ln/>
        </p:spPr>
        <p:txBody>
          <a:bodyPr wrap="square" rtlCol="0" anchor="ctr"/>
          <a:lstStyle/>
          <a:p>
            <a:pPr indent="0" marL="0">
              <a:lnSpc>
                <a:spcPts val="1500"/>
              </a:lnSpc>
              <a:buNone/>
            </a:pPr>
            <a:r>
              <a:rPr lang="en-US" sz="1200" dirty="0">
                <a:solidFill>
                  <a:srgbClr val="23283B"/>
                </a:solidFill>
                <a:latin typeface="Calibri" pitchFamily="34" charset="0"/>
                <a:ea typeface="Calibri" pitchFamily="34" charset="-122"/>
                <a:cs typeface="Calibri" pitchFamily="34" charset="-120"/>
              </a:rPr>
              <a:t>SLA Compliance, Escalation, Vendor Performance agents</a:t>
            </a:r>
            <a:endParaRPr lang="en-US" sz="1200" dirty="0"/>
          </a:p>
        </p:txBody>
      </p:sp>
      <p:sp>
        <p:nvSpPr>
          <p:cNvPr id="29" name="Text 27"/>
          <p:cNvSpPr/>
          <p:nvPr/>
        </p:nvSpPr>
        <p:spPr>
          <a:xfrm>
            <a:off x="11548872" y="6400800"/>
            <a:ext cx="365760" cy="274320"/>
          </a:xfrm>
          <a:prstGeom prst="rect">
            <a:avLst/>
          </a:prstGeom>
          <a:noFill/>
          <a:ln/>
        </p:spPr>
        <p:txBody>
          <a:bodyPr wrap="square" rtlCol="0" anchor="ctr"/>
          <a:lstStyle/>
          <a:p>
            <a:pPr algn="r" indent="0" marL="0">
              <a:buNone/>
            </a:pPr>
            <a:r>
              <a:rPr lang="en-US" sz="1000" dirty="0">
                <a:solidFill>
                  <a:srgbClr val="6E7591"/>
                </a:solidFill>
                <a:latin typeface="Calibri" pitchFamily="34" charset="0"/>
                <a:ea typeface="Calibri" pitchFamily="34" charset="-122"/>
                <a:cs typeface="Calibri" pitchFamily="34" charset="-120"/>
              </a:rPr>
              <a:t>2</a:t>
            </a:r>
            <a:endParaRPr lang="en-US" sz="1000" dirty="0"/>
          </a:p>
        </p:txBody>
      </p:sp>
      <p:sp>
        <p:nvSpPr>
          <p:cNvPr id="30" name="Text 28"/>
          <p:cNvSpPr/>
          <p:nvPr/>
        </p:nvSpPr>
        <p:spPr>
          <a:xfrm>
            <a:off x="457200" y="6400800"/>
            <a:ext cx="5486400" cy="274320"/>
          </a:xfrm>
          <a:prstGeom prst="rect">
            <a:avLst/>
          </a:prstGeom>
          <a:noFill/>
          <a:ln/>
        </p:spPr>
        <p:txBody>
          <a:bodyPr wrap="square" rtlCol="0" anchor="ctr"/>
          <a:lstStyle/>
          <a:p>
            <a:pPr indent="0" marL="0">
              <a:buNone/>
            </a:pPr>
            <a:r>
              <a:rPr lang="en-US" sz="1000" dirty="0">
                <a:solidFill>
                  <a:srgbClr val="6E7591"/>
                </a:solidFill>
                <a:latin typeface="Calibri" pitchFamily="34" charset="0"/>
                <a:ea typeface="Calibri" pitchFamily="34" charset="-122"/>
                <a:cs typeface="Calibri" pitchFamily="34" charset="-120"/>
              </a:rPr>
              <a:t>Dispatch Agent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rtlCol="0" anchor="ctr"/>
          <a:lstStyle/>
          <a:p>
            <a:pPr indent="0" marL="0">
              <a:buNone/>
            </a:pPr>
            <a:r>
              <a:rPr lang="en-US" sz="1200" b="1" spc="200" kern="0" dirty="0">
                <a:solidFill>
                  <a:srgbClr val="6E7591"/>
                </a:solidFill>
                <a:latin typeface="Calibri" pitchFamily="34" charset="0"/>
                <a:ea typeface="Calibri" pitchFamily="34" charset="-122"/>
                <a:cs typeface="Calibri" pitchFamily="34" charset="-120"/>
              </a:rPr>
              <a:t>STEP 1 · TRIGGER</a:t>
            </a:r>
            <a:endParaRPr lang="en-US" sz="1200" dirty="0"/>
          </a:p>
        </p:txBody>
      </p:sp>
      <p:sp>
        <p:nvSpPr>
          <p:cNvPr id="3" name="Text 1"/>
          <p:cNvSpPr/>
          <p:nvPr/>
        </p:nvSpPr>
        <p:spPr>
          <a:xfrm>
            <a:off x="548640" y="621792"/>
            <a:ext cx="11064240" cy="685800"/>
          </a:xfrm>
          <a:prstGeom prst="rect">
            <a:avLst/>
          </a:prstGeom>
          <a:noFill/>
          <a:ln/>
        </p:spPr>
        <p:txBody>
          <a:bodyPr wrap="square"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What Starts a Dispatch Request</a:t>
            </a:r>
            <a:endParaRPr lang="en-US" sz="3000" dirty="0"/>
          </a:p>
        </p:txBody>
      </p:sp>
      <p:sp>
        <p:nvSpPr>
          <p:cNvPr id="4" name="Text 2"/>
          <p:cNvSpPr/>
          <p:nvPr/>
        </p:nvSpPr>
        <p:spPr>
          <a:xfrm>
            <a:off x="548640" y="1508760"/>
            <a:ext cx="11064240" cy="548640"/>
          </a:xfrm>
          <a:prstGeom prst="rect">
            <a:avLst/>
          </a:prstGeom>
          <a:noFill/>
          <a:ln/>
        </p:spPr>
        <p:txBody>
          <a:bodyPr wrap="square" rtlCol="0" anchor="ctr"/>
          <a:lstStyle/>
          <a:p>
            <a:pPr indent="0" marL="0">
              <a:lnSpc>
                <a:spcPts val="1900"/>
              </a:lnSpc>
              <a:buNone/>
            </a:pPr>
            <a:r>
              <a:rPr lang="en-US" sz="1350" dirty="0">
                <a:solidFill>
                  <a:srgbClr val="23283B"/>
                </a:solidFill>
                <a:latin typeface="Calibri" pitchFamily="34" charset="0"/>
                <a:ea typeface="Calibri" pitchFamily="34" charset="-122"/>
                <a:cs typeface="Calibri" pitchFamily="34" charset="-120"/>
              </a:rPr>
              <a:t>The Dispatch Agent is invoked whenever a claim requires an expert or vendor assignment. The request supplies identifiers and scheduling details — everything else is resolved from the database.</a:t>
            </a:r>
            <a:endParaRPr lang="en-US" sz="1350" dirty="0"/>
          </a:p>
        </p:txBody>
      </p:sp>
      <p:sp>
        <p:nvSpPr>
          <p:cNvPr id="5" name="Shape 3"/>
          <p:cNvSpPr/>
          <p:nvPr/>
        </p:nvSpPr>
        <p:spPr>
          <a:xfrm>
            <a:off x="548640" y="2286000"/>
            <a:ext cx="3611880" cy="3977640"/>
          </a:xfrm>
          <a:prstGeom prst="roundRect">
            <a:avLst>
              <a:gd name="adj" fmla="val 2278"/>
            </a:avLst>
          </a:prstGeom>
          <a:solidFill>
            <a:srgbClr val="F4F6FC"/>
          </a:solidFill>
          <a:ln w="12700">
            <a:solidFill>
              <a:srgbClr val="E3E7F5"/>
            </a:solidFill>
            <a:prstDash val="solid"/>
          </a:ln>
        </p:spPr>
      </p:sp>
      <p:sp>
        <p:nvSpPr>
          <p:cNvPr id="6" name="Shape 4"/>
          <p:cNvSpPr/>
          <p:nvPr/>
        </p:nvSpPr>
        <p:spPr>
          <a:xfrm>
            <a:off x="548640" y="2286000"/>
            <a:ext cx="3611880" cy="594360"/>
          </a:xfrm>
          <a:prstGeom prst="roundRect">
            <a:avLst>
              <a:gd name="adj" fmla="val 13846"/>
            </a:avLst>
          </a:prstGeom>
          <a:solidFill>
            <a:srgbClr val="1E2761"/>
          </a:solidFill>
          <a:ln/>
        </p:spPr>
      </p:sp>
      <p:sp>
        <p:nvSpPr>
          <p:cNvPr id="7" name="Shape 5"/>
          <p:cNvSpPr/>
          <p:nvPr/>
        </p:nvSpPr>
        <p:spPr>
          <a:xfrm>
            <a:off x="548640" y="2578608"/>
            <a:ext cx="3611880" cy="301752"/>
          </a:xfrm>
          <a:prstGeom prst="rect">
            <a:avLst/>
          </a:prstGeom>
          <a:solidFill>
            <a:srgbClr val="1E2761"/>
          </a:solidFill>
          <a:ln/>
        </p:spPr>
      </p:sp>
      <p:sp>
        <p:nvSpPr>
          <p:cNvPr id="8" name="Text 6"/>
          <p:cNvSpPr/>
          <p:nvPr/>
        </p:nvSpPr>
        <p:spPr>
          <a:xfrm>
            <a:off x="731520" y="2286000"/>
            <a:ext cx="3246120" cy="594360"/>
          </a:xfrm>
          <a:prstGeom prst="rect">
            <a:avLst/>
          </a:prstGeom>
          <a:noFill/>
          <a:ln/>
        </p:spPr>
        <p:txBody>
          <a:bodyPr wrap="square" rtlCol="0" anchor="ctr"/>
          <a:lstStyle/>
          <a:p>
            <a:pPr indent="0" marL="0">
              <a:lnSpc>
                <a:spcPts val="1400"/>
              </a:lnSpc>
              <a:buNone/>
            </a:pPr>
            <a:r>
              <a:rPr lang="en-US" sz="1350" b="1" dirty="0">
                <a:solidFill>
                  <a:srgbClr val="FFFFFF"/>
                </a:solidFill>
                <a:latin typeface="Calibri" pitchFamily="34" charset="0"/>
                <a:ea typeface="Calibri" pitchFamily="34" charset="-122"/>
                <a:cs typeface="Calibri" pitchFamily="34" charset="-120"/>
              </a:rPr>
              <a:t>Mandatory Inputs</a:t>
            </a:r>
            <a:endParaRPr lang="en-US" sz="1350" dirty="0"/>
          </a:p>
        </p:txBody>
      </p:sp>
      <p:sp>
        <p:nvSpPr>
          <p:cNvPr id="9" name="Shape 7"/>
          <p:cNvSpPr/>
          <p:nvPr/>
        </p:nvSpPr>
        <p:spPr>
          <a:xfrm>
            <a:off x="777240" y="3145536"/>
            <a:ext cx="82296" cy="82296"/>
          </a:xfrm>
          <a:prstGeom prst="ellipse">
            <a:avLst/>
          </a:prstGeom>
          <a:solidFill>
            <a:srgbClr val="1E2761"/>
          </a:solidFill>
          <a:ln/>
        </p:spPr>
      </p:sp>
      <p:sp>
        <p:nvSpPr>
          <p:cNvPr id="10" name="Text 8"/>
          <p:cNvSpPr/>
          <p:nvPr/>
        </p:nvSpPr>
        <p:spPr>
          <a:xfrm>
            <a:off x="960120" y="3063240"/>
            <a:ext cx="3017520" cy="292608"/>
          </a:xfrm>
          <a:prstGeom prst="rect">
            <a:avLst/>
          </a:prstGeom>
          <a:noFill/>
          <a:ln/>
        </p:spPr>
        <p:txBody>
          <a:bodyPr wrap="square" rtlCol="0" anchor="ctr"/>
          <a:lstStyle/>
          <a:p>
            <a:pPr indent="0" marL="0">
              <a:buNone/>
            </a:pPr>
            <a:r>
              <a:rPr lang="en-US" sz="1250" dirty="0">
                <a:solidFill>
                  <a:srgbClr val="23283B"/>
                </a:solidFill>
                <a:latin typeface="Courier New" pitchFamily="34" charset="0"/>
                <a:ea typeface="Courier New" pitchFamily="34" charset="-122"/>
                <a:cs typeface="Courier New" pitchFamily="34" charset="-120"/>
              </a:rPr>
              <a:t>claim_number</a:t>
            </a:r>
            <a:endParaRPr lang="en-US" sz="1250" dirty="0"/>
          </a:p>
        </p:txBody>
      </p:sp>
      <p:sp>
        <p:nvSpPr>
          <p:cNvPr id="11" name="Shape 9"/>
          <p:cNvSpPr/>
          <p:nvPr/>
        </p:nvSpPr>
        <p:spPr>
          <a:xfrm>
            <a:off x="777240" y="3547872"/>
            <a:ext cx="82296" cy="82296"/>
          </a:xfrm>
          <a:prstGeom prst="ellipse">
            <a:avLst/>
          </a:prstGeom>
          <a:solidFill>
            <a:srgbClr val="1E2761"/>
          </a:solidFill>
          <a:ln/>
        </p:spPr>
      </p:sp>
      <p:sp>
        <p:nvSpPr>
          <p:cNvPr id="12" name="Text 10"/>
          <p:cNvSpPr/>
          <p:nvPr/>
        </p:nvSpPr>
        <p:spPr>
          <a:xfrm>
            <a:off x="960120" y="3465576"/>
            <a:ext cx="3017520" cy="292608"/>
          </a:xfrm>
          <a:prstGeom prst="rect">
            <a:avLst/>
          </a:prstGeom>
          <a:noFill/>
          <a:ln/>
        </p:spPr>
        <p:txBody>
          <a:bodyPr wrap="square" rtlCol="0" anchor="ctr"/>
          <a:lstStyle/>
          <a:p>
            <a:pPr indent="0" marL="0">
              <a:buNone/>
            </a:pPr>
            <a:r>
              <a:rPr lang="en-US" sz="1250" dirty="0">
                <a:solidFill>
                  <a:srgbClr val="23283B"/>
                </a:solidFill>
                <a:latin typeface="Courier New" pitchFamily="34" charset="0"/>
                <a:ea typeface="Courier New" pitchFamily="34" charset="-122"/>
                <a:cs typeface="Courier New" pitchFamily="34" charset="-120"/>
              </a:rPr>
              <a:t>expert_id</a:t>
            </a:r>
            <a:endParaRPr lang="en-US" sz="1250" dirty="0"/>
          </a:p>
        </p:txBody>
      </p:sp>
      <p:sp>
        <p:nvSpPr>
          <p:cNvPr id="13" name="Shape 11"/>
          <p:cNvSpPr/>
          <p:nvPr/>
        </p:nvSpPr>
        <p:spPr>
          <a:xfrm>
            <a:off x="777240" y="3950208"/>
            <a:ext cx="82296" cy="82296"/>
          </a:xfrm>
          <a:prstGeom prst="ellipse">
            <a:avLst/>
          </a:prstGeom>
          <a:solidFill>
            <a:srgbClr val="1E2761"/>
          </a:solidFill>
          <a:ln/>
        </p:spPr>
      </p:sp>
      <p:sp>
        <p:nvSpPr>
          <p:cNvPr id="14" name="Text 12"/>
          <p:cNvSpPr/>
          <p:nvPr/>
        </p:nvSpPr>
        <p:spPr>
          <a:xfrm>
            <a:off x="960120" y="3867912"/>
            <a:ext cx="3017520" cy="292608"/>
          </a:xfrm>
          <a:prstGeom prst="rect">
            <a:avLst/>
          </a:prstGeom>
          <a:noFill/>
          <a:ln/>
        </p:spPr>
        <p:txBody>
          <a:bodyPr wrap="square" rtlCol="0" anchor="ctr"/>
          <a:lstStyle/>
          <a:p>
            <a:pPr indent="0" marL="0">
              <a:buNone/>
            </a:pPr>
            <a:r>
              <a:rPr lang="en-US" sz="1250" dirty="0">
                <a:solidFill>
                  <a:srgbClr val="23283B"/>
                </a:solidFill>
                <a:latin typeface="Courier New" pitchFamily="34" charset="0"/>
                <a:ea typeface="Courier New" pitchFamily="34" charset="-122"/>
                <a:cs typeface="Courier New" pitchFamily="34" charset="-120"/>
              </a:rPr>
              <a:t>scheduled_date</a:t>
            </a:r>
            <a:endParaRPr lang="en-US" sz="1250" dirty="0"/>
          </a:p>
        </p:txBody>
      </p:sp>
      <p:sp>
        <p:nvSpPr>
          <p:cNvPr id="15" name="Shape 13"/>
          <p:cNvSpPr/>
          <p:nvPr/>
        </p:nvSpPr>
        <p:spPr>
          <a:xfrm>
            <a:off x="777240" y="4352544"/>
            <a:ext cx="82296" cy="82296"/>
          </a:xfrm>
          <a:prstGeom prst="ellipse">
            <a:avLst/>
          </a:prstGeom>
          <a:solidFill>
            <a:srgbClr val="1E2761"/>
          </a:solidFill>
          <a:ln/>
        </p:spPr>
      </p:sp>
      <p:sp>
        <p:nvSpPr>
          <p:cNvPr id="16" name="Text 14"/>
          <p:cNvSpPr/>
          <p:nvPr/>
        </p:nvSpPr>
        <p:spPr>
          <a:xfrm>
            <a:off x="960120" y="4270248"/>
            <a:ext cx="3017520" cy="292608"/>
          </a:xfrm>
          <a:prstGeom prst="rect">
            <a:avLst/>
          </a:prstGeom>
          <a:noFill/>
          <a:ln/>
        </p:spPr>
        <p:txBody>
          <a:bodyPr wrap="square" rtlCol="0" anchor="ctr"/>
          <a:lstStyle/>
          <a:p>
            <a:pPr indent="0" marL="0">
              <a:buNone/>
            </a:pPr>
            <a:r>
              <a:rPr lang="en-US" sz="1250" dirty="0">
                <a:solidFill>
                  <a:srgbClr val="23283B"/>
                </a:solidFill>
                <a:latin typeface="Courier New" pitchFamily="34" charset="0"/>
                <a:ea typeface="Courier New" pitchFamily="34" charset="-122"/>
                <a:cs typeface="Courier New" pitchFamily="34" charset="-120"/>
              </a:rPr>
              <a:t>scheduled_time</a:t>
            </a:r>
            <a:endParaRPr lang="en-US" sz="1250" dirty="0"/>
          </a:p>
        </p:txBody>
      </p:sp>
      <p:sp>
        <p:nvSpPr>
          <p:cNvPr id="17" name="Shape 15"/>
          <p:cNvSpPr/>
          <p:nvPr/>
        </p:nvSpPr>
        <p:spPr>
          <a:xfrm>
            <a:off x="777240" y="4754880"/>
            <a:ext cx="82296" cy="82296"/>
          </a:xfrm>
          <a:prstGeom prst="ellipse">
            <a:avLst/>
          </a:prstGeom>
          <a:solidFill>
            <a:srgbClr val="1E2761"/>
          </a:solidFill>
          <a:ln/>
        </p:spPr>
      </p:sp>
      <p:sp>
        <p:nvSpPr>
          <p:cNvPr id="18" name="Text 16"/>
          <p:cNvSpPr/>
          <p:nvPr/>
        </p:nvSpPr>
        <p:spPr>
          <a:xfrm>
            <a:off x="960120" y="4672584"/>
            <a:ext cx="3017520" cy="292608"/>
          </a:xfrm>
          <a:prstGeom prst="rect">
            <a:avLst/>
          </a:prstGeom>
          <a:noFill/>
          <a:ln/>
        </p:spPr>
        <p:txBody>
          <a:bodyPr wrap="square" rtlCol="0" anchor="ctr"/>
          <a:lstStyle/>
          <a:p>
            <a:pPr indent="0" marL="0">
              <a:buNone/>
            </a:pPr>
            <a:r>
              <a:rPr lang="en-US" sz="1250" dirty="0">
                <a:solidFill>
                  <a:srgbClr val="23283B"/>
                </a:solidFill>
                <a:latin typeface="Courier New" pitchFamily="34" charset="0"/>
                <a:ea typeface="Courier New" pitchFamily="34" charset="-122"/>
                <a:cs typeface="Courier New" pitchFamily="34" charset="-120"/>
              </a:rPr>
              <a:t>assigned_by</a:t>
            </a:r>
            <a:endParaRPr lang="en-US" sz="1250" dirty="0"/>
          </a:p>
        </p:txBody>
      </p:sp>
      <p:sp>
        <p:nvSpPr>
          <p:cNvPr id="19" name="Shape 17"/>
          <p:cNvSpPr/>
          <p:nvPr/>
        </p:nvSpPr>
        <p:spPr>
          <a:xfrm>
            <a:off x="4379976" y="2286000"/>
            <a:ext cx="3611880" cy="3977640"/>
          </a:xfrm>
          <a:prstGeom prst="roundRect">
            <a:avLst>
              <a:gd name="adj" fmla="val 2278"/>
            </a:avLst>
          </a:prstGeom>
          <a:solidFill>
            <a:srgbClr val="F4F6FC"/>
          </a:solidFill>
          <a:ln w="12700">
            <a:solidFill>
              <a:srgbClr val="E3E7F5"/>
            </a:solidFill>
            <a:prstDash val="solid"/>
          </a:ln>
        </p:spPr>
      </p:sp>
      <p:sp>
        <p:nvSpPr>
          <p:cNvPr id="20" name="Shape 18"/>
          <p:cNvSpPr/>
          <p:nvPr/>
        </p:nvSpPr>
        <p:spPr>
          <a:xfrm>
            <a:off x="4379976" y="2286000"/>
            <a:ext cx="3611880" cy="594360"/>
          </a:xfrm>
          <a:prstGeom prst="roundRect">
            <a:avLst>
              <a:gd name="adj" fmla="val 13846"/>
            </a:avLst>
          </a:prstGeom>
          <a:solidFill>
            <a:srgbClr val="D98A2B"/>
          </a:solidFill>
          <a:ln/>
        </p:spPr>
      </p:sp>
      <p:sp>
        <p:nvSpPr>
          <p:cNvPr id="21" name="Shape 19"/>
          <p:cNvSpPr/>
          <p:nvPr/>
        </p:nvSpPr>
        <p:spPr>
          <a:xfrm>
            <a:off x="4379976" y="2578608"/>
            <a:ext cx="3611880" cy="301752"/>
          </a:xfrm>
          <a:prstGeom prst="rect">
            <a:avLst/>
          </a:prstGeom>
          <a:solidFill>
            <a:srgbClr val="D98A2B"/>
          </a:solidFill>
          <a:ln/>
        </p:spPr>
      </p:sp>
      <p:sp>
        <p:nvSpPr>
          <p:cNvPr id="22" name="Text 20"/>
          <p:cNvSpPr/>
          <p:nvPr/>
        </p:nvSpPr>
        <p:spPr>
          <a:xfrm>
            <a:off x="4562856" y="2286000"/>
            <a:ext cx="3246120" cy="594360"/>
          </a:xfrm>
          <a:prstGeom prst="rect">
            <a:avLst/>
          </a:prstGeom>
          <a:noFill/>
          <a:ln/>
        </p:spPr>
        <p:txBody>
          <a:bodyPr wrap="square" rtlCol="0" anchor="ctr"/>
          <a:lstStyle/>
          <a:p>
            <a:pPr indent="0" marL="0">
              <a:lnSpc>
                <a:spcPts val="1400"/>
              </a:lnSpc>
              <a:buNone/>
            </a:pPr>
            <a:r>
              <a:rPr lang="en-US" sz="1350" b="1" dirty="0">
                <a:solidFill>
                  <a:srgbClr val="FFFFFF"/>
                </a:solidFill>
                <a:latin typeface="Calibri" pitchFamily="34" charset="0"/>
                <a:ea typeface="Calibri" pitchFamily="34" charset="-122"/>
                <a:cs typeface="Calibri" pitchFamily="34" charset="-120"/>
              </a:rPr>
              <a:t>Optional Inputs</a:t>
            </a:r>
            <a:endParaRPr lang="en-US" sz="1350" dirty="0"/>
          </a:p>
        </p:txBody>
      </p:sp>
      <p:sp>
        <p:nvSpPr>
          <p:cNvPr id="23" name="Shape 21"/>
          <p:cNvSpPr/>
          <p:nvPr/>
        </p:nvSpPr>
        <p:spPr>
          <a:xfrm>
            <a:off x="4608576" y="3145536"/>
            <a:ext cx="82296" cy="82296"/>
          </a:xfrm>
          <a:prstGeom prst="ellipse">
            <a:avLst/>
          </a:prstGeom>
          <a:solidFill>
            <a:srgbClr val="D98A2B"/>
          </a:solidFill>
          <a:ln/>
        </p:spPr>
      </p:sp>
      <p:sp>
        <p:nvSpPr>
          <p:cNvPr id="24" name="Text 22"/>
          <p:cNvSpPr/>
          <p:nvPr/>
        </p:nvSpPr>
        <p:spPr>
          <a:xfrm>
            <a:off x="4791456" y="3063240"/>
            <a:ext cx="3017520" cy="292608"/>
          </a:xfrm>
          <a:prstGeom prst="rect">
            <a:avLst/>
          </a:prstGeom>
          <a:noFill/>
          <a:ln/>
        </p:spPr>
        <p:txBody>
          <a:bodyPr wrap="square" rtlCol="0" anchor="ctr"/>
          <a:lstStyle/>
          <a:p>
            <a:pPr indent="0" marL="0">
              <a:buNone/>
            </a:pPr>
            <a:r>
              <a:rPr lang="en-US" sz="1250" dirty="0">
                <a:solidFill>
                  <a:srgbClr val="23283B"/>
                </a:solidFill>
                <a:latin typeface="Courier New" pitchFamily="34" charset="0"/>
                <a:ea typeface="Courier New" pitchFamily="34" charset="-122"/>
                <a:cs typeface="Courier New" pitchFamily="34" charset="-120"/>
              </a:rPr>
              <a:t>estimated_arrival</a:t>
            </a:r>
            <a:endParaRPr lang="en-US" sz="1250" dirty="0"/>
          </a:p>
        </p:txBody>
      </p:sp>
      <p:sp>
        <p:nvSpPr>
          <p:cNvPr id="25" name="Shape 23"/>
          <p:cNvSpPr/>
          <p:nvPr/>
        </p:nvSpPr>
        <p:spPr>
          <a:xfrm>
            <a:off x="4608576" y="3547872"/>
            <a:ext cx="82296" cy="82296"/>
          </a:xfrm>
          <a:prstGeom prst="ellipse">
            <a:avLst/>
          </a:prstGeom>
          <a:solidFill>
            <a:srgbClr val="D98A2B"/>
          </a:solidFill>
          <a:ln/>
        </p:spPr>
      </p:sp>
      <p:sp>
        <p:nvSpPr>
          <p:cNvPr id="26" name="Text 24"/>
          <p:cNvSpPr/>
          <p:nvPr/>
        </p:nvSpPr>
        <p:spPr>
          <a:xfrm>
            <a:off x="4791456" y="3465576"/>
            <a:ext cx="3017520" cy="292608"/>
          </a:xfrm>
          <a:prstGeom prst="rect">
            <a:avLst/>
          </a:prstGeom>
          <a:noFill/>
          <a:ln/>
        </p:spPr>
        <p:txBody>
          <a:bodyPr wrap="square" rtlCol="0" anchor="ctr"/>
          <a:lstStyle/>
          <a:p>
            <a:pPr indent="0" marL="0">
              <a:buNone/>
            </a:pPr>
            <a:r>
              <a:rPr lang="en-US" sz="1250" dirty="0">
                <a:solidFill>
                  <a:srgbClr val="23283B"/>
                </a:solidFill>
                <a:latin typeface="Courier New" pitchFamily="34" charset="0"/>
                <a:ea typeface="Courier New" pitchFamily="34" charset="-122"/>
                <a:cs typeface="Courier New" pitchFamily="34" charset="-120"/>
              </a:rPr>
              <a:t>estimated_cost</a:t>
            </a:r>
            <a:endParaRPr lang="en-US" sz="1250" dirty="0"/>
          </a:p>
        </p:txBody>
      </p:sp>
      <p:sp>
        <p:nvSpPr>
          <p:cNvPr id="27" name="Shape 25"/>
          <p:cNvSpPr/>
          <p:nvPr/>
        </p:nvSpPr>
        <p:spPr>
          <a:xfrm>
            <a:off x="4608576" y="3950208"/>
            <a:ext cx="82296" cy="82296"/>
          </a:xfrm>
          <a:prstGeom prst="ellipse">
            <a:avLst/>
          </a:prstGeom>
          <a:solidFill>
            <a:srgbClr val="D98A2B"/>
          </a:solidFill>
          <a:ln/>
        </p:spPr>
      </p:sp>
      <p:sp>
        <p:nvSpPr>
          <p:cNvPr id="28" name="Text 26"/>
          <p:cNvSpPr/>
          <p:nvPr/>
        </p:nvSpPr>
        <p:spPr>
          <a:xfrm>
            <a:off x="4791456" y="3867912"/>
            <a:ext cx="3017520" cy="292608"/>
          </a:xfrm>
          <a:prstGeom prst="rect">
            <a:avLst/>
          </a:prstGeom>
          <a:noFill/>
          <a:ln/>
        </p:spPr>
        <p:txBody>
          <a:bodyPr wrap="square" rtlCol="0" anchor="ctr"/>
          <a:lstStyle/>
          <a:p>
            <a:pPr indent="0" marL="0">
              <a:buNone/>
            </a:pPr>
            <a:r>
              <a:rPr lang="en-US" sz="1250" dirty="0">
                <a:solidFill>
                  <a:srgbClr val="23283B"/>
                </a:solidFill>
                <a:latin typeface="Courier New" pitchFamily="34" charset="0"/>
                <a:ea typeface="Courier New" pitchFamily="34" charset="-122"/>
                <a:cs typeface="Courier New" pitchFamily="34" charset="-120"/>
              </a:rPr>
              <a:t>priority</a:t>
            </a:r>
            <a:endParaRPr lang="en-US" sz="1250" dirty="0"/>
          </a:p>
        </p:txBody>
      </p:sp>
      <p:sp>
        <p:nvSpPr>
          <p:cNvPr id="29" name="Shape 27"/>
          <p:cNvSpPr/>
          <p:nvPr/>
        </p:nvSpPr>
        <p:spPr>
          <a:xfrm>
            <a:off x="4608576" y="4352544"/>
            <a:ext cx="82296" cy="82296"/>
          </a:xfrm>
          <a:prstGeom prst="ellipse">
            <a:avLst/>
          </a:prstGeom>
          <a:solidFill>
            <a:srgbClr val="D98A2B"/>
          </a:solidFill>
          <a:ln/>
        </p:spPr>
      </p:sp>
      <p:sp>
        <p:nvSpPr>
          <p:cNvPr id="30" name="Text 28"/>
          <p:cNvSpPr/>
          <p:nvPr/>
        </p:nvSpPr>
        <p:spPr>
          <a:xfrm>
            <a:off x="4791456" y="4270248"/>
            <a:ext cx="3017520" cy="292608"/>
          </a:xfrm>
          <a:prstGeom prst="rect">
            <a:avLst/>
          </a:prstGeom>
          <a:noFill/>
          <a:ln/>
        </p:spPr>
        <p:txBody>
          <a:bodyPr wrap="square" rtlCol="0" anchor="ctr"/>
          <a:lstStyle/>
          <a:p>
            <a:pPr indent="0" marL="0">
              <a:buNone/>
            </a:pPr>
            <a:r>
              <a:rPr lang="en-US" sz="1250" dirty="0">
                <a:solidFill>
                  <a:srgbClr val="23283B"/>
                </a:solidFill>
                <a:latin typeface="Courier New" pitchFamily="34" charset="0"/>
                <a:ea typeface="Courier New" pitchFamily="34" charset="-122"/>
                <a:cs typeface="Courier New" pitchFamily="34" charset="-120"/>
              </a:rPr>
              <a:t>notes_to_expert</a:t>
            </a:r>
            <a:endParaRPr lang="en-US" sz="1250" dirty="0"/>
          </a:p>
        </p:txBody>
      </p:sp>
      <p:sp>
        <p:nvSpPr>
          <p:cNvPr id="31" name="Shape 29"/>
          <p:cNvSpPr/>
          <p:nvPr/>
        </p:nvSpPr>
        <p:spPr>
          <a:xfrm>
            <a:off x="4608576" y="4754880"/>
            <a:ext cx="82296" cy="82296"/>
          </a:xfrm>
          <a:prstGeom prst="ellipse">
            <a:avLst/>
          </a:prstGeom>
          <a:solidFill>
            <a:srgbClr val="D98A2B"/>
          </a:solidFill>
          <a:ln/>
        </p:spPr>
      </p:sp>
      <p:sp>
        <p:nvSpPr>
          <p:cNvPr id="32" name="Text 30"/>
          <p:cNvSpPr/>
          <p:nvPr/>
        </p:nvSpPr>
        <p:spPr>
          <a:xfrm>
            <a:off x="4791456" y="4672584"/>
            <a:ext cx="3017520" cy="292608"/>
          </a:xfrm>
          <a:prstGeom prst="rect">
            <a:avLst/>
          </a:prstGeom>
          <a:noFill/>
          <a:ln/>
        </p:spPr>
        <p:txBody>
          <a:bodyPr wrap="square" rtlCol="0" anchor="ctr"/>
          <a:lstStyle/>
          <a:p>
            <a:pPr indent="0" marL="0">
              <a:buNone/>
            </a:pPr>
            <a:r>
              <a:rPr lang="en-US" sz="1250" dirty="0">
                <a:solidFill>
                  <a:srgbClr val="23283B"/>
                </a:solidFill>
                <a:latin typeface="Courier New" pitchFamily="34" charset="0"/>
                <a:ea typeface="Courier New" pitchFamily="34" charset="-122"/>
                <a:cs typeface="Courier New" pitchFamily="34" charset="-120"/>
              </a:rPr>
              <a:t>customer_phone</a:t>
            </a:r>
            <a:endParaRPr lang="en-US" sz="1250" dirty="0"/>
          </a:p>
        </p:txBody>
      </p:sp>
      <p:sp>
        <p:nvSpPr>
          <p:cNvPr id="33" name="Shape 31"/>
          <p:cNvSpPr/>
          <p:nvPr/>
        </p:nvSpPr>
        <p:spPr>
          <a:xfrm>
            <a:off x="4608576" y="5157216"/>
            <a:ext cx="82296" cy="82296"/>
          </a:xfrm>
          <a:prstGeom prst="ellipse">
            <a:avLst/>
          </a:prstGeom>
          <a:solidFill>
            <a:srgbClr val="D98A2B"/>
          </a:solidFill>
          <a:ln/>
        </p:spPr>
      </p:sp>
      <p:sp>
        <p:nvSpPr>
          <p:cNvPr id="34" name="Text 32"/>
          <p:cNvSpPr/>
          <p:nvPr/>
        </p:nvSpPr>
        <p:spPr>
          <a:xfrm>
            <a:off x="4791456" y="5074920"/>
            <a:ext cx="3017520" cy="292608"/>
          </a:xfrm>
          <a:prstGeom prst="rect">
            <a:avLst/>
          </a:prstGeom>
          <a:noFill/>
          <a:ln/>
        </p:spPr>
        <p:txBody>
          <a:bodyPr wrap="square" rtlCol="0" anchor="ctr"/>
          <a:lstStyle/>
          <a:p>
            <a:pPr indent="0" marL="0">
              <a:buNone/>
            </a:pPr>
            <a:r>
              <a:rPr lang="en-US" sz="1250" dirty="0">
                <a:solidFill>
                  <a:srgbClr val="23283B"/>
                </a:solidFill>
                <a:latin typeface="Courier New" pitchFamily="34" charset="0"/>
                <a:ea typeface="Courier New" pitchFamily="34" charset="-122"/>
                <a:cs typeface="Courier New" pitchFamily="34" charset="-120"/>
              </a:rPr>
              <a:t>customer_email</a:t>
            </a:r>
            <a:endParaRPr lang="en-US" sz="1250" dirty="0"/>
          </a:p>
        </p:txBody>
      </p:sp>
      <p:sp>
        <p:nvSpPr>
          <p:cNvPr id="35" name="Shape 33"/>
          <p:cNvSpPr/>
          <p:nvPr/>
        </p:nvSpPr>
        <p:spPr>
          <a:xfrm>
            <a:off x="8211312" y="2286000"/>
            <a:ext cx="3611880" cy="3977640"/>
          </a:xfrm>
          <a:prstGeom prst="roundRect">
            <a:avLst>
              <a:gd name="adj" fmla="val 2278"/>
            </a:avLst>
          </a:prstGeom>
          <a:solidFill>
            <a:srgbClr val="F4F6FC"/>
          </a:solidFill>
          <a:ln w="12700">
            <a:solidFill>
              <a:srgbClr val="E3E7F5"/>
            </a:solidFill>
            <a:prstDash val="solid"/>
          </a:ln>
        </p:spPr>
      </p:sp>
      <p:sp>
        <p:nvSpPr>
          <p:cNvPr id="36" name="Shape 34"/>
          <p:cNvSpPr/>
          <p:nvPr/>
        </p:nvSpPr>
        <p:spPr>
          <a:xfrm>
            <a:off x="8211312" y="2286000"/>
            <a:ext cx="3611880" cy="594360"/>
          </a:xfrm>
          <a:prstGeom prst="roundRect">
            <a:avLst>
              <a:gd name="adj" fmla="val 13846"/>
            </a:avLst>
          </a:prstGeom>
          <a:solidFill>
            <a:srgbClr val="6E7591"/>
          </a:solidFill>
          <a:ln/>
        </p:spPr>
      </p:sp>
      <p:sp>
        <p:nvSpPr>
          <p:cNvPr id="37" name="Shape 35"/>
          <p:cNvSpPr/>
          <p:nvPr/>
        </p:nvSpPr>
        <p:spPr>
          <a:xfrm>
            <a:off x="8211312" y="2578608"/>
            <a:ext cx="3611880" cy="301752"/>
          </a:xfrm>
          <a:prstGeom prst="rect">
            <a:avLst/>
          </a:prstGeom>
          <a:solidFill>
            <a:srgbClr val="6E7591"/>
          </a:solidFill>
          <a:ln/>
        </p:spPr>
      </p:sp>
      <p:sp>
        <p:nvSpPr>
          <p:cNvPr id="38" name="Text 36"/>
          <p:cNvSpPr/>
          <p:nvPr/>
        </p:nvSpPr>
        <p:spPr>
          <a:xfrm>
            <a:off x="8394192" y="2286000"/>
            <a:ext cx="3246120" cy="594360"/>
          </a:xfrm>
          <a:prstGeom prst="rect">
            <a:avLst/>
          </a:prstGeom>
          <a:noFill/>
          <a:ln/>
        </p:spPr>
        <p:txBody>
          <a:bodyPr wrap="square" rtlCol="0" anchor="ctr"/>
          <a:lstStyle/>
          <a:p>
            <a:pPr indent="0" marL="0">
              <a:lnSpc>
                <a:spcPts val="1400"/>
              </a:lnSpc>
              <a:buNone/>
            </a:pPr>
            <a:r>
              <a:rPr lang="en-US" sz="1350" b="1" dirty="0">
                <a:solidFill>
                  <a:srgbClr val="FFFFFF"/>
                </a:solidFill>
                <a:latin typeface="Calibri" pitchFamily="34" charset="0"/>
                <a:ea typeface="Calibri" pitchFamily="34" charset="-122"/>
                <a:cs typeface="Calibri" pitchFamily="34" charset="-120"/>
              </a:rPr>
              <a:t>Resolved From DB</a:t>
            </a:r>
            <a:endParaRPr lang="en-US" sz="1350" dirty="0"/>
          </a:p>
          <a:p>
            <a:pPr indent="0" marL="0">
              <a:lnSpc>
                <a:spcPts val="1400"/>
              </a:lnSpc>
              <a:buNone/>
            </a:pPr>
            <a:r>
              <a:rPr lang="en-US" sz="1350" b="1" dirty="0">
                <a:solidFill>
                  <a:srgbClr val="FFFFFF"/>
                </a:solidFill>
                <a:latin typeface="Calibri" pitchFamily="34" charset="0"/>
                <a:ea typeface="Calibri" pitchFamily="34" charset="-122"/>
                <a:cs typeface="Calibri" pitchFamily="34" charset="-120"/>
              </a:rPr>
              <a:t>(caller cannot set)</a:t>
            </a:r>
            <a:endParaRPr lang="en-US" sz="1350" dirty="0"/>
          </a:p>
        </p:txBody>
      </p:sp>
      <p:sp>
        <p:nvSpPr>
          <p:cNvPr id="39" name="Shape 37"/>
          <p:cNvSpPr/>
          <p:nvPr/>
        </p:nvSpPr>
        <p:spPr>
          <a:xfrm>
            <a:off x="8439912" y="3145536"/>
            <a:ext cx="82296" cy="82296"/>
          </a:xfrm>
          <a:prstGeom prst="ellipse">
            <a:avLst/>
          </a:prstGeom>
          <a:solidFill>
            <a:srgbClr val="6E7591"/>
          </a:solidFill>
          <a:ln/>
        </p:spPr>
      </p:sp>
      <p:sp>
        <p:nvSpPr>
          <p:cNvPr id="40" name="Text 38"/>
          <p:cNvSpPr/>
          <p:nvPr/>
        </p:nvSpPr>
        <p:spPr>
          <a:xfrm>
            <a:off x="8622792" y="3063240"/>
            <a:ext cx="3017520" cy="292608"/>
          </a:xfrm>
          <a:prstGeom prst="rect">
            <a:avLst/>
          </a:prstGeom>
          <a:noFill/>
          <a:ln/>
        </p:spPr>
        <p:txBody>
          <a:bodyPr wrap="square" rtlCol="0" anchor="ctr"/>
          <a:lstStyle/>
          <a:p>
            <a:pPr indent="0" marL="0">
              <a:buNone/>
            </a:pPr>
            <a:r>
              <a:rPr lang="en-US" sz="1250" dirty="0">
                <a:solidFill>
                  <a:srgbClr val="23283B"/>
                </a:solidFill>
                <a:latin typeface="Courier New" pitchFamily="34" charset="0"/>
                <a:ea typeface="Courier New" pitchFamily="34" charset="-122"/>
                <a:cs typeface="Courier New" pitchFamily="34" charset="-120"/>
              </a:rPr>
              <a:t>claim_id</a:t>
            </a:r>
            <a:endParaRPr lang="en-US" sz="1250" dirty="0"/>
          </a:p>
        </p:txBody>
      </p:sp>
      <p:sp>
        <p:nvSpPr>
          <p:cNvPr id="41" name="Shape 39"/>
          <p:cNvSpPr/>
          <p:nvPr/>
        </p:nvSpPr>
        <p:spPr>
          <a:xfrm>
            <a:off x="8439912" y="3547872"/>
            <a:ext cx="82296" cy="82296"/>
          </a:xfrm>
          <a:prstGeom prst="ellipse">
            <a:avLst/>
          </a:prstGeom>
          <a:solidFill>
            <a:srgbClr val="6E7591"/>
          </a:solidFill>
          <a:ln/>
        </p:spPr>
      </p:sp>
      <p:sp>
        <p:nvSpPr>
          <p:cNvPr id="42" name="Text 40"/>
          <p:cNvSpPr/>
          <p:nvPr/>
        </p:nvSpPr>
        <p:spPr>
          <a:xfrm>
            <a:off x="8622792" y="3465576"/>
            <a:ext cx="3017520" cy="292608"/>
          </a:xfrm>
          <a:prstGeom prst="rect">
            <a:avLst/>
          </a:prstGeom>
          <a:noFill/>
          <a:ln/>
        </p:spPr>
        <p:txBody>
          <a:bodyPr wrap="square" rtlCol="0" anchor="ctr"/>
          <a:lstStyle/>
          <a:p>
            <a:pPr indent="0" marL="0">
              <a:buNone/>
            </a:pPr>
            <a:r>
              <a:rPr lang="en-US" sz="1250" dirty="0">
                <a:solidFill>
                  <a:srgbClr val="23283B"/>
                </a:solidFill>
                <a:latin typeface="Courier New" pitchFamily="34" charset="0"/>
                <a:ea typeface="Courier New" pitchFamily="34" charset="-122"/>
                <a:cs typeface="Courier New" pitchFamily="34" charset="-120"/>
              </a:rPr>
              <a:t>expert_name</a:t>
            </a:r>
            <a:endParaRPr lang="en-US" sz="1250" dirty="0"/>
          </a:p>
        </p:txBody>
      </p:sp>
      <p:sp>
        <p:nvSpPr>
          <p:cNvPr id="43" name="Shape 41"/>
          <p:cNvSpPr/>
          <p:nvPr/>
        </p:nvSpPr>
        <p:spPr>
          <a:xfrm>
            <a:off x="8439912" y="3950208"/>
            <a:ext cx="82296" cy="82296"/>
          </a:xfrm>
          <a:prstGeom prst="ellipse">
            <a:avLst/>
          </a:prstGeom>
          <a:solidFill>
            <a:srgbClr val="6E7591"/>
          </a:solidFill>
          <a:ln/>
        </p:spPr>
      </p:sp>
      <p:sp>
        <p:nvSpPr>
          <p:cNvPr id="44" name="Text 42"/>
          <p:cNvSpPr/>
          <p:nvPr/>
        </p:nvSpPr>
        <p:spPr>
          <a:xfrm>
            <a:off x="8622792" y="3867912"/>
            <a:ext cx="3017520" cy="292608"/>
          </a:xfrm>
          <a:prstGeom prst="rect">
            <a:avLst/>
          </a:prstGeom>
          <a:noFill/>
          <a:ln/>
        </p:spPr>
        <p:txBody>
          <a:bodyPr wrap="square" rtlCol="0" anchor="ctr"/>
          <a:lstStyle/>
          <a:p>
            <a:pPr indent="0" marL="0">
              <a:buNone/>
            </a:pPr>
            <a:r>
              <a:rPr lang="en-US" sz="1250" dirty="0">
                <a:solidFill>
                  <a:srgbClr val="23283B"/>
                </a:solidFill>
                <a:latin typeface="Courier New" pitchFamily="34" charset="0"/>
                <a:ea typeface="Courier New" pitchFamily="34" charset="-122"/>
                <a:cs typeface="Courier New" pitchFamily="34" charset="-120"/>
              </a:rPr>
              <a:t>expert_type</a:t>
            </a:r>
            <a:endParaRPr lang="en-US" sz="1250" dirty="0"/>
          </a:p>
        </p:txBody>
      </p:sp>
      <p:sp>
        <p:nvSpPr>
          <p:cNvPr id="45" name="Shape 43"/>
          <p:cNvSpPr/>
          <p:nvPr/>
        </p:nvSpPr>
        <p:spPr>
          <a:xfrm>
            <a:off x="8439912" y="4352544"/>
            <a:ext cx="82296" cy="82296"/>
          </a:xfrm>
          <a:prstGeom prst="ellipse">
            <a:avLst/>
          </a:prstGeom>
          <a:solidFill>
            <a:srgbClr val="6E7591"/>
          </a:solidFill>
          <a:ln/>
        </p:spPr>
      </p:sp>
      <p:sp>
        <p:nvSpPr>
          <p:cNvPr id="46" name="Text 44"/>
          <p:cNvSpPr/>
          <p:nvPr/>
        </p:nvSpPr>
        <p:spPr>
          <a:xfrm>
            <a:off x="8622792" y="4270248"/>
            <a:ext cx="3017520" cy="292608"/>
          </a:xfrm>
          <a:prstGeom prst="rect">
            <a:avLst/>
          </a:prstGeom>
          <a:noFill/>
          <a:ln/>
        </p:spPr>
        <p:txBody>
          <a:bodyPr wrap="square" rtlCol="0" anchor="ctr"/>
          <a:lstStyle/>
          <a:p>
            <a:pPr indent="0" marL="0">
              <a:buNone/>
            </a:pPr>
            <a:r>
              <a:rPr lang="en-US" sz="1250" dirty="0">
                <a:solidFill>
                  <a:srgbClr val="23283B"/>
                </a:solidFill>
                <a:latin typeface="Courier New" pitchFamily="34" charset="0"/>
                <a:ea typeface="Courier New" pitchFamily="34" charset="-122"/>
                <a:cs typeface="Courier New" pitchFamily="34" charset="-120"/>
              </a:rPr>
              <a:t>customer_address</a:t>
            </a:r>
            <a:endParaRPr lang="en-US" sz="1250" dirty="0"/>
          </a:p>
        </p:txBody>
      </p:sp>
      <p:sp>
        <p:nvSpPr>
          <p:cNvPr id="47" name="Text 45"/>
          <p:cNvSpPr/>
          <p:nvPr/>
        </p:nvSpPr>
        <p:spPr>
          <a:xfrm>
            <a:off x="11548872" y="6400800"/>
            <a:ext cx="365760" cy="274320"/>
          </a:xfrm>
          <a:prstGeom prst="rect">
            <a:avLst/>
          </a:prstGeom>
          <a:noFill/>
          <a:ln/>
        </p:spPr>
        <p:txBody>
          <a:bodyPr wrap="square" rtlCol="0" anchor="ctr"/>
          <a:lstStyle/>
          <a:p>
            <a:pPr algn="r" indent="0" marL="0">
              <a:buNone/>
            </a:pPr>
            <a:r>
              <a:rPr lang="en-US" sz="1000" dirty="0">
                <a:solidFill>
                  <a:srgbClr val="6E7591"/>
                </a:solidFill>
                <a:latin typeface="Calibri" pitchFamily="34" charset="0"/>
                <a:ea typeface="Calibri" pitchFamily="34" charset="-122"/>
                <a:cs typeface="Calibri" pitchFamily="34" charset="-120"/>
              </a:rPr>
              <a:t>3</a:t>
            </a:r>
            <a:endParaRPr lang="en-US" sz="1000" dirty="0"/>
          </a:p>
        </p:txBody>
      </p:sp>
      <p:sp>
        <p:nvSpPr>
          <p:cNvPr id="48" name="Text 46"/>
          <p:cNvSpPr/>
          <p:nvPr/>
        </p:nvSpPr>
        <p:spPr>
          <a:xfrm>
            <a:off x="457200" y="6400800"/>
            <a:ext cx="5486400" cy="274320"/>
          </a:xfrm>
          <a:prstGeom prst="rect">
            <a:avLst/>
          </a:prstGeom>
          <a:noFill/>
          <a:ln/>
        </p:spPr>
        <p:txBody>
          <a:bodyPr wrap="square" rtlCol="0" anchor="ctr"/>
          <a:lstStyle/>
          <a:p>
            <a:pPr indent="0" marL="0">
              <a:buNone/>
            </a:pPr>
            <a:r>
              <a:rPr lang="en-US" sz="1000" dirty="0">
                <a:solidFill>
                  <a:srgbClr val="6E7591"/>
                </a:solidFill>
                <a:latin typeface="Calibri" pitchFamily="34" charset="0"/>
                <a:ea typeface="Calibri" pitchFamily="34" charset="-122"/>
                <a:cs typeface="Calibri" pitchFamily="34" charset="-120"/>
              </a:rPr>
              <a:t>Dispatch Agent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rtlCol="0" anchor="ctr"/>
          <a:lstStyle/>
          <a:p>
            <a:pPr indent="0" marL="0">
              <a:buNone/>
            </a:pPr>
            <a:r>
              <a:rPr lang="en-US" sz="1200" b="1" spc="200" kern="0" dirty="0">
                <a:solidFill>
                  <a:srgbClr val="6E7591"/>
                </a:solidFill>
                <a:latin typeface="Calibri" pitchFamily="34" charset="0"/>
                <a:ea typeface="Calibri" pitchFamily="34" charset="-122"/>
                <a:cs typeface="Calibri" pitchFamily="34" charset="-120"/>
              </a:rPr>
              <a:t>STEP 2 · DATA RESOLUTION</a:t>
            </a:r>
            <a:endParaRPr lang="en-US" sz="1200" dirty="0"/>
          </a:p>
        </p:txBody>
      </p:sp>
      <p:sp>
        <p:nvSpPr>
          <p:cNvPr id="3" name="Text 1"/>
          <p:cNvSpPr/>
          <p:nvPr/>
        </p:nvSpPr>
        <p:spPr>
          <a:xfrm>
            <a:off x="548640" y="621792"/>
            <a:ext cx="11064240" cy="685800"/>
          </a:xfrm>
          <a:prstGeom prst="rect">
            <a:avLst/>
          </a:prstGeom>
          <a:noFill/>
          <a:ln/>
        </p:spPr>
        <p:txBody>
          <a:bodyPr wrap="square"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Looking Up the Claim and the Expert</a:t>
            </a:r>
            <a:endParaRPr lang="en-US" sz="3000" dirty="0"/>
          </a:p>
        </p:txBody>
      </p:sp>
      <p:sp>
        <p:nvSpPr>
          <p:cNvPr id="4" name="Text 2"/>
          <p:cNvSpPr/>
          <p:nvPr/>
        </p:nvSpPr>
        <p:spPr>
          <a:xfrm>
            <a:off x="548640" y="1508760"/>
            <a:ext cx="11064240" cy="457200"/>
          </a:xfrm>
          <a:prstGeom prst="rect">
            <a:avLst/>
          </a:prstGeom>
          <a:noFill/>
          <a:ln/>
        </p:spPr>
        <p:txBody>
          <a:bodyPr wrap="square" rtlCol="0" anchor="ctr"/>
          <a:lstStyle/>
          <a:p>
            <a:pPr indent="0" marL="0">
              <a:buNone/>
            </a:pPr>
            <a:r>
              <a:rPr lang="en-US" sz="1350" dirty="0">
                <a:solidFill>
                  <a:srgbClr val="23283B"/>
                </a:solidFill>
                <a:latin typeface="Calibri" pitchFamily="34" charset="0"/>
                <a:ea typeface="Calibri" pitchFamily="34" charset="-122"/>
                <a:cs typeface="Calibri" pitchFamily="34" charset="-120"/>
              </a:rPr>
              <a:t>Two lookups resolve every field the caller didn't supply. The agent — not the LLM or the caller — controls these values.</a:t>
            </a:r>
            <a:endParaRPr lang="en-US" sz="1350" dirty="0"/>
          </a:p>
        </p:txBody>
      </p:sp>
      <p:sp>
        <p:nvSpPr>
          <p:cNvPr id="5" name="Shape 3"/>
          <p:cNvSpPr/>
          <p:nvPr/>
        </p:nvSpPr>
        <p:spPr>
          <a:xfrm>
            <a:off x="548640" y="2148840"/>
            <a:ext cx="5394960" cy="3977640"/>
          </a:xfrm>
          <a:prstGeom prst="roundRect">
            <a:avLst>
              <a:gd name="adj" fmla="val 2069"/>
            </a:avLst>
          </a:prstGeom>
          <a:solidFill>
            <a:srgbClr val="F4F6FC"/>
          </a:solidFill>
          <a:ln w="12700">
            <a:solidFill>
              <a:srgbClr val="E3E7F5"/>
            </a:solidFill>
            <a:prstDash val="solid"/>
          </a:ln>
        </p:spPr>
      </p:sp>
      <p:sp>
        <p:nvSpPr>
          <p:cNvPr id="6" name="Text 4"/>
          <p:cNvSpPr/>
          <p:nvPr/>
        </p:nvSpPr>
        <p:spPr>
          <a:xfrm>
            <a:off x="822960" y="2350008"/>
            <a:ext cx="4846320" cy="365760"/>
          </a:xfrm>
          <a:prstGeom prst="rect">
            <a:avLst/>
          </a:prstGeom>
          <a:noFill/>
          <a:ln/>
        </p:spPr>
        <p:txBody>
          <a:bodyPr wrap="square"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Claims Lookup</a:t>
            </a:r>
            <a:endParaRPr lang="en-US" sz="1700" dirty="0"/>
          </a:p>
        </p:txBody>
      </p:sp>
      <p:sp>
        <p:nvSpPr>
          <p:cNvPr id="7" name="Shape 5"/>
          <p:cNvSpPr/>
          <p:nvPr/>
        </p:nvSpPr>
        <p:spPr>
          <a:xfrm>
            <a:off x="822960" y="2834640"/>
            <a:ext cx="4846320" cy="777240"/>
          </a:xfrm>
          <a:prstGeom prst="roundRect">
            <a:avLst>
              <a:gd name="adj" fmla="val 7059"/>
            </a:avLst>
          </a:prstGeom>
          <a:solidFill>
            <a:srgbClr val="141B47"/>
          </a:solidFill>
          <a:ln/>
        </p:spPr>
      </p:sp>
      <p:sp>
        <p:nvSpPr>
          <p:cNvPr id="8" name="Text 6"/>
          <p:cNvSpPr/>
          <p:nvPr/>
        </p:nvSpPr>
        <p:spPr>
          <a:xfrm>
            <a:off x="1005840" y="2834640"/>
            <a:ext cx="4480560" cy="777240"/>
          </a:xfrm>
          <a:prstGeom prst="rect">
            <a:avLst/>
          </a:prstGeom>
          <a:noFill/>
          <a:ln/>
        </p:spPr>
        <p:txBody>
          <a:bodyPr wrap="square" rtlCol="0" anchor="ctr"/>
          <a:lstStyle/>
          <a:p>
            <a:pPr indent="0" marL="0">
              <a:lnSpc>
                <a:spcPts val="1500"/>
              </a:lnSpc>
              <a:buNone/>
            </a:pPr>
            <a:r>
              <a:rPr lang="en-US" sz="1150" dirty="0">
                <a:solidFill>
                  <a:srgbClr val="9FE7C7"/>
                </a:solidFill>
                <a:latin typeface="Courier New" pitchFamily="34" charset="0"/>
                <a:ea typeface="Courier New" pitchFamily="34" charset="-122"/>
                <a:cs typeface="Courier New" pitchFamily="34" charset="-120"/>
              </a:rPr>
              <a:t>SELECT * FROM claims</a:t>
            </a:r>
            <a:endParaRPr lang="en-US" sz="1150" dirty="0"/>
          </a:p>
          <a:p>
            <a:pPr indent="0" marL="0">
              <a:lnSpc>
                <a:spcPts val="1500"/>
              </a:lnSpc>
              <a:buNone/>
            </a:pPr>
            <a:r>
              <a:rPr lang="en-US" sz="1150" dirty="0">
                <a:solidFill>
                  <a:srgbClr val="9FE7C7"/>
                </a:solidFill>
                <a:latin typeface="Courier New" pitchFamily="34" charset="0"/>
                <a:ea typeface="Courier New" pitchFamily="34" charset="-122"/>
                <a:cs typeface="Courier New" pitchFamily="34" charset="-120"/>
              </a:rPr>
              <a:t>WHERE claim_number = 'CLM-2026-1859'</a:t>
            </a:r>
            <a:endParaRPr lang="en-US" sz="1150" dirty="0"/>
          </a:p>
        </p:txBody>
      </p:sp>
      <p:sp>
        <p:nvSpPr>
          <p:cNvPr id="9" name="Text 7"/>
          <p:cNvSpPr/>
          <p:nvPr/>
        </p:nvSpPr>
        <p:spPr>
          <a:xfrm>
            <a:off x="822960" y="3776472"/>
            <a:ext cx="2743200" cy="274320"/>
          </a:xfrm>
          <a:prstGeom prst="rect">
            <a:avLst/>
          </a:prstGeom>
          <a:noFill/>
          <a:ln/>
        </p:spPr>
        <p:txBody>
          <a:bodyPr wrap="square" rtlCol="0" anchor="ctr"/>
          <a:lstStyle/>
          <a:p>
            <a:pPr indent="0" marL="0">
              <a:buNone/>
            </a:pPr>
            <a:r>
              <a:rPr lang="en-US" sz="1050" b="1" spc="150" kern="0" dirty="0">
                <a:solidFill>
                  <a:srgbClr val="6E7591"/>
                </a:solidFill>
                <a:latin typeface="Calibri" pitchFamily="34" charset="0"/>
                <a:ea typeface="Calibri" pitchFamily="34" charset="-122"/>
                <a:cs typeface="Calibri" pitchFamily="34" charset="-120"/>
              </a:rPr>
              <a:t>RETURNS</a:t>
            </a:r>
            <a:endParaRPr lang="en-US" sz="1050" dirty="0"/>
          </a:p>
        </p:txBody>
      </p:sp>
      <p:sp>
        <p:nvSpPr>
          <p:cNvPr id="10" name="Text 8"/>
          <p:cNvSpPr/>
          <p:nvPr/>
        </p:nvSpPr>
        <p:spPr>
          <a:xfrm>
            <a:off x="822960" y="4069080"/>
            <a:ext cx="4846320" cy="292608"/>
          </a:xfrm>
          <a:prstGeom prst="rect">
            <a:avLst/>
          </a:prstGeom>
          <a:noFill/>
          <a:ln/>
        </p:spPr>
        <p:txBody>
          <a:bodyPr wrap="square" rtlCol="0" anchor="ctr"/>
          <a:lstStyle/>
          <a:p>
            <a:pPr indent="0" marL="0">
              <a:buNone/>
            </a:pPr>
            <a:r>
              <a:rPr lang="en-US" sz="1250" dirty="0">
                <a:solidFill>
                  <a:srgbClr val="23283B"/>
                </a:solidFill>
                <a:latin typeface="Courier New" pitchFamily="34" charset="0"/>
                <a:ea typeface="Courier New" pitchFamily="34" charset="-122"/>
                <a:cs typeface="Courier New" pitchFamily="34" charset="-120"/>
              </a:rPr>
              <a:t>•  claim_number</a:t>
            </a:r>
            <a:endParaRPr lang="en-US" sz="1250" dirty="0"/>
          </a:p>
        </p:txBody>
      </p:sp>
      <p:sp>
        <p:nvSpPr>
          <p:cNvPr id="11" name="Text 9"/>
          <p:cNvSpPr/>
          <p:nvPr/>
        </p:nvSpPr>
        <p:spPr>
          <a:xfrm>
            <a:off x="822960" y="4416552"/>
            <a:ext cx="4846320" cy="292608"/>
          </a:xfrm>
          <a:prstGeom prst="rect">
            <a:avLst/>
          </a:prstGeom>
          <a:noFill/>
          <a:ln/>
        </p:spPr>
        <p:txBody>
          <a:bodyPr wrap="square" rtlCol="0" anchor="ctr"/>
          <a:lstStyle/>
          <a:p>
            <a:pPr indent="0" marL="0">
              <a:buNone/>
            </a:pPr>
            <a:r>
              <a:rPr lang="en-US" sz="1250" dirty="0">
                <a:solidFill>
                  <a:srgbClr val="23283B"/>
                </a:solidFill>
                <a:latin typeface="Courier New" pitchFamily="34" charset="0"/>
                <a:ea typeface="Courier New" pitchFamily="34" charset="-122"/>
                <a:cs typeface="Courier New" pitchFamily="34" charset="-120"/>
              </a:rPr>
              <a:t>•  id / claim identifier</a:t>
            </a:r>
            <a:endParaRPr lang="en-US" sz="1250" dirty="0"/>
          </a:p>
        </p:txBody>
      </p:sp>
      <p:sp>
        <p:nvSpPr>
          <p:cNvPr id="12" name="Text 10"/>
          <p:cNvSpPr/>
          <p:nvPr/>
        </p:nvSpPr>
        <p:spPr>
          <a:xfrm>
            <a:off x="822960" y="4764024"/>
            <a:ext cx="4846320" cy="292608"/>
          </a:xfrm>
          <a:prstGeom prst="rect">
            <a:avLst/>
          </a:prstGeom>
          <a:noFill/>
          <a:ln/>
        </p:spPr>
        <p:txBody>
          <a:bodyPr wrap="square" rtlCol="0" anchor="ctr"/>
          <a:lstStyle/>
          <a:p>
            <a:pPr indent="0" marL="0">
              <a:buNone/>
            </a:pPr>
            <a:r>
              <a:rPr lang="en-US" sz="1250" dirty="0">
                <a:solidFill>
                  <a:srgbClr val="23283B"/>
                </a:solidFill>
                <a:latin typeface="Courier New" pitchFamily="34" charset="0"/>
                <a:ea typeface="Courier New" pitchFamily="34" charset="-122"/>
                <a:cs typeface="Courier New" pitchFamily="34" charset="-120"/>
              </a:rPr>
              <a:t>•  status</a:t>
            </a:r>
            <a:endParaRPr lang="en-US" sz="1250" dirty="0"/>
          </a:p>
        </p:txBody>
      </p:sp>
      <p:sp>
        <p:nvSpPr>
          <p:cNvPr id="13" name="Text 11"/>
          <p:cNvSpPr/>
          <p:nvPr/>
        </p:nvSpPr>
        <p:spPr>
          <a:xfrm>
            <a:off x="822960" y="5111496"/>
            <a:ext cx="4846320" cy="292608"/>
          </a:xfrm>
          <a:prstGeom prst="rect">
            <a:avLst/>
          </a:prstGeom>
          <a:noFill/>
          <a:ln/>
        </p:spPr>
        <p:txBody>
          <a:bodyPr wrap="square" rtlCol="0" anchor="ctr"/>
          <a:lstStyle/>
          <a:p>
            <a:pPr indent="0" marL="0">
              <a:buNone/>
            </a:pPr>
            <a:r>
              <a:rPr lang="en-US" sz="1250" dirty="0">
                <a:solidFill>
                  <a:srgbClr val="23283B"/>
                </a:solidFill>
                <a:latin typeface="Courier New" pitchFamily="34" charset="0"/>
                <a:ea typeface="Courier New" pitchFamily="34" charset="-122"/>
                <a:cs typeface="Courier New" pitchFamily="34" charset="-120"/>
              </a:rPr>
              <a:t>•  location</a:t>
            </a:r>
            <a:endParaRPr lang="en-US" sz="1250" dirty="0"/>
          </a:p>
        </p:txBody>
      </p:sp>
      <p:sp>
        <p:nvSpPr>
          <p:cNvPr id="14" name="Shape 12"/>
          <p:cNvSpPr/>
          <p:nvPr/>
        </p:nvSpPr>
        <p:spPr>
          <a:xfrm>
            <a:off x="822960" y="5349240"/>
            <a:ext cx="4846320" cy="548640"/>
          </a:xfrm>
          <a:prstGeom prst="roundRect">
            <a:avLst>
              <a:gd name="adj" fmla="val 10000"/>
            </a:avLst>
          </a:prstGeom>
          <a:solidFill>
            <a:srgbClr val="EAF0FF"/>
          </a:solidFill>
          <a:ln/>
        </p:spPr>
      </p:sp>
      <p:sp>
        <p:nvSpPr>
          <p:cNvPr id="15" name="Text 13"/>
          <p:cNvSpPr/>
          <p:nvPr/>
        </p:nvSpPr>
        <p:spPr>
          <a:xfrm>
            <a:off x="960120" y="5349240"/>
            <a:ext cx="4572000" cy="548640"/>
          </a:xfrm>
          <a:prstGeom prst="rect">
            <a:avLst/>
          </a:prstGeom>
          <a:noFill/>
          <a:ln/>
        </p:spPr>
        <p:txBody>
          <a:bodyPr wrap="square"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customer_address → claims.location</a:t>
            </a:r>
            <a:endParaRPr lang="en-US" sz="1150" dirty="0"/>
          </a:p>
        </p:txBody>
      </p:sp>
      <p:sp>
        <p:nvSpPr>
          <p:cNvPr id="16" name="Shape 14"/>
          <p:cNvSpPr/>
          <p:nvPr/>
        </p:nvSpPr>
        <p:spPr>
          <a:xfrm>
            <a:off x="6263640" y="2148840"/>
            <a:ext cx="5394960" cy="3977640"/>
          </a:xfrm>
          <a:prstGeom prst="roundRect">
            <a:avLst>
              <a:gd name="adj" fmla="val 2069"/>
            </a:avLst>
          </a:prstGeom>
          <a:solidFill>
            <a:srgbClr val="F4F6FC"/>
          </a:solidFill>
          <a:ln w="12700">
            <a:solidFill>
              <a:srgbClr val="E3E7F5"/>
            </a:solidFill>
            <a:prstDash val="solid"/>
          </a:ln>
        </p:spPr>
      </p:sp>
      <p:sp>
        <p:nvSpPr>
          <p:cNvPr id="17" name="Text 15"/>
          <p:cNvSpPr/>
          <p:nvPr/>
        </p:nvSpPr>
        <p:spPr>
          <a:xfrm>
            <a:off x="6537960" y="2350008"/>
            <a:ext cx="4846320" cy="365760"/>
          </a:xfrm>
          <a:prstGeom prst="rect">
            <a:avLst/>
          </a:prstGeom>
          <a:noFill/>
          <a:ln/>
        </p:spPr>
        <p:txBody>
          <a:bodyPr wrap="square" rtlCol="0" anchor="ctr"/>
          <a:lstStyle/>
          <a:p>
            <a:pPr indent="0" marL="0">
              <a:buNone/>
            </a:pPr>
            <a:r>
              <a:rPr lang="en-US" sz="1700" b="1" dirty="0">
                <a:solidFill>
                  <a:srgbClr val="3A4A9E"/>
                </a:solidFill>
                <a:latin typeface="Cambria" pitchFamily="34" charset="0"/>
                <a:ea typeface="Cambria" pitchFamily="34" charset="-122"/>
                <a:cs typeface="Cambria" pitchFamily="34" charset="-120"/>
              </a:rPr>
              <a:t>Expert Lookup</a:t>
            </a:r>
            <a:endParaRPr lang="en-US" sz="1700" dirty="0"/>
          </a:p>
        </p:txBody>
      </p:sp>
      <p:sp>
        <p:nvSpPr>
          <p:cNvPr id="18" name="Shape 16"/>
          <p:cNvSpPr/>
          <p:nvPr/>
        </p:nvSpPr>
        <p:spPr>
          <a:xfrm>
            <a:off x="6537960" y="2834640"/>
            <a:ext cx="4846320" cy="777240"/>
          </a:xfrm>
          <a:prstGeom prst="roundRect">
            <a:avLst>
              <a:gd name="adj" fmla="val 7059"/>
            </a:avLst>
          </a:prstGeom>
          <a:solidFill>
            <a:srgbClr val="141B47"/>
          </a:solidFill>
          <a:ln/>
        </p:spPr>
      </p:sp>
      <p:sp>
        <p:nvSpPr>
          <p:cNvPr id="19" name="Text 17"/>
          <p:cNvSpPr/>
          <p:nvPr/>
        </p:nvSpPr>
        <p:spPr>
          <a:xfrm>
            <a:off x="6720840" y="2834640"/>
            <a:ext cx="4480560" cy="777240"/>
          </a:xfrm>
          <a:prstGeom prst="rect">
            <a:avLst/>
          </a:prstGeom>
          <a:noFill/>
          <a:ln/>
        </p:spPr>
        <p:txBody>
          <a:bodyPr wrap="square" rtlCol="0" anchor="ctr"/>
          <a:lstStyle/>
          <a:p>
            <a:pPr indent="0" marL="0">
              <a:lnSpc>
                <a:spcPts val="1500"/>
              </a:lnSpc>
              <a:buNone/>
            </a:pPr>
            <a:r>
              <a:rPr lang="en-US" sz="1150" dirty="0">
                <a:solidFill>
                  <a:srgbClr val="9FE7C7"/>
                </a:solidFill>
                <a:latin typeface="Courier New" pitchFamily="34" charset="0"/>
                <a:ea typeface="Courier New" pitchFamily="34" charset="-122"/>
                <a:cs typeface="Courier New" pitchFamily="34" charset="-120"/>
              </a:rPr>
              <a:t>SELECT * FROM experts</a:t>
            </a:r>
            <a:endParaRPr lang="en-US" sz="1150" dirty="0"/>
          </a:p>
          <a:p>
            <a:pPr indent="0" marL="0">
              <a:lnSpc>
                <a:spcPts val="1500"/>
              </a:lnSpc>
              <a:buNone/>
            </a:pPr>
            <a:r>
              <a:rPr lang="en-US" sz="1150" dirty="0">
                <a:solidFill>
                  <a:srgbClr val="9FE7C7"/>
                </a:solidFill>
                <a:latin typeface="Courier New" pitchFamily="34" charset="0"/>
                <a:ea typeface="Courier New" pitchFamily="34" charset="-122"/>
                <a:cs typeface="Courier New" pitchFamily="34" charset="-120"/>
              </a:rPr>
              <a:t>WHERE expert_id = 'EXP-001'</a:t>
            </a:r>
            <a:endParaRPr lang="en-US" sz="1150" dirty="0"/>
          </a:p>
        </p:txBody>
      </p:sp>
      <p:sp>
        <p:nvSpPr>
          <p:cNvPr id="20" name="Text 18"/>
          <p:cNvSpPr/>
          <p:nvPr/>
        </p:nvSpPr>
        <p:spPr>
          <a:xfrm>
            <a:off x="6537960" y="3776472"/>
            <a:ext cx="2743200" cy="274320"/>
          </a:xfrm>
          <a:prstGeom prst="rect">
            <a:avLst/>
          </a:prstGeom>
          <a:noFill/>
          <a:ln/>
        </p:spPr>
        <p:txBody>
          <a:bodyPr wrap="square" rtlCol="0" anchor="ctr"/>
          <a:lstStyle/>
          <a:p>
            <a:pPr indent="0" marL="0">
              <a:buNone/>
            </a:pPr>
            <a:r>
              <a:rPr lang="en-US" sz="1050" b="1" spc="150" kern="0" dirty="0">
                <a:solidFill>
                  <a:srgbClr val="6E7591"/>
                </a:solidFill>
                <a:latin typeface="Calibri" pitchFamily="34" charset="0"/>
                <a:ea typeface="Calibri" pitchFamily="34" charset="-122"/>
                <a:cs typeface="Calibri" pitchFamily="34" charset="-120"/>
              </a:rPr>
              <a:t>RETURNS</a:t>
            </a:r>
            <a:endParaRPr lang="en-US" sz="1050" dirty="0"/>
          </a:p>
        </p:txBody>
      </p:sp>
      <p:sp>
        <p:nvSpPr>
          <p:cNvPr id="21" name="Text 19"/>
          <p:cNvSpPr/>
          <p:nvPr/>
        </p:nvSpPr>
        <p:spPr>
          <a:xfrm>
            <a:off x="6537960" y="4069080"/>
            <a:ext cx="4846320" cy="292608"/>
          </a:xfrm>
          <a:prstGeom prst="rect">
            <a:avLst/>
          </a:prstGeom>
          <a:noFill/>
          <a:ln/>
        </p:spPr>
        <p:txBody>
          <a:bodyPr wrap="square" rtlCol="0" anchor="ctr"/>
          <a:lstStyle/>
          <a:p>
            <a:pPr indent="0" marL="0">
              <a:buNone/>
            </a:pPr>
            <a:r>
              <a:rPr lang="en-US" sz="1250" dirty="0">
                <a:solidFill>
                  <a:srgbClr val="23283B"/>
                </a:solidFill>
                <a:latin typeface="Courier New" pitchFamily="34" charset="0"/>
                <a:ea typeface="Courier New" pitchFamily="34" charset="-122"/>
                <a:cs typeface="Courier New" pitchFamily="34" charset="-120"/>
              </a:rPr>
              <a:t>•  expert_id</a:t>
            </a:r>
            <a:endParaRPr lang="en-US" sz="1250" dirty="0"/>
          </a:p>
        </p:txBody>
      </p:sp>
      <p:sp>
        <p:nvSpPr>
          <p:cNvPr id="22" name="Text 20"/>
          <p:cNvSpPr/>
          <p:nvPr/>
        </p:nvSpPr>
        <p:spPr>
          <a:xfrm>
            <a:off x="6537960" y="4416552"/>
            <a:ext cx="4846320" cy="292608"/>
          </a:xfrm>
          <a:prstGeom prst="rect">
            <a:avLst/>
          </a:prstGeom>
          <a:noFill/>
          <a:ln/>
        </p:spPr>
        <p:txBody>
          <a:bodyPr wrap="square" rtlCol="0" anchor="ctr"/>
          <a:lstStyle/>
          <a:p>
            <a:pPr indent="0" marL="0">
              <a:buNone/>
            </a:pPr>
            <a:r>
              <a:rPr lang="en-US" sz="1250" dirty="0">
                <a:solidFill>
                  <a:srgbClr val="23283B"/>
                </a:solidFill>
                <a:latin typeface="Courier New" pitchFamily="34" charset="0"/>
                <a:ea typeface="Courier New" pitchFamily="34" charset="-122"/>
                <a:cs typeface="Courier New" pitchFamily="34" charset="-120"/>
              </a:rPr>
              <a:t>•  name</a:t>
            </a:r>
            <a:endParaRPr lang="en-US" sz="1250" dirty="0"/>
          </a:p>
        </p:txBody>
      </p:sp>
      <p:sp>
        <p:nvSpPr>
          <p:cNvPr id="23" name="Text 21"/>
          <p:cNvSpPr/>
          <p:nvPr/>
        </p:nvSpPr>
        <p:spPr>
          <a:xfrm>
            <a:off x="6537960" y="4764024"/>
            <a:ext cx="4846320" cy="292608"/>
          </a:xfrm>
          <a:prstGeom prst="rect">
            <a:avLst/>
          </a:prstGeom>
          <a:noFill/>
          <a:ln/>
        </p:spPr>
        <p:txBody>
          <a:bodyPr wrap="square" rtlCol="0" anchor="ctr"/>
          <a:lstStyle/>
          <a:p>
            <a:pPr indent="0" marL="0">
              <a:buNone/>
            </a:pPr>
            <a:r>
              <a:rPr lang="en-US" sz="1250" dirty="0">
                <a:solidFill>
                  <a:srgbClr val="23283B"/>
                </a:solidFill>
                <a:latin typeface="Courier New" pitchFamily="34" charset="0"/>
                <a:ea typeface="Courier New" pitchFamily="34" charset="-122"/>
                <a:cs typeface="Courier New" pitchFamily="34" charset="-120"/>
              </a:rPr>
              <a:t>•  expert_type</a:t>
            </a:r>
            <a:endParaRPr lang="en-US" sz="1250" dirty="0"/>
          </a:p>
        </p:txBody>
      </p:sp>
      <p:sp>
        <p:nvSpPr>
          <p:cNvPr id="24" name="Text 22"/>
          <p:cNvSpPr/>
          <p:nvPr/>
        </p:nvSpPr>
        <p:spPr>
          <a:xfrm>
            <a:off x="6537960" y="5111496"/>
            <a:ext cx="4846320" cy="292608"/>
          </a:xfrm>
          <a:prstGeom prst="rect">
            <a:avLst/>
          </a:prstGeom>
          <a:noFill/>
          <a:ln/>
        </p:spPr>
        <p:txBody>
          <a:bodyPr wrap="square" rtlCol="0" anchor="ctr"/>
          <a:lstStyle/>
          <a:p>
            <a:pPr indent="0" marL="0">
              <a:buNone/>
            </a:pPr>
            <a:r>
              <a:rPr lang="en-US" sz="1250" dirty="0">
                <a:solidFill>
                  <a:srgbClr val="23283B"/>
                </a:solidFill>
                <a:latin typeface="Courier New" pitchFamily="34" charset="0"/>
                <a:ea typeface="Courier New" pitchFamily="34" charset="-122"/>
                <a:cs typeface="Courier New" pitchFamily="34" charset="-120"/>
              </a:rPr>
              <a:t>•  active</a:t>
            </a:r>
            <a:endParaRPr lang="en-US" sz="1250" dirty="0"/>
          </a:p>
        </p:txBody>
      </p:sp>
      <p:sp>
        <p:nvSpPr>
          <p:cNvPr id="25" name="Shape 23"/>
          <p:cNvSpPr/>
          <p:nvPr/>
        </p:nvSpPr>
        <p:spPr>
          <a:xfrm>
            <a:off x="6537960" y="5349240"/>
            <a:ext cx="4846320" cy="548640"/>
          </a:xfrm>
          <a:prstGeom prst="roundRect">
            <a:avLst>
              <a:gd name="adj" fmla="val 10000"/>
            </a:avLst>
          </a:prstGeom>
          <a:solidFill>
            <a:srgbClr val="EAF0FF"/>
          </a:solidFill>
          <a:ln/>
        </p:spPr>
      </p:sp>
      <p:sp>
        <p:nvSpPr>
          <p:cNvPr id="26" name="Text 24"/>
          <p:cNvSpPr/>
          <p:nvPr/>
        </p:nvSpPr>
        <p:spPr>
          <a:xfrm>
            <a:off x="6675120" y="5349240"/>
            <a:ext cx="4572000" cy="548640"/>
          </a:xfrm>
          <a:prstGeom prst="rect">
            <a:avLst/>
          </a:prstGeom>
          <a:noFill/>
          <a:ln/>
        </p:spPr>
        <p:txBody>
          <a:bodyPr wrap="square" rtlCol="0" anchor="ctr"/>
          <a:lstStyle/>
          <a:p>
            <a:pPr indent="0" marL="0">
              <a:buNone/>
            </a:pPr>
            <a:r>
              <a:rPr lang="en-US" sz="1150" b="1" dirty="0">
                <a:solidFill>
                  <a:srgbClr val="3A4A9E"/>
                </a:solidFill>
                <a:latin typeface="Calibri" pitchFamily="34" charset="0"/>
                <a:ea typeface="Calibri" pitchFamily="34" charset="-122"/>
                <a:cs typeface="Calibri" pitchFamily="34" charset="-120"/>
              </a:rPr>
              <a:t>expert_name / expert_type → experts.*</a:t>
            </a:r>
            <a:endParaRPr lang="en-US" sz="1150" dirty="0"/>
          </a:p>
        </p:txBody>
      </p:sp>
      <p:sp>
        <p:nvSpPr>
          <p:cNvPr id="27" name="Text 25"/>
          <p:cNvSpPr/>
          <p:nvPr/>
        </p:nvSpPr>
        <p:spPr>
          <a:xfrm>
            <a:off x="11548872" y="6400800"/>
            <a:ext cx="365760" cy="274320"/>
          </a:xfrm>
          <a:prstGeom prst="rect">
            <a:avLst/>
          </a:prstGeom>
          <a:noFill/>
          <a:ln/>
        </p:spPr>
        <p:txBody>
          <a:bodyPr wrap="square" rtlCol="0" anchor="ctr"/>
          <a:lstStyle/>
          <a:p>
            <a:pPr algn="r" indent="0" marL="0">
              <a:buNone/>
            </a:pPr>
            <a:r>
              <a:rPr lang="en-US" sz="1000" dirty="0">
                <a:solidFill>
                  <a:srgbClr val="6E7591"/>
                </a:solidFill>
                <a:latin typeface="Calibri" pitchFamily="34" charset="0"/>
                <a:ea typeface="Calibri" pitchFamily="34" charset="-122"/>
                <a:cs typeface="Calibri" pitchFamily="34" charset="-120"/>
              </a:rPr>
              <a:t>4</a:t>
            </a:r>
            <a:endParaRPr lang="en-US" sz="1000" dirty="0"/>
          </a:p>
        </p:txBody>
      </p:sp>
      <p:sp>
        <p:nvSpPr>
          <p:cNvPr id="28" name="Text 26"/>
          <p:cNvSpPr/>
          <p:nvPr/>
        </p:nvSpPr>
        <p:spPr>
          <a:xfrm>
            <a:off x="457200" y="6400800"/>
            <a:ext cx="5486400" cy="274320"/>
          </a:xfrm>
          <a:prstGeom prst="rect">
            <a:avLst/>
          </a:prstGeom>
          <a:noFill/>
          <a:ln/>
        </p:spPr>
        <p:txBody>
          <a:bodyPr wrap="square" rtlCol="0" anchor="ctr"/>
          <a:lstStyle/>
          <a:p>
            <a:pPr indent="0" marL="0">
              <a:buNone/>
            </a:pPr>
            <a:r>
              <a:rPr lang="en-US" sz="1000" dirty="0">
                <a:solidFill>
                  <a:srgbClr val="6E7591"/>
                </a:solidFill>
                <a:latin typeface="Calibri" pitchFamily="34" charset="0"/>
                <a:ea typeface="Calibri" pitchFamily="34" charset="-122"/>
                <a:cs typeface="Calibri" pitchFamily="34" charset="-120"/>
              </a:rPr>
              <a:t>Dispatch Agent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rtlCol="0" anchor="ctr"/>
          <a:lstStyle/>
          <a:p>
            <a:pPr indent="0" marL="0">
              <a:buNone/>
            </a:pPr>
            <a:r>
              <a:rPr lang="en-US" sz="1200" b="1" spc="200" kern="0" dirty="0">
                <a:solidFill>
                  <a:srgbClr val="6E7591"/>
                </a:solidFill>
                <a:latin typeface="Calibri" pitchFamily="34" charset="0"/>
                <a:ea typeface="Calibri" pitchFamily="34" charset="-122"/>
                <a:cs typeface="Calibri" pitchFamily="34" charset="-120"/>
              </a:rPr>
              <a:t>STEP 3 · GUARDRAILS</a:t>
            </a:r>
            <a:endParaRPr lang="en-US" sz="1200" dirty="0"/>
          </a:p>
        </p:txBody>
      </p:sp>
      <p:sp>
        <p:nvSpPr>
          <p:cNvPr id="3" name="Text 1"/>
          <p:cNvSpPr/>
          <p:nvPr/>
        </p:nvSpPr>
        <p:spPr>
          <a:xfrm>
            <a:off x="548640" y="621792"/>
            <a:ext cx="11064240" cy="685800"/>
          </a:xfrm>
          <a:prstGeom prst="rect">
            <a:avLst/>
          </a:prstGeom>
          <a:noFill/>
          <a:ln/>
        </p:spPr>
        <p:txBody>
          <a:bodyPr wrap="square"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Four Checks Before Anything Is Created</a:t>
            </a:r>
            <a:endParaRPr lang="en-US" sz="3000" dirty="0"/>
          </a:p>
        </p:txBody>
      </p:sp>
      <p:sp>
        <p:nvSpPr>
          <p:cNvPr id="4" name="Shape 2"/>
          <p:cNvSpPr/>
          <p:nvPr/>
        </p:nvSpPr>
        <p:spPr>
          <a:xfrm>
            <a:off x="548640" y="1691640"/>
            <a:ext cx="5440680" cy="1874520"/>
          </a:xfrm>
          <a:prstGeom prst="roundRect">
            <a:avLst>
              <a:gd name="adj" fmla="val 4390"/>
            </a:avLst>
          </a:prstGeom>
          <a:solidFill>
            <a:srgbClr val="F4F6FC"/>
          </a:solidFill>
          <a:ln w="12700">
            <a:solidFill>
              <a:srgbClr val="E3E7F5"/>
            </a:solidFill>
            <a:prstDash val="solid"/>
          </a:ln>
        </p:spPr>
      </p:sp>
      <p:sp>
        <p:nvSpPr>
          <p:cNvPr id="5" name="Shape 3"/>
          <p:cNvSpPr/>
          <p:nvPr/>
        </p:nvSpPr>
        <p:spPr>
          <a:xfrm>
            <a:off x="804672" y="1947672"/>
            <a:ext cx="566928" cy="566928"/>
          </a:xfrm>
          <a:prstGeom prst="ellipse">
            <a:avLst/>
          </a:prstGeom>
          <a:solidFill>
            <a:srgbClr val="1E2761"/>
          </a:solidFill>
          <a:ln/>
        </p:spPr>
      </p:sp>
      <p:sp>
        <p:nvSpPr>
          <p:cNvPr id="6" name="Text 4"/>
          <p:cNvSpPr/>
          <p:nvPr/>
        </p:nvSpPr>
        <p:spPr>
          <a:xfrm>
            <a:off x="804672" y="1947672"/>
            <a:ext cx="566928" cy="566928"/>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7" name="Text 5"/>
          <p:cNvSpPr/>
          <p:nvPr/>
        </p:nvSpPr>
        <p:spPr>
          <a:xfrm>
            <a:off x="1554480" y="1929384"/>
            <a:ext cx="4206240" cy="365760"/>
          </a:xfrm>
          <a:prstGeom prst="rect">
            <a:avLst/>
          </a:prstGeom>
          <a:noFill/>
          <a:ln/>
        </p:spPr>
        <p:txBody>
          <a:bodyPr wrap="square" rtlCol="0" anchor="ctr"/>
          <a:lstStyle/>
          <a:p>
            <a:pPr indent="0" marL="0">
              <a:buNone/>
            </a:pPr>
            <a:r>
              <a:rPr lang="en-US" sz="1500" b="1" dirty="0">
                <a:solidFill>
                  <a:srgbClr val="23283B"/>
                </a:solidFill>
                <a:latin typeface="Calibri" pitchFamily="34" charset="0"/>
                <a:ea typeface="Calibri" pitchFamily="34" charset="-122"/>
                <a:cs typeface="Calibri" pitchFamily="34" charset="-120"/>
              </a:rPr>
              <a:t>Claim Is Eligible</a:t>
            </a:r>
            <a:endParaRPr lang="en-US" sz="1500" dirty="0"/>
          </a:p>
        </p:txBody>
      </p:sp>
      <p:sp>
        <p:nvSpPr>
          <p:cNvPr id="8" name="Text 6"/>
          <p:cNvSpPr/>
          <p:nvPr/>
        </p:nvSpPr>
        <p:spPr>
          <a:xfrm>
            <a:off x="1554480" y="2313432"/>
            <a:ext cx="4206240" cy="1143000"/>
          </a:xfrm>
          <a:prstGeom prst="rect">
            <a:avLst/>
          </a:prstGeom>
          <a:noFill/>
          <a:ln/>
        </p:spPr>
        <p:txBody>
          <a:bodyPr wrap="square" rtlCol="0" anchor="ctr"/>
          <a:lstStyle/>
          <a:p>
            <a:pPr indent="0" marL="0">
              <a:lnSpc>
                <a:spcPts val="1600"/>
              </a:lnSpc>
              <a:buNone/>
            </a:pPr>
            <a:r>
              <a:rPr lang="en-US" sz="1200" dirty="0">
                <a:solidFill>
                  <a:srgbClr val="6E7591"/>
                </a:solidFill>
                <a:latin typeface="Calibri" pitchFamily="34" charset="0"/>
                <a:ea typeface="Calibri" pitchFamily="34" charset="-122"/>
                <a:cs typeface="Calibri" pitchFamily="34" charset="-120"/>
              </a:rPr>
              <a:t>Claim must exist and not sit in a blocked status: Approved, Rejected, Payment Initiated, or Settled.</a:t>
            </a:r>
            <a:endParaRPr lang="en-US" sz="1200" dirty="0"/>
          </a:p>
        </p:txBody>
      </p:sp>
      <p:sp>
        <p:nvSpPr>
          <p:cNvPr id="9" name="Shape 7"/>
          <p:cNvSpPr/>
          <p:nvPr/>
        </p:nvSpPr>
        <p:spPr>
          <a:xfrm>
            <a:off x="6309360" y="1691640"/>
            <a:ext cx="5440680" cy="1874520"/>
          </a:xfrm>
          <a:prstGeom prst="roundRect">
            <a:avLst>
              <a:gd name="adj" fmla="val 4390"/>
            </a:avLst>
          </a:prstGeom>
          <a:solidFill>
            <a:srgbClr val="F4F6FC"/>
          </a:solidFill>
          <a:ln w="12700">
            <a:solidFill>
              <a:srgbClr val="E3E7F5"/>
            </a:solidFill>
            <a:prstDash val="solid"/>
          </a:ln>
        </p:spPr>
      </p:sp>
      <p:sp>
        <p:nvSpPr>
          <p:cNvPr id="10" name="Shape 8"/>
          <p:cNvSpPr/>
          <p:nvPr/>
        </p:nvSpPr>
        <p:spPr>
          <a:xfrm>
            <a:off x="6565392" y="1947672"/>
            <a:ext cx="566928" cy="566928"/>
          </a:xfrm>
          <a:prstGeom prst="ellipse">
            <a:avLst/>
          </a:prstGeom>
          <a:solidFill>
            <a:srgbClr val="3A4A9E"/>
          </a:solidFill>
          <a:ln/>
        </p:spPr>
      </p:sp>
      <p:sp>
        <p:nvSpPr>
          <p:cNvPr id="11" name="Text 9"/>
          <p:cNvSpPr/>
          <p:nvPr/>
        </p:nvSpPr>
        <p:spPr>
          <a:xfrm>
            <a:off x="6565392" y="1947672"/>
            <a:ext cx="566928" cy="566928"/>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2" name="Text 10"/>
          <p:cNvSpPr/>
          <p:nvPr/>
        </p:nvSpPr>
        <p:spPr>
          <a:xfrm>
            <a:off x="7315200" y="1929384"/>
            <a:ext cx="4206240" cy="365760"/>
          </a:xfrm>
          <a:prstGeom prst="rect">
            <a:avLst/>
          </a:prstGeom>
          <a:noFill/>
          <a:ln/>
        </p:spPr>
        <p:txBody>
          <a:bodyPr wrap="square" rtlCol="0" anchor="ctr"/>
          <a:lstStyle/>
          <a:p>
            <a:pPr indent="0" marL="0">
              <a:buNone/>
            </a:pPr>
            <a:r>
              <a:rPr lang="en-US" sz="1500" b="1" dirty="0">
                <a:solidFill>
                  <a:srgbClr val="23283B"/>
                </a:solidFill>
                <a:latin typeface="Calibri" pitchFamily="34" charset="0"/>
                <a:ea typeface="Calibri" pitchFamily="34" charset="-122"/>
                <a:cs typeface="Calibri" pitchFamily="34" charset="-120"/>
              </a:rPr>
              <a:t>Expert Is Active</a:t>
            </a:r>
            <a:endParaRPr lang="en-US" sz="1500" dirty="0"/>
          </a:p>
        </p:txBody>
      </p:sp>
      <p:sp>
        <p:nvSpPr>
          <p:cNvPr id="13" name="Text 11"/>
          <p:cNvSpPr/>
          <p:nvPr/>
        </p:nvSpPr>
        <p:spPr>
          <a:xfrm>
            <a:off x="7315200" y="2313432"/>
            <a:ext cx="4206240" cy="1143000"/>
          </a:xfrm>
          <a:prstGeom prst="rect">
            <a:avLst/>
          </a:prstGeom>
          <a:noFill/>
          <a:ln/>
        </p:spPr>
        <p:txBody>
          <a:bodyPr wrap="square" rtlCol="0" anchor="ctr"/>
          <a:lstStyle/>
          <a:p>
            <a:pPr indent="0" marL="0">
              <a:lnSpc>
                <a:spcPts val="1600"/>
              </a:lnSpc>
              <a:buNone/>
            </a:pPr>
            <a:r>
              <a:rPr lang="en-US" sz="1200" dirty="0">
                <a:solidFill>
                  <a:srgbClr val="6E7591"/>
                </a:solidFill>
                <a:latin typeface="Calibri" pitchFamily="34" charset="0"/>
                <a:ea typeface="Calibri" pitchFamily="34" charset="-122"/>
                <a:cs typeface="Calibri" pitchFamily="34" charset="-120"/>
              </a:rPr>
              <a:t>Expert must exist in the experts table and have active = true.</a:t>
            </a:r>
            <a:endParaRPr lang="en-US" sz="1200" dirty="0"/>
          </a:p>
        </p:txBody>
      </p:sp>
      <p:sp>
        <p:nvSpPr>
          <p:cNvPr id="14" name="Shape 12"/>
          <p:cNvSpPr/>
          <p:nvPr/>
        </p:nvSpPr>
        <p:spPr>
          <a:xfrm>
            <a:off x="548640" y="3840480"/>
            <a:ext cx="5440680" cy="1874520"/>
          </a:xfrm>
          <a:prstGeom prst="roundRect">
            <a:avLst>
              <a:gd name="adj" fmla="val 4390"/>
            </a:avLst>
          </a:prstGeom>
          <a:solidFill>
            <a:srgbClr val="F4F6FC"/>
          </a:solidFill>
          <a:ln w="12700">
            <a:solidFill>
              <a:srgbClr val="E3E7F5"/>
            </a:solidFill>
            <a:prstDash val="solid"/>
          </a:ln>
        </p:spPr>
      </p:sp>
      <p:sp>
        <p:nvSpPr>
          <p:cNvPr id="15" name="Shape 13"/>
          <p:cNvSpPr/>
          <p:nvPr/>
        </p:nvSpPr>
        <p:spPr>
          <a:xfrm>
            <a:off x="804672" y="4096512"/>
            <a:ext cx="566928" cy="566928"/>
          </a:xfrm>
          <a:prstGeom prst="ellipse">
            <a:avLst/>
          </a:prstGeom>
          <a:solidFill>
            <a:srgbClr val="D98A2B"/>
          </a:solidFill>
          <a:ln/>
        </p:spPr>
      </p:sp>
      <p:sp>
        <p:nvSpPr>
          <p:cNvPr id="16" name="Text 14"/>
          <p:cNvSpPr/>
          <p:nvPr/>
        </p:nvSpPr>
        <p:spPr>
          <a:xfrm>
            <a:off x="804672" y="4096512"/>
            <a:ext cx="566928" cy="566928"/>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7" name="Text 15"/>
          <p:cNvSpPr/>
          <p:nvPr/>
        </p:nvSpPr>
        <p:spPr>
          <a:xfrm>
            <a:off x="1554480" y="4078224"/>
            <a:ext cx="4206240" cy="365760"/>
          </a:xfrm>
          <a:prstGeom prst="rect">
            <a:avLst/>
          </a:prstGeom>
          <a:noFill/>
          <a:ln/>
        </p:spPr>
        <p:txBody>
          <a:bodyPr wrap="square" rtlCol="0" anchor="ctr"/>
          <a:lstStyle/>
          <a:p>
            <a:pPr indent="0" marL="0">
              <a:buNone/>
            </a:pPr>
            <a:r>
              <a:rPr lang="en-US" sz="1500" b="1" dirty="0">
                <a:solidFill>
                  <a:srgbClr val="23283B"/>
                </a:solidFill>
                <a:latin typeface="Calibri" pitchFamily="34" charset="0"/>
                <a:ea typeface="Calibri" pitchFamily="34" charset="-122"/>
                <a:cs typeface="Calibri" pitchFamily="34" charset="-120"/>
              </a:rPr>
              <a:t>No Duplicate Work Order</a:t>
            </a:r>
            <a:endParaRPr lang="en-US" sz="1500" dirty="0"/>
          </a:p>
        </p:txBody>
      </p:sp>
      <p:sp>
        <p:nvSpPr>
          <p:cNvPr id="18" name="Text 16"/>
          <p:cNvSpPr/>
          <p:nvPr/>
        </p:nvSpPr>
        <p:spPr>
          <a:xfrm>
            <a:off x="1554480" y="4462272"/>
            <a:ext cx="4206240" cy="1143000"/>
          </a:xfrm>
          <a:prstGeom prst="rect">
            <a:avLst/>
          </a:prstGeom>
          <a:noFill/>
          <a:ln/>
        </p:spPr>
        <p:txBody>
          <a:bodyPr wrap="square" rtlCol="0" anchor="ctr"/>
          <a:lstStyle/>
          <a:p>
            <a:pPr indent="0" marL="0">
              <a:lnSpc>
                <a:spcPts val="1600"/>
              </a:lnSpc>
              <a:buNone/>
            </a:pPr>
            <a:r>
              <a:rPr lang="en-US" sz="1200" dirty="0">
                <a:solidFill>
                  <a:srgbClr val="6E7591"/>
                </a:solidFill>
                <a:latin typeface="Calibri" pitchFamily="34" charset="0"/>
                <a:ea typeface="Calibri" pitchFamily="34" charset="-122"/>
                <a:cs typeface="Calibri" pitchFamily="34" charset="-120"/>
              </a:rPr>
              <a:t>A claim cannot hold more than one active work order (status Scheduled or In Progress).</a:t>
            </a:r>
            <a:endParaRPr lang="en-US" sz="1200" dirty="0"/>
          </a:p>
        </p:txBody>
      </p:sp>
      <p:sp>
        <p:nvSpPr>
          <p:cNvPr id="19" name="Shape 17"/>
          <p:cNvSpPr/>
          <p:nvPr/>
        </p:nvSpPr>
        <p:spPr>
          <a:xfrm>
            <a:off x="6309360" y="3840480"/>
            <a:ext cx="5440680" cy="1874520"/>
          </a:xfrm>
          <a:prstGeom prst="roundRect">
            <a:avLst>
              <a:gd name="adj" fmla="val 4390"/>
            </a:avLst>
          </a:prstGeom>
          <a:solidFill>
            <a:srgbClr val="F4F6FC"/>
          </a:solidFill>
          <a:ln w="12700">
            <a:solidFill>
              <a:srgbClr val="E3E7F5"/>
            </a:solidFill>
            <a:prstDash val="solid"/>
          </a:ln>
        </p:spPr>
      </p:sp>
      <p:sp>
        <p:nvSpPr>
          <p:cNvPr id="20" name="Shape 18"/>
          <p:cNvSpPr/>
          <p:nvPr/>
        </p:nvSpPr>
        <p:spPr>
          <a:xfrm>
            <a:off x="6565392" y="4096512"/>
            <a:ext cx="566928" cy="566928"/>
          </a:xfrm>
          <a:prstGeom prst="ellipse">
            <a:avLst/>
          </a:prstGeom>
          <a:solidFill>
            <a:srgbClr val="C0435A"/>
          </a:solidFill>
          <a:ln/>
        </p:spPr>
      </p:sp>
      <p:sp>
        <p:nvSpPr>
          <p:cNvPr id="21" name="Text 19"/>
          <p:cNvSpPr/>
          <p:nvPr/>
        </p:nvSpPr>
        <p:spPr>
          <a:xfrm>
            <a:off x="6565392" y="4096512"/>
            <a:ext cx="566928" cy="566928"/>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22" name="Text 20"/>
          <p:cNvSpPr/>
          <p:nvPr/>
        </p:nvSpPr>
        <p:spPr>
          <a:xfrm>
            <a:off x="7315200" y="4078224"/>
            <a:ext cx="4206240" cy="365760"/>
          </a:xfrm>
          <a:prstGeom prst="rect">
            <a:avLst/>
          </a:prstGeom>
          <a:noFill/>
          <a:ln/>
        </p:spPr>
        <p:txBody>
          <a:bodyPr wrap="square" rtlCol="0" anchor="ctr"/>
          <a:lstStyle/>
          <a:p>
            <a:pPr indent="0" marL="0">
              <a:buNone/>
            </a:pPr>
            <a:r>
              <a:rPr lang="en-US" sz="1500" b="1" dirty="0">
                <a:solidFill>
                  <a:srgbClr val="23283B"/>
                </a:solidFill>
                <a:latin typeface="Calibri" pitchFamily="34" charset="0"/>
                <a:ea typeface="Calibri" pitchFamily="34" charset="-122"/>
                <a:cs typeface="Calibri" pitchFamily="34" charset="-120"/>
              </a:rPr>
              <a:t>No Expert Double-Booking</a:t>
            </a:r>
            <a:endParaRPr lang="en-US" sz="1500" dirty="0"/>
          </a:p>
        </p:txBody>
      </p:sp>
      <p:sp>
        <p:nvSpPr>
          <p:cNvPr id="23" name="Text 21"/>
          <p:cNvSpPr/>
          <p:nvPr/>
        </p:nvSpPr>
        <p:spPr>
          <a:xfrm>
            <a:off x="7315200" y="4462272"/>
            <a:ext cx="4206240" cy="1143000"/>
          </a:xfrm>
          <a:prstGeom prst="rect">
            <a:avLst/>
          </a:prstGeom>
          <a:noFill/>
          <a:ln/>
        </p:spPr>
        <p:txBody>
          <a:bodyPr wrap="square" rtlCol="0" anchor="ctr"/>
          <a:lstStyle/>
          <a:p>
            <a:pPr indent="0" marL="0">
              <a:lnSpc>
                <a:spcPts val="1600"/>
              </a:lnSpc>
              <a:buNone/>
            </a:pPr>
            <a:r>
              <a:rPr lang="en-US" sz="1200" dirty="0">
                <a:solidFill>
                  <a:srgbClr val="6E7591"/>
                </a:solidFill>
                <a:latin typeface="Calibri" pitchFamily="34" charset="0"/>
                <a:ea typeface="Calibri" pitchFamily="34" charset="-122"/>
                <a:cs typeface="Calibri" pitchFamily="34" charset="-120"/>
              </a:rPr>
              <a:t>The same expert cannot already be assigned elsewhere at the same date and time.</a:t>
            </a:r>
            <a:endParaRPr lang="en-US" sz="1200" dirty="0"/>
          </a:p>
        </p:txBody>
      </p:sp>
      <p:sp>
        <p:nvSpPr>
          <p:cNvPr id="24" name="Text 22"/>
          <p:cNvSpPr/>
          <p:nvPr/>
        </p:nvSpPr>
        <p:spPr>
          <a:xfrm>
            <a:off x="548640" y="6172200"/>
            <a:ext cx="10972800" cy="320040"/>
          </a:xfrm>
          <a:prstGeom prst="rect">
            <a:avLst/>
          </a:prstGeom>
          <a:noFill/>
          <a:ln/>
        </p:spPr>
        <p:txBody>
          <a:bodyPr wrap="square" rtlCol="0" anchor="ctr"/>
          <a:lstStyle/>
          <a:p>
            <a:pPr indent="0" marL="0">
              <a:buNone/>
            </a:pPr>
            <a:r>
              <a:rPr lang="en-US" sz="1200" i="1" dirty="0">
                <a:solidFill>
                  <a:srgbClr val="C0435A"/>
                </a:solidFill>
                <a:latin typeface="Calibri" pitchFamily="34" charset="0"/>
                <a:ea typeface="Calibri" pitchFamily="34" charset="-122"/>
                <a:cs typeface="Calibri" pitchFamily="34" charset="-120"/>
              </a:rPr>
              <a:t>Any failed check returns a rejection — no work order, no dispatch log, no vendor job.</a:t>
            </a:r>
            <a:endParaRPr lang="en-US" sz="1200" dirty="0"/>
          </a:p>
        </p:txBody>
      </p:sp>
      <p:sp>
        <p:nvSpPr>
          <p:cNvPr id="25" name="Text 23"/>
          <p:cNvSpPr/>
          <p:nvPr/>
        </p:nvSpPr>
        <p:spPr>
          <a:xfrm>
            <a:off x="11548872" y="6400800"/>
            <a:ext cx="365760" cy="274320"/>
          </a:xfrm>
          <a:prstGeom prst="rect">
            <a:avLst/>
          </a:prstGeom>
          <a:noFill/>
          <a:ln/>
        </p:spPr>
        <p:txBody>
          <a:bodyPr wrap="square" rtlCol="0" anchor="ctr"/>
          <a:lstStyle/>
          <a:p>
            <a:pPr algn="r" indent="0" marL="0">
              <a:buNone/>
            </a:pPr>
            <a:r>
              <a:rPr lang="en-US" sz="1000" dirty="0">
                <a:solidFill>
                  <a:srgbClr val="6E7591"/>
                </a:solidFill>
                <a:latin typeface="Calibri" pitchFamily="34" charset="0"/>
                <a:ea typeface="Calibri" pitchFamily="34" charset="-122"/>
                <a:cs typeface="Calibri" pitchFamily="34" charset="-120"/>
              </a:rPr>
              <a:t>5</a:t>
            </a:r>
            <a:endParaRPr lang="en-US" sz="1000" dirty="0"/>
          </a:p>
        </p:txBody>
      </p:sp>
      <p:sp>
        <p:nvSpPr>
          <p:cNvPr id="26" name="Text 24"/>
          <p:cNvSpPr/>
          <p:nvPr/>
        </p:nvSpPr>
        <p:spPr>
          <a:xfrm>
            <a:off x="457200" y="6400800"/>
            <a:ext cx="5486400" cy="274320"/>
          </a:xfrm>
          <a:prstGeom prst="rect">
            <a:avLst/>
          </a:prstGeom>
          <a:noFill/>
          <a:ln/>
        </p:spPr>
        <p:txBody>
          <a:bodyPr wrap="square" rtlCol="0" anchor="ctr"/>
          <a:lstStyle/>
          <a:p>
            <a:pPr indent="0" marL="0">
              <a:buNone/>
            </a:pPr>
            <a:r>
              <a:rPr lang="en-US" sz="1000" dirty="0">
                <a:solidFill>
                  <a:srgbClr val="6E7591"/>
                </a:solidFill>
                <a:latin typeface="Calibri" pitchFamily="34" charset="0"/>
                <a:ea typeface="Calibri" pitchFamily="34" charset="-122"/>
                <a:cs typeface="Calibri" pitchFamily="34" charset="-120"/>
              </a:rPr>
              <a:t>Dispatch Agent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rtlCol="0" anchor="ctr"/>
          <a:lstStyle/>
          <a:p>
            <a:pPr indent="0" marL="0">
              <a:buNone/>
            </a:pPr>
            <a:r>
              <a:rPr lang="en-US" sz="1200" b="1" spc="200" kern="0" dirty="0">
                <a:solidFill>
                  <a:srgbClr val="6E7591"/>
                </a:solidFill>
                <a:latin typeface="Calibri" pitchFamily="34" charset="0"/>
                <a:ea typeface="Calibri" pitchFamily="34" charset="-122"/>
                <a:cs typeface="Calibri" pitchFamily="34" charset="-120"/>
              </a:rPr>
              <a:t>STEP 4 · WRITE #1</a:t>
            </a:r>
            <a:endParaRPr lang="en-US" sz="1200" dirty="0"/>
          </a:p>
        </p:txBody>
      </p:sp>
      <p:sp>
        <p:nvSpPr>
          <p:cNvPr id="3" name="Text 1"/>
          <p:cNvSpPr/>
          <p:nvPr/>
        </p:nvSpPr>
        <p:spPr>
          <a:xfrm>
            <a:off x="548640" y="621792"/>
            <a:ext cx="11064240" cy="685800"/>
          </a:xfrm>
          <a:prstGeom prst="rect">
            <a:avLst/>
          </a:prstGeom>
          <a:noFill/>
          <a:ln/>
        </p:spPr>
        <p:txBody>
          <a:bodyPr wrap="square"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Creating the Work Order</a:t>
            </a:r>
            <a:endParaRPr lang="en-US" sz="3000" dirty="0"/>
          </a:p>
        </p:txBody>
      </p:sp>
      <p:sp>
        <p:nvSpPr>
          <p:cNvPr id="4" name="Text 2"/>
          <p:cNvSpPr/>
          <p:nvPr/>
        </p:nvSpPr>
        <p:spPr>
          <a:xfrm>
            <a:off x="548640" y="1508760"/>
            <a:ext cx="11064240" cy="502920"/>
          </a:xfrm>
          <a:prstGeom prst="rect">
            <a:avLst/>
          </a:prstGeom>
          <a:noFill/>
          <a:ln/>
        </p:spPr>
        <p:txBody>
          <a:bodyPr wrap="square" rtlCol="0" anchor="ctr"/>
          <a:lstStyle/>
          <a:p>
            <a:pPr indent="0" marL="0">
              <a:buNone/>
            </a:pPr>
            <a:r>
              <a:rPr lang="en-US" sz="1350" dirty="0">
                <a:solidFill>
                  <a:srgbClr val="23283B"/>
                </a:solidFill>
                <a:latin typeface="Calibri" pitchFamily="34" charset="0"/>
                <a:ea typeface="Calibri" pitchFamily="34" charset="-122"/>
                <a:cs typeface="Calibri" pitchFamily="34" charset="-120"/>
              </a:rPr>
              <a:t>Once every check passes, the agent generates a work order ID and inserts a new record into work_orders with status Scheduled.</a:t>
            </a:r>
            <a:endParaRPr lang="en-US" sz="1350" dirty="0"/>
          </a:p>
        </p:txBody>
      </p:sp>
      <p:sp>
        <p:nvSpPr>
          <p:cNvPr id="5" name="Shape 3"/>
          <p:cNvSpPr/>
          <p:nvPr/>
        </p:nvSpPr>
        <p:spPr>
          <a:xfrm>
            <a:off x="548640" y="2148840"/>
            <a:ext cx="3200400" cy="868680"/>
          </a:xfrm>
          <a:prstGeom prst="roundRect">
            <a:avLst>
              <a:gd name="adj" fmla="val 9474"/>
            </a:avLst>
          </a:prstGeom>
          <a:solidFill>
            <a:srgbClr val="1E2761"/>
          </a:solidFill>
          <a:ln/>
        </p:spPr>
      </p:sp>
      <p:sp>
        <p:nvSpPr>
          <p:cNvPr id="6" name="Text 4"/>
          <p:cNvSpPr/>
          <p:nvPr/>
        </p:nvSpPr>
        <p:spPr>
          <a:xfrm>
            <a:off x="777240" y="2240280"/>
            <a:ext cx="2743200" cy="274320"/>
          </a:xfrm>
          <a:prstGeom prst="rect">
            <a:avLst/>
          </a:prstGeom>
          <a:noFill/>
          <a:ln/>
        </p:spPr>
        <p:txBody>
          <a:bodyPr wrap="square" rtlCol="0" anchor="ctr"/>
          <a:lstStyle/>
          <a:p>
            <a:pPr indent="0" marL="0">
              <a:buNone/>
            </a:pPr>
            <a:r>
              <a:rPr lang="en-US" sz="1000" spc="150" kern="0" dirty="0">
                <a:solidFill>
                  <a:srgbClr val="CADCFC"/>
                </a:solidFill>
                <a:latin typeface="Calibri" pitchFamily="34" charset="0"/>
                <a:ea typeface="Calibri" pitchFamily="34" charset="-122"/>
                <a:cs typeface="Calibri" pitchFamily="34" charset="-120"/>
              </a:rPr>
              <a:t>WORK ORDER ID</a:t>
            </a:r>
            <a:endParaRPr lang="en-US" sz="1000" dirty="0"/>
          </a:p>
        </p:txBody>
      </p:sp>
      <p:sp>
        <p:nvSpPr>
          <p:cNvPr id="7" name="Text 5"/>
          <p:cNvSpPr/>
          <p:nvPr/>
        </p:nvSpPr>
        <p:spPr>
          <a:xfrm>
            <a:off x="777240" y="2468880"/>
            <a:ext cx="2743200" cy="457200"/>
          </a:xfrm>
          <a:prstGeom prst="rect">
            <a:avLst/>
          </a:prstGeom>
          <a:noFill/>
          <a:ln/>
        </p:spPr>
        <p:txBody>
          <a:bodyPr wrap="square" rtlCol="0" anchor="ctr"/>
          <a:lstStyle/>
          <a:p>
            <a:pPr indent="0" marL="0">
              <a:buNone/>
            </a:pPr>
            <a:r>
              <a:rPr lang="en-US" sz="2000" b="1" dirty="0">
                <a:solidFill>
                  <a:srgbClr val="FFFFFF"/>
                </a:solidFill>
                <a:latin typeface="Courier New" pitchFamily="34" charset="0"/>
                <a:ea typeface="Courier New" pitchFamily="34" charset="-122"/>
                <a:cs typeface="Courier New" pitchFamily="34" charset="-120"/>
              </a:rPr>
              <a:t>WO-xxxxxx</a:t>
            </a:r>
            <a:endParaRPr lang="en-US" sz="2000" dirty="0"/>
          </a:p>
        </p:txBody>
      </p:sp>
      <p:sp>
        <p:nvSpPr>
          <p:cNvPr id="8" name="Shape 6"/>
          <p:cNvSpPr/>
          <p:nvPr/>
        </p:nvSpPr>
        <p:spPr>
          <a:xfrm>
            <a:off x="3931920" y="2148840"/>
            <a:ext cx="3200400" cy="868680"/>
          </a:xfrm>
          <a:prstGeom prst="roundRect">
            <a:avLst>
              <a:gd name="adj" fmla="val 9474"/>
            </a:avLst>
          </a:prstGeom>
          <a:solidFill>
            <a:srgbClr val="2E9E6D"/>
          </a:solidFill>
          <a:ln/>
        </p:spPr>
      </p:sp>
      <p:sp>
        <p:nvSpPr>
          <p:cNvPr id="9" name="Text 7"/>
          <p:cNvSpPr/>
          <p:nvPr/>
        </p:nvSpPr>
        <p:spPr>
          <a:xfrm>
            <a:off x="4160520" y="2240280"/>
            <a:ext cx="2743200" cy="274320"/>
          </a:xfrm>
          <a:prstGeom prst="rect">
            <a:avLst/>
          </a:prstGeom>
          <a:noFill/>
          <a:ln/>
        </p:spPr>
        <p:txBody>
          <a:bodyPr wrap="square" rtlCol="0" anchor="ctr"/>
          <a:lstStyle/>
          <a:p>
            <a:pPr indent="0" marL="0">
              <a:buNone/>
            </a:pPr>
            <a:r>
              <a:rPr lang="en-US" sz="1000" spc="150" kern="0" dirty="0">
                <a:solidFill>
                  <a:srgbClr val="E4F7EE"/>
                </a:solidFill>
                <a:latin typeface="Calibri" pitchFamily="34" charset="0"/>
                <a:ea typeface="Calibri" pitchFamily="34" charset="-122"/>
                <a:cs typeface="Calibri" pitchFamily="34" charset="-120"/>
              </a:rPr>
              <a:t>INITIAL STATUS</a:t>
            </a:r>
            <a:endParaRPr lang="en-US" sz="1000" dirty="0"/>
          </a:p>
        </p:txBody>
      </p:sp>
      <p:sp>
        <p:nvSpPr>
          <p:cNvPr id="10" name="Text 8"/>
          <p:cNvSpPr/>
          <p:nvPr/>
        </p:nvSpPr>
        <p:spPr>
          <a:xfrm>
            <a:off x="4160520" y="2468880"/>
            <a:ext cx="2743200" cy="457200"/>
          </a:xfrm>
          <a:prstGeom prst="rect">
            <a:avLst/>
          </a:prstGeom>
          <a:noFill/>
          <a:ln/>
        </p:spPr>
        <p:txBody>
          <a:bodyPr wrap="square" rtlCol="0" anchor="ctr"/>
          <a:lstStyle/>
          <a:p>
            <a:pPr indent="0" marL="0">
              <a:buNone/>
            </a:pPr>
            <a:r>
              <a:rPr lang="en-US" sz="2000" b="1" dirty="0">
                <a:solidFill>
                  <a:srgbClr val="FFFFFF"/>
                </a:solidFill>
                <a:latin typeface="Courier New" pitchFamily="34" charset="0"/>
                <a:ea typeface="Courier New" pitchFamily="34" charset="-122"/>
                <a:cs typeface="Courier New" pitchFamily="34" charset="-120"/>
              </a:rPr>
              <a:t>Scheduled</a:t>
            </a:r>
            <a:endParaRPr lang="en-US" sz="2000" dirty="0"/>
          </a:p>
        </p:txBody>
      </p:sp>
      <p:sp>
        <p:nvSpPr>
          <p:cNvPr id="11" name="Text 9"/>
          <p:cNvSpPr/>
          <p:nvPr/>
        </p:nvSpPr>
        <p:spPr>
          <a:xfrm>
            <a:off x="548640" y="3246120"/>
            <a:ext cx="7315200" cy="274320"/>
          </a:xfrm>
          <a:prstGeom prst="rect">
            <a:avLst/>
          </a:prstGeom>
          <a:noFill/>
          <a:ln/>
        </p:spPr>
        <p:txBody>
          <a:bodyPr wrap="square" rtlCol="0" anchor="ctr"/>
          <a:lstStyle/>
          <a:p>
            <a:pPr indent="0" marL="0">
              <a:buNone/>
            </a:pPr>
            <a:r>
              <a:rPr lang="en-US" sz="1100" b="1" spc="100" kern="0" dirty="0">
                <a:solidFill>
                  <a:srgbClr val="6E7591"/>
                </a:solidFill>
                <a:latin typeface="Calibri" pitchFamily="34" charset="0"/>
                <a:ea typeface="Calibri" pitchFamily="34" charset="-122"/>
                <a:cs typeface="Calibri" pitchFamily="34" charset="-120"/>
              </a:rPr>
              <a:t>FIELDS POPULATED IN work_orders</a:t>
            </a:r>
            <a:endParaRPr lang="en-US" sz="1100" dirty="0"/>
          </a:p>
        </p:txBody>
      </p:sp>
      <p:sp>
        <p:nvSpPr>
          <p:cNvPr id="12" name="Shape 10"/>
          <p:cNvSpPr/>
          <p:nvPr/>
        </p:nvSpPr>
        <p:spPr>
          <a:xfrm>
            <a:off x="548640" y="3566160"/>
            <a:ext cx="2606040" cy="329184"/>
          </a:xfrm>
          <a:prstGeom prst="roundRect">
            <a:avLst>
              <a:gd name="adj" fmla="val 13889"/>
            </a:avLst>
          </a:prstGeom>
          <a:solidFill>
            <a:srgbClr val="F4F6FC"/>
          </a:solidFill>
          <a:ln/>
        </p:spPr>
      </p:sp>
      <p:sp>
        <p:nvSpPr>
          <p:cNvPr id="13" name="Text 11"/>
          <p:cNvSpPr/>
          <p:nvPr/>
        </p:nvSpPr>
        <p:spPr>
          <a:xfrm>
            <a:off x="685800" y="3566160"/>
            <a:ext cx="2331720" cy="329184"/>
          </a:xfrm>
          <a:prstGeom prst="rect">
            <a:avLst/>
          </a:prstGeom>
          <a:noFill/>
          <a:ln/>
        </p:spPr>
        <p:txBody>
          <a:bodyPr wrap="square" rtlCol="0" anchor="ctr"/>
          <a:lstStyle/>
          <a:p>
            <a:pPr indent="0" marL="0">
              <a:buNone/>
            </a:pPr>
            <a:r>
              <a:rPr lang="en-US" sz="1100" dirty="0">
                <a:solidFill>
                  <a:srgbClr val="23283B"/>
                </a:solidFill>
                <a:latin typeface="Courier New" pitchFamily="34" charset="0"/>
                <a:ea typeface="Courier New" pitchFamily="34" charset="-122"/>
                <a:cs typeface="Courier New" pitchFamily="34" charset="-120"/>
              </a:rPr>
              <a:t>work_order_id</a:t>
            </a:r>
            <a:endParaRPr lang="en-US" sz="1100" dirty="0"/>
          </a:p>
        </p:txBody>
      </p:sp>
      <p:sp>
        <p:nvSpPr>
          <p:cNvPr id="14" name="Shape 12"/>
          <p:cNvSpPr/>
          <p:nvPr/>
        </p:nvSpPr>
        <p:spPr>
          <a:xfrm>
            <a:off x="548640" y="3968496"/>
            <a:ext cx="2606040" cy="329184"/>
          </a:xfrm>
          <a:prstGeom prst="roundRect">
            <a:avLst>
              <a:gd name="adj" fmla="val 13889"/>
            </a:avLst>
          </a:prstGeom>
          <a:solidFill>
            <a:srgbClr val="F4F6FC"/>
          </a:solidFill>
          <a:ln/>
        </p:spPr>
      </p:sp>
      <p:sp>
        <p:nvSpPr>
          <p:cNvPr id="15" name="Text 13"/>
          <p:cNvSpPr/>
          <p:nvPr/>
        </p:nvSpPr>
        <p:spPr>
          <a:xfrm>
            <a:off x="685800" y="3968496"/>
            <a:ext cx="2331720" cy="329184"/>
          </a:xfrm>
          <a:prstGeom prst="rect">
            <a:avLst/>
          </a:prstGeom>
          <a:noFill/>
          <a:ln/>
        </p:spPr>
        <p:txBody>
          <a:bodyPr wrap="square" rtlCol="0" anchor="ctr"/>
          <a:lstStyle/>
          <a:p>
            <a:pPr indent="0" marL="0">
              <a:buNone/>
            </a:pPr>
            <a:r>
              <a:rPr lang="en-US" sz="1100" dirty="0">
                <a:solidFill>
                  <a:srgbClr val="23283B"/>
                </a:solidFill>
                <a:latin typeface="Courier New" pitchFamily="34" charset="0"/>
                <a:ea typeface="Courier New" pitchFamily="34" charset="-122"/>
                <a:cs typeface="Courier New" pitchFamily="34" charset="-120"/>
              </a:rPr>
              <a:t>claim_id</a:t>
            </a:r>
            <a:endParaRPr lang="en-US" sz="1100" dirty="0"/>
          </a:p>
        </p:txBody>
      </p:sp>
      <p:sp>
        <p:nvSpPr>
          <p:cNvPr id="16" name="Shape 14"/>
          <p:cNvSpPr/>
          <p:nvPr/>
        </p:nvSpPr>
        <p:spPr>
          <a:xfrm>
            <a:off x="548640" y="4370832"/>
            <a:ext cx="2606040" cy="329184"/>
          </a:xfrm>
          <a:prstGeom prst="roundRect">
            <a:avLst>
              <a:gd name="adj" fmla="val 13889"/>
            </a:avLst>
          </a:prstGeom>
          <a:solidFill>
            <a:srgbClr val="F4F6FC"/>
          </a:solidFill>
          <a:ln/>
        </p:spPr>
      </p:sp>
      <p:sp>
        <p:nvSpPr>
          <p:cNvPr id="17" name="Text 15"/>
          <p:cNvSpPr/>
          <p:nvPr/>
        </p:nvSpPr>
        <p:spPr>
          <a:xfrm>
            <a:off x="685800" y="4370832"/>
            <a:ext cx="2331720" cy="329184"/>
          </a:xfrm>
          <a:prstGeom prst="rect">
            <a:avLst/>
          </a:prstGeom>
          <a:noFill/>
          <a:ln/>
        </p:spPr>
        <p:txBody>
          <a:bodyPr wrap="square" rtlCol="0" anchor="ctr"/>
          <a:lstStyle/>
          <a:p>
            <a:pPr indent="0" marL="0">
              <a:buNone/>
            </a:pPr>
            <a:r>
              <a:rPr lang="en-US" sz="1100" dirty="0">
                <a:solidFill>
                  <a:srgbClr val="23283B"/>
                </a:solidFill>
                <a:latin typeface="Courier New" pitchFamily="34" charset="0"/>
                <a:ea typeface="Courier New" pitchFamily="34" charset="-122"/>
                <a:cs typeface="Courier New" pitchFamily="34" charset="-120"/>
              </a:rPr>
              <a:t>claim_number</a:t>
            </a:r>
            <a:endParaRPr lang="en-US" sz="1100" dirty="0"/>
          </a:p>
        </p:txBody>
      </p:sp>
      <p:sp>
        <p:nvSpPr>
          <p:cNvPr id="18" name="Shape 16"/>
          <p:cNvSpPr/>
          <p:nvPr/>
        </p:nvSpPr>
        <p:spPr>
          <a:xfrm>
            <a:off x="548640" y="4773168"/>
            <a:ext cx="2606040" cy="329184"/>
          </a:xfrm>
          <a:prstGeom prst="roundRect">
            <a:avLst>
              <a:gd name="adj" fmla="val 13889"/>
            </a:avLst>
          </a:prstGeom>
          <a:solidFill>
            <a:srgbClr val="F4F6FC"/>
          </a:solidFill>
          <a:ln/>
        </p:spPr>
      </p:sp>
      <p:sp>
        <p:nvSpPr>
          <p:cNvPr id="19" name="Text 17"/>
          <p:cNvSpPr/>
          <p:nvPr/>
        </p:nvSpPr>
        <p:spPr>
          <a:xfrm>
            <a:off x="685800" y="4773168"/>
            <a:ext cx="2331720" cy="329184"/>
          </a:xfrm>
          <a:prstGeom prst="rect">
            <a:avLst/>
          </a:prstGeom>
          <a:noFill/>
          <a:ln/>
        </p:spPr>
        <p:txBody>
          <a:bodyPr wrap="square" rtlCol="0" anchor="ctr"/>
          <a:lstStyle/>
          <a:p>
            <a:pPr indent="0" marL="0">
              <a:buNone/>
            </a:pPr>
            <a:r>
              <a:rPr lang="en-US" sz="1100" dirty="0">
                <a:solidFill>
                  <a:srgbClr val="23283B"/>
                </a:solidFill>
                <a:latin typeface="Courier New" pitchFamily="34" charset="0"/>
                <a:ea typeface="Courier New" pitchFamily="34" charset="-122"/>
                <a:cs typeface="Courier New" pitchFamily="34" charset="-120"/>
              </a:rPr>
              <a:t>expert_id</a:t>
            </a:r>
            <a:endParaRPr lang="en-US" sz="1100" dirty="0"/>
          </a:p>
        </p:txBody>
      </p:sp>
      <p:sp>
        <p:nvSpPr>
          <p:cNvPr id="20" name="Shape 18"/>
          <p:cNvSpPr/>
          <p:nvPr/>
        </p:nvSpPr>
        <p:spPr>
          <a:xfrm>
            <a:off x="548640" y="5175504"/>
            <a:ext cx="2606040" cy="329184"/>
          </a:xfrm>
          <a:prstGeom prst="roundRect">
            <a:avLst>
              <a:gd name="adj" fmla="val 13889"/>
            </a:avLst>
          </a:prstGeom>
          <a:solidFill>
            <a:srgbClr val="F4F6FC"/>
          </a:solidFill>
          <a:ln/>
        </p:spPr>
      </p:sp>
      <p:sp>
        <p:nvSpPr>
          <p:cNvPr id="21" name="Text 19"/>
          <p:cNvSpPr/>
          <p:nvPr/>
        </p:nvSpPr>
        <p:spPr>
          <a:xfrm>
            <a:off x="685800" y="5175504"/>
            <a:ext cx="2331720" cy="329184"/>
          </a:xfrm>
          <a:prstGeom prst="rect">
            <a:avLst/>
          </a:prstGeom>
          <a:noFill/>
          <a:ln/>
        </p:spPr>
        <p:txBody>
          <a:bodyPr wrap="square" rtlCol="0" anchor="ctr"/>
          <a:lstStyle/>
          <a:p>
            <a:pPr indent="0" marL="0">
              <a:buNone/>
            </a:pPr>
            <a:r>
              <a:rPr lang="en-US" sz="1100" dirty="0">
                <a:solidFill>
                  <a:srgbClr val="23283B"/>
                </a:solidFill>
                <a:latin typeface="Courier New" pitchFamily="34" charset="0"/>
                <a:ea typeface="Courier New" pitchFamily="34" charset="-122"/>
                <a:cs typeface="Courier New" pitchFamily="34" charset="-120"/>
              </a:rPr>
              <a:t>expert_name</a:t>
            </a:r>
            <a:endParaRPr lang="en-US" sz="1100" dirty="0"/>
          </a:p>
        </p:txBody>
      </p:sp>
      <p:sp>
        <p:nvSpPr>
          <p:cNvPr id="22" name="Shape 20"/>
          <p:cNvSpPr/>
          <p:nvPr/>
        </p:nvSpPr>
        <p:spPr>
          <a:xfrm>
            <a:off x="548640" y="5577840"/>
            <a:ext cx="2606040" cy="329184"/>
          </a:xfrm>
          <a:prstGeom prst="roundRect">
            <a:avLst>
              <a:gd name="adj" fmla="val 13889"/>
            </a:avLst>
          </a:prstGeom>
          <a:solidFill>
            <a:srgbClr val="F4F6FC"/>
          </a:solidFill>
          <a:ln/>
        </p:spPr>
      </p:sp>
      <p:sp>
        <p:nvSpPr>
          <p:cNvPr id="23" name="Text 21"/>
          <p:cNvSpPr/>
          <p:nvPr/>
        </p:nvSpPr>
        <p:spPr>
          <a:xfrm>
            <a:off x="685800" y="5577840"/>
            <a:ext cx="2331720" cy="329184"/>
          </a:xfrm>
          <a:prstGeom prst="rect">
            <a:avLst/>
          </a:prstGeom>
          <a:noFill/>
          <a:ln/>
        </p:spPr>
        <p:txBody>
          <a:bodyPr wrap="square" rtlCol="0" anchor="ctr"/>
          <a:lstStyle/>
          <a:p>
            <a:pPr indent="0" marL="0">
              <a:buNone/>
            </a:pPr>
            <a:r>
              <a:rPr lang="en-US" sz="1100" dirty="0">
                <a:solidFill>
                  <a:srgbClr val="23283B"/>
                </a:solidFill>
                <a:latin typeface="Courier New" pitchFamily="34" charset="0"/>
                <a:ea typeface="Courier New" pitchFamily="34" charset="-122"/>
                <a:cs typeface="Courier New" pitchFamily="34" charset="-120"/>
              </a:rPr>
              <a:t>expert_type</a:t>
            </a:r>
            <a:endParaRPr lang="en-US" sz="1100" dirty="0"/>
          </a:p>
        </p:txBody>
      </p:sp>
      <p:sp>
        <p:nvSpPr>
          <p:cNvPr id="24" name="Shape 22"/>
          <p:cNvSpPr/>
          <p:nvPr/>
        </p:nvSpPr>
        <p:spPr>
          <a:xfrm>
            <a:off x="3337560" y="3566160"/>
            <a:ext cx="2606040" cy="329184"/>
          </a:xfrm>
          <a:prstGeom prst="roundRect">
            <a:avLst>
              <a:gd name="adj" fmla="val 13889"/>
            </a:avLst>
          </a:prstGeom>
          <a:solidFill>
            <a:srgbClr val="F4F6FC"/>
          </a:solidFill>
          <a:ln/>
        </p:spPr>
      </p:sp>
      <p:sp>
        <p:nvSpPr>
          <p:cNvPr id="25" name="Text 23"/>
          <p:cNvSpPr/>
          <p:nvPr/>
        </p:nvSpPr>
        <p:spPr>
          <a:xfrm>
            <a:off x="3474720" y="3566160"/>
            <a:ext cx="2331720" cy="329184"/>
          </a:xfrm>
          <a:prstGeom prst="rect">
            <a:avLst/>
          </a:prstGeom>
          <a:noFill/>
          <a:ln/>
        </p:spPr>
        <p:txBody>
          <a:bodyPr wrap="square" rtlCol="0" anchor="ctr"/>
          <a:lstStyle/>
          <a:p>
            <a:pPr indent="0" marL="0">
              <a:buNone/>
            </a:pPr>
            <a:r>
              <a:rPr lang="en-US" sz="1100" dirty="0">
                <a:solidFill>
                  <a:srgbClr val="23283B"/>
                </a:solidFill>
                <a:latin typeface="Courier New" pitchFamily="34" charset="0"/>
                <a:ea typeface="Courier New" pitchFamily="34" charset="-122"/>
                <a:cs typeface="Courier New" pitchFamily="34" charset="-120"/>
              </a:rPr>
              <a:t>scheduled_date</a:t>
            </a:r>
            <a:endParaRPr lang="en-US" sz="1100" dirty="0"/>
          </a:p>
        </p:txBody>
      </p:sp>
      <p:sp>
        <p:nvSpPr>
          <p:cNvPr id="26" name="Shape 24"/>
          <p:cNvSpPr/>
          <p:nvPr/>
        </p:nvSpPr>
        <p:spPr>
          <a:xfrm>
            <a:off x="3337560" y="3968496"/>
            <a:ext cx="2606040" cy="329184"/>
          </a:xfrm>
          <a:prstGeom prst="roundRect">
            <a:avLst>
              <a:gd name="adj" fmla="val 13889"/>
            </a:avLst>
          </a:prstGeom>
          <a:solidFill>
            <a:srgbClr val="F4F6FC"/>
          </a:solidFill>
          <a:ln/>
        </p:spPr>
      </p:sp>
      <p:sp>
        <p:nvSpPr>
          <p:cNvPr id="27" name="Text 25"/>
          <p:cNvSpPr/>
          <p:nvPr/>
        </p:nvSpPr>
        <p:spPr>
          <a:xfrm>
            <a:off x="3474720" y="3968496"/>
            <a:ext cx="2331720" cy="329184"/>
          </a:xfrm>
          <a:prstGeom prst="rect">
            <a:avLst/>
          </a:prstGeom>
          <a:noFill/>
          <a:ln/>
        </p:spPr>
        <p:txBody>
          <a:bodyPr wrap="square" rtlCol="0" anchor="ctr"/>
          <a:lstStyle/>
          <a:p>
            <a:pPr indent="0" marL="0">
              <a:buNone/>
            </a:pPr>
            <a:r>
              <a:rPr lang="en-US" sz="1100" dirty="0">
                <a:solidFill>
                  <a:srgbClr val="23283B"/>
                </a:solidFill>
                <a:latin typeface="Courier New" pitchFamily="34" charset="0"/>
                <a:ea typeface="Courier New" pitchFamily="34" charset="-122"/>
                <a:cs typeface="Courier New" pitchFamily="34" charset="-120"/>
              </a:rPr>
              <a:t>scheduled_time</a:t>
            </a:r>
            <a:endParaRPr lang="en-US" sz="1100" dirty="0"/>
          </a:p>
        </p:txBody>
      </p:sp>
      <p:sp>
        <p:nvSpPr>
          <p:cNvPr id="28" name="Shape 26"/>
          <p:cNvSpPr/>
          <p:nvPr/>
        </p:nvSpPr>
        <p:spPr>
          <a:xfrm>
            <a:off x="3337560" y="4370832"/>
            <a:ext cx="2606040" cy="329184"/>
          </a:xfrm>
          <a:prstGeom prst="roundRect">
            <a:avLst>
              <a:gd name="adj" fmla="val 13889"/>
            </a:avLst>
          </a:prstGeom>
          <a:solidFill>
            <a:srgbClr val="F4F6FC"/>
          </a:solidFill>
          <a:ln/>
        </p:spPr>
      </p:sp>
      <p:sp>
        <p:nvSpPr>
          <p:cNvPr id="29" name="Text 27"/>
          <p:cNvSpPr/>
          <p:nvPr/>
        </p:nvSpPr>
        <p:spPr>
          <a:xfrm>
            <a:off x="3474720" y="4370832"/>
            <a:ext cx="2331720" cy="329184"/>
          </a:xfrm>
          <a:prstGeom prst="rect">
            <a:avLst/>
          </a:prstGeom>
          <a:noFill/>
          <a:ln/>
        </p:spPr>
        <p:txBody>
          <a:bodyPr wrap="square" rtlCol="0" anchor="ctr"/>
          <a:lstStyle/>
          <a:p>
            <a:pPr indent="0" marL="0">
              <a:buNone/>
            </a:pPr>
            <a:r>
              <a:rPr lang="en-US" sz="1100" dirty="0">
                <a:solidFill>
                  <a:srgbClr val="23283B"/>
                </a:solidFill>
                <a:latin typeface="Courier New" pitchFamily="34" charset="0"/>
                <a:ea typeface="Courier New" pitchFamily="34" charset="-122"/>
                <a:cs typeface="Courier New" pitchFamily="34" charset="-120"/>
              </a:rPr>
              <a:t>estimated_arrival</a:t>
            </a:r>
            <a:endParaRPr lang="en-US" sz="1100" dirty="0"/>
          </a:p>
        </p:txBody>
      </p:sp>
      <p:sp>
        <p:nvSpPr>
          <p:cNvPr id="30" name="Shape 28"/>
          <p:cNvSpPr/>
          <p:nvPr/>
        </p:nvSpPr>
        <p:spPr>
          <a:xfrm>
            <a:off x="3337560" y="4773168"/>
            <a:ext cx="2606040" cy="329184"/>
          </a:xfrm>
          <a:prstGeom prst="roundRect">
            <a:avLst>
              <a:gd name="adj" fmla="val 13889"/>
            </a:avLst>
          </a:prstGeom>
          <a:solidFill>
            <a:srgbClr val="F4F6FC"/>
          </a:solidFill>
          <a:ln/>
        </p:spPr>
      </p:sp>
      <p:sp>
        <p:nvSpPr>
          <p:cNvPr id="31" name="Text 29"/>
          <p:cNvSpPr/>
          <p:nvPr/>
        </p:nvSpPr>
        <p:spPr>
          <a:xfrm>
            <a:off x="3474720" y="4773168"/>
            <a:ext cx="2331720" cy="329184"/>
          </a:xfrm>
          <a:prstGeom prst="rect">
            <a:avLst/>
          </a:prstGeom>
          <a:noFill/>
          <a:ln/>
        </p:spPr>
        <p:txBody>
          <a:bodyPr wrap="square" rtlCol="0" anchor="ctr"/>
          <a:lstStyle/>
          <a:p>
            <a:pPr indent="0" marL="0">
              <a:buNone/>
            </a:pPr>
            <a:r>
              <a:rPr lang="en-US" sz="1100" dirty="0">
                <a:solidFill>
                  <a:srgbClr val="23283B"/>
                </a:solidFill>
                <a:latin typeface="Courier New" pitchFamily="34" charset="0"/>
                <a:ea typeface="Courier New" pitchFamily="34" charset="-122"/>
                <a:cs typeface="Courier New" pitchFamily="34" charset="-120"/>
              </a:rPr>
              <a:t>estimated_cost</a:t>
            </a:r>
            <a:endParaRPr lang="en-US" sz="1100" dirty="0"/>
          </a:p>
        </p:txBody>
      </p:sp>
      <p:sp>
        <p:nvSpPr>
          <p:cNvPr id="32" name="Shape 30"/>
          <p:cNvSpPr/>
          <p:nvPr/>
        </p:nvSpPr>
        <p:spPr>
          <a:xfrm>
            <a:off x="3337560" y="5175504"/>
            <a:ext cx="2606040" cy="329184"/>
          </a:xfrm>
          <a:prstGeom prst="roundRect">
            <a:avLst>
              <a:gd name="adj" fmla="val 13889"/>
            </a:avLst>
          </a:prstGeom>
          <a:solidFill>
            <a:srgbClr val="F4F6FC"/>
          </a:solidFill>
          <a:ln/>
        </p:spPr>
      </p:sp>
      <p:sp>
        <p:nvSpPr>
          <p:cNvPr id="33" name="Text 31"/>
          <p:cNvSpPr/>
          <p:nvPr/>
        </p:nvSpPr>
        <p:spPr>
          <a:xfrm>
            <a:off x="3474720" y="5175504"/>
            <a:ext cx="2331720" cy="329184"/>
          </a:xfrm>
          <a:prstGeom prst="rect">
            <a:avLst/>
          </a:prstGeom>
          <a:noFill/>
          <a:ln/>
        </p:spPr>
        <p:txBody>
          <a:bodyPr wrap="square" rtlCol="0" anchor="ctr"/>
          <a:lstStyle/>
          <a:p>
            <a:pPr indent="0" marL="0">
              <a:buNone/>
            </a:pPr>
            <a:r>
              <a:rPr lang="en-US" sz="1100" dirty="0">
                <a:solidFill>
                  <a:srgbClr val="23283B"/>
                </a:solidFill>
                <a:latin typeface="Courier New" pitchFamily="34" charset="0"/>
                <a:ea typeface="Courier New" pitchFamily="34" charset="-122"/>
                <a:cs typeface="Courier New" pitchFamily="34" charset="-120"/>
              </a:rPr>
              <a:t>status</a:t>
            </a:r>
            <a:endParaRPr lang="en-US" sz="1100" dirty="0"/>
          </a:p>
        </p:txBody>
      </p:sp>
      <p:sp>
        <p:nvSpPr>
          <p:cNvPr id="34" name="Shape 32"/>
          <p:cNvSpPr/>
          <p:nvPr/>
        </p:nvSpPr>
        <p:spPr>
          <a:xfrm>
            <a:off x="3337560" y="5577840"/>
            <a:ext cx="2606040" cy="329184"/>
          </a:xfrm>
          <a:prstGeom prst="roundRect">
            <a:avLst>
              <a:gd name="adj" fmla="val 13889"/>
            </a:avLst>
          </a:prstGeom>
          <a:solidFill>
            <a:srgbClr val="F4F6FC"/>
          </a:solidFill>
          <a:ln/>
        </p:spPr>
      </p:sp>
      <p:sp>
        <p:nvSpPr>
          <p:cNvPr id="35" name="Text 33"/>
          <p:cNvSpPr/>
          <p:nvPr/>
        </p:nvSpPr>
        <p:spPr>
          <a:xfrm>
            <a:off x="3474720" y="5577840"/>
            <a:ext cx="2331720" cy="329184"/>
          </a:xfrm>
          <a:prstGeom prst="rect">
            <a:avLst/>
          </a:prstGeom>
          <a:noFill/>
          <a:ln/>
        </p:spPr>
        <p:txBody>
          <a:bodyPr wrap="square" rtlCol="0" anchor="ctr"/>
          <a:lstStyle/>
          <a:p>
            <a:pPr indent="0" marL="0">
              <a:buNone/>
            </a:pPr>
            <a:r>
              <a:rPr lang="en-US" sz="1100" dirty="0">
                <a:solidFill>
                  <a:srgbClr val="23283B"/>
                </a:solidFill>
                <a:latin typeface="Courier New" pitchFamily="34" charset="0"/>
                <a:ea typeface="Courier New" pitchFamily="34" charset="-122"/>
                <a:cs typeface="Courier New" pitchFamily="34" charset="-120"/>
              </a:rPr>
              <a:t>priority</a:t>
            </a:r>
            <a:endParaRPr lang="en-US" sz="1100" dirty="0"/>
          </a:p>
        </p:txBody>
      </p:sp>
      <p:sp>
        <p:nvSpPr>
          <p:cNvPr id="36" name="Shape 34"/>
          <p:cNvSpPr/>
          <p:nvPr/>
        </p:nvSpPr>
        <p:spPr>
          <a:xfrm>
            <a:off x="6126480" y="3566160"/>
            <a:ext cx="2606040" cy="329184"/>
          </a:xfrm>
          <a:prstGeom prst="roundRect">
            <a:avLst>
              <a:gd name="adj" fmla="val 13889"/>
            </a:avLst>
          </a:prstGeom>
          <a:solidFill>
            <a:srgbClr val="F4F6FC"/>
          </a:solidFill>
          <a:ln/>
        </p:spPr>
      </p:sp>
      <p:sp>
        <p:nvSpPr>
          <p:cNvPr id="37" name="Text 35"/>
          <p:cNvSpPr/>
          <p:nvPr/>
        </p:nvSpPr>
        <p:spPr>
          <a:xfrm>
            <a:off x="6263640" y="3566160"/>
            <a:ext cx="2331720" cy="329184"/>
          </a:xfrm>
          <a:prstGeom prst="rect">
            <a:avLst/>
          </a:prstGeom>
          <a:noFill/>
          <a:ln/>
        </p:spPr>
        <p:txBody>
          <a:bodyPr wrap="square" rtlCol="0" anchor="ctr"/>
          <a:lstStyle/>
          <a:p>
            <a:pPr indent="0" marL="0">
              <a:buNone/>
            </a:pPr>
            <a:r>
              <a:rPr lang="en-US" sz="1100" dirty="0">
                <a:solidFill>
                  <a:srgbClr val="23283B"/>
                </a:solidFill>
                <a:latin typeface="Courier New" pitchFamily="34" charset="0"/>
                <a:ea typeface="Courier New" pitchFamily="34" charset="-122"/>
                <a:cs typeface="Courier New" pitchFamily="34" charset="-120"/>
              </a:rPr>
              <a:t>notes_to_expert</a:t>
            </a:r>
            <a:endParaRPr lang="en-US" sz="1100" dirty="0"/>
          </a:p>
        </p:txBody>
      </p:sp>
      <p:sp>
        <p:nvSpPr>
          <p:cNvPr id="38" name="Shape 36"/>
          <p:cNvSpPr/>
          <p:nvPr/>
        </p:nvSpPr>
        <p:spPr>
          <a:xfrm>
            <a:off x="6126480" y="3968496"/>
            <a:ext cx="2606040" cy="329184"/>
          </a:xfrm>
          <a:prstGeom prst="roundRect">
            <a:avLst>
              <a:gd name="adj" fmla="val 13889"/>
            </a:avLst>
          </a:prstGeom>
          <a:solidFill>
            <a:srgbClr val="F4F6FC"/>
          </a:solidFill>
          <a:ln/>
        </p:spPr>
      </p:sp>
      <p:sp>
        <p:nvSpPr>
          <p:cNvPr id="39" name="Text 37"/>
          <p:cNvSpPr/>
          <p:nvPr/>
        </p:nvSpPr>
        <p:spPr>
          <a:xfrm>
            <a:off x="6263640" y="3968496"/>
            <a:ext cx="2331720" cy="329184"/>
          </a:xfrm>
          <a:prstGeom prst="rect">
            <a:avLst/>
          </a:prstGeom>
          <a:noFill/>
          <a:ln/>
        </p:spPr>
        <p:txBody>
          <a:bodyPr wrap="square" rtlCol="0" anchor="ctr"/>
          <a:lstStyle/>
          <a:p>
            <a:pPr indent="0" marL="0">
              <a:buNone/>
            </a:pPr>
            <a:r>
              <a:rPr lang="en-US" sz="1100" dirty="0">
                <a:solidFill>
                  <a:srgbClr val="23283B"/>
                </a:solidFill>
                <a:latin typeface="Courier New" pitchFamily="34" charset="0"/>
                <a:ea typeface="Courier New" pitchFamily="34" charset="-122"/>
                <a:cs typeface="Courier New" pitchFamily="34" charset="-120"/>
              </a:rPr>
              <a:t>customer_address</a:t>
            </a:r>
            <a:endParaRPr lang="en-US" sz="1100" dirty="0"/>
          </a:p>
        </p:txBody>
      </p:sp>
      <p:sp>
        <p:nvSpPr>
          <p:cNvPr id="40" name="Shape 38"/>
          <p:cNvSpPr/>
          <p:nvPr/>
        </p:nvSpPr>
        <p:spPr>
          <a:xfrm>
            <a:off x="6126480" y="4370832"/>
            <a:ext cx="2606040" cy="329184"/>
          </a:xfrm>
          <a:prstGeom prst="roundRect">
            <a:avLst>
              <a:gd name="adj" fmla="val 13889"/>
            </a:avLst>
          </a:prstGeom>
          <a:solidFill>
            <a:srgbClr val="F4F6FC"/>
          </a:solidFill>
          <a:ln/>
        </p:spPr>
      </p:sp>
      <p:sp>
        <p:nvSpPr>
          <p:cNvPr id="41" name="Text 39"/>
          <p:cNvSpPr/>
          <p:nvPr/>
        </p:nvSpPr>
        <p:spPr>
          <a:xfrm>
            <a:off x="6263640" y="4370832"/>
            <a:ext cx="2331720" cy="329184"/>
          </a:xfrm>
          <a:prstGeom prst="rect">
            <a:avLst/>
          </a:prstGeom>
          <a:noFill/>
          <a:ln/>
        </p:spPr>
        <p:txBody>
          <a:bodyPr wrap="square" rtlCol="0" anchor="ctr"/>
          <a:lstStyle/>
          <a:p>
            <a:pPr indent="0" marL="0">
              <a:buNone/>
            </a:pPr>
            <a:r>
              <a:rPr lang="en-US" sz="1100" dirty="0">
                <a:solidFill>
                  <a:srgbClr val="23283B"/>
                </a:solidFill>
                <a:latin typeface="Courier New" pitchFamily="34" charset="0"/>
                <a:ea typeface="Courier New" pitchFamily="34" charset="-122"/>
                <a:cs typeface="Courier New" pitchFamily="34" charset="-120"/>
              </a:rPr>
              <a:t>customer_phone</a:t>
            </a:r>
            <a:endParaRPr lang="en-US" sz="1100" dirty="0"/>
          </a:p>
        </p:txBody>
      </p:sp>
      <p:sp>
        <p:nvSpPr>
          <p:cNvPr id="42" name="Shape 40"/>
          <p:cNvSpPr/>
          <p:nvPr/>
        </p:nvSpPr>
        <p:spPr>
          <a:xfrm>
            <a:off x="6126480" y="4773168"/>
            <a:ext cx="2606040" cy="329184"/>
          </a:xfrm>
          <a:prstGeom prst="roundRect">
            <a:avLst>
              <a:gd name="adj" fmla="val 13889"/>
            </a:avLst>
          </a:prstGeom>
          <a:solidFill>
            <a:srgbClr val="F4F6FC"/>
          </a:solidFill>
          <a:ln/>
        </p:spPr>
      </p:sp>
      <p:sp>
        <p:nvSpPr>
          <p:cNvPr id="43" name="Text 41"/>
          <p:cNvSpPr/>
          <p:nvPr/>
        </p:nvSpPr>
        <p:spPr>
          <a:xfrm>
            <a:off x="6263640" y="4773168"/>
            <a:ext cx="2331720" cy="329184"/>
          </a:xfrm>
          <a:prstGeom prst="rect">
            <a:avLst/>
          </a:prstGeom>
          <a:noFill/>
          <a:ln/>
        </p:spPr>
        <p:txBody>
          <a:bodyPr wrap="square" rtlCol="0" anchor="ctr"/>
          <a:lstStyle/>
          <a:p>
            <a:pPr indent="0" marL="0">
              <a:buNone/>
            </a:pPr>
            <a:r>
              <a:rPr lang="en-US" sz="1100" dirty="0">
                <a:solidFill>
                  <a:srgbClr val="23283B"/>
                </a:solidFill>
                <a:latin typeface="Courier New" pitchFamily="34" charset="0"/>
                <a:ea typeface="Courier New" pitchFamily="34" charset="-122"/>
                <a:cs typeface="Courier New" pitchFamily="34" charset="-120"/>
              </a:rPr>
              <a:t>customer_email</a:t>
            </a:r>
            <a:endParaRPr lang="en-US" sz="1100" dirty="0"/>
          </a:p>
        </p:txBody>
      </p:sp>
      <p:sp>
        <p:nvSpPr>
          <p:cNvPr id="44" name="Shape 42"/>
          <p:cNvSpPr/>
          <p:nvPr/>
        </p:nvSpPr>
        <p:spPr>
          <a:xfrm>
            <a:off x="6126480" y="5175504"/>
            <a:ext cx="2606040" cy="329184"/>
          </a:xfrm>
          <a:prstGeom prst="roundRect">
            <a:avLst>
              <a:gd name="adj" fmla="val 13889"/>
            </a:avLst>
          </a:prstGeom>
          <a:solidFill>
            <a:srgbClr val="F4F6FC"/>
          </a:solidFill>
          <a:ln/>
        </p:spPr>
      </p:sp>
      <p:sp>
        <p:nvSpPr>
          <p:cNvPr id="45" name="Text 43"/>
          <p:cNvSpPr/>
          <p:nvPr/>
        </p:nvSpPr>
        <p:spPr>
          <a:xfrm>
            <a:off x="6263640" y="5175504"/>
            <a:ext cx="2331720" cy="329184"/>
          </a:xfrm>
          <a:prstGeom prst="rect">
            <a:avLst/>
          </a:prstGeom>
          <a:noFill/>
          <a:ln/>
        </p:spPr>
        <p:txBody>
          <a:bodyPr wrap="square" rtlCol="0" anchor="ctr"/>
          <a:lstStyle/>
          <a:p>
            <a:pPr indent="0" marL="0">
              <a:buNone/>
            </a:pPr>
            <a:r>
              <a:rPr lang="en-US" sz="1100" dirty="0">
                <a:solidFill>
                  <a:srgbClr val="23283B"/>
                </a:solidFill>
                <a:latin typeface="Courier New" pitchFamily="34" charset="0"/>
                <a:ea typeface="Courier New" pitchFamily="34" charset="-122"/>
                <a:cs typeface="Courier New" pitchFamily="34" charset="-120"/>
              </a:rPr>
              <a:t>assigned_by</a:t>
            </a:r>
            <a:endParaRPr lang="en-US" sz="1100" dirty="0"/>
          </a:p>
        </p:txBody>
      </p:sp>
      <p:sp>
        <p:nvSpPr>
          <p:cNvPr id="46" name="Text 44"/>
          <p:cNvSpPr/>
          <p:nvPr/>
        </p:nvSpPr>
        <p:spPr>
          <a:xfrm>
            <a:off x="11548872" y="6400800"/>
            <a:ext cx="365760" cy="274320"/>
          </a:xfrm>
          <a:prstGeom prst="rect">
            <a:avLst/>
          </a:prstGeom>
          <a:noFill/>
          <a:ln/>
        </p:spPr>
        <p:txBody>
          <a:bodyPr wrap="square" rtlCol="0" anchor="ctr"/>
          <a:lstStyle/>
          <a:p>
            <a:pPr algn="r" indent="0" marL="0">
              <a:buNone/>
            </a:pPr>
            <a:r>
              <a:rPr lang="en-US" sz="1000" dirty="0">
                <a:solidFill>
                  <a:srgbClr val="6E7591"/>
                </a:solidFill>
                <a:latin typeface="Calibri" pitchFamily="34" charset="0"/>
                <a:ea typeface="Calibri" pitchFamily="34" charset="-122"/>
                <a:cs typeface="Calibri" pitchFamily="34" charset="-120"/>
              </a:rPr>
              <a:t>6</a:t>
            </a:r>
            <a:endParaRPr lang="en-US" sz="1000" dirty="0"/>
          </a:p>
        </p:txBody>
      </p:sp>
      <p:sp>
        <p:nvSpPr>
          <p:cNvPr id="47" name="Text 45"/>
          <p:cNvSpPr/>
          <p:nvPr/>
        </p:nvSpPr>
        <p:spPr>
          <a:xfrm>
            <a:off x="457200" y="6400800"/>
            <a:ext cx="5486400" cy="274320"/>
          </a:xfrm>
          <a:prstGeom prst="rect">
            <a:avLst/>
          </a:prstGeom>
          <a:noFill/>
          <a:ln/>
        </p:spPr>
        <p:txBody>
          <a:bodyPr wrap="square" rtlCol="0" anchor="ctr"/>
          <a:lstStyle/>
          <a:p>
            <a:pPr indent="0" marL="0">
              <a:buNone/>
            </a:pPr>
            <a:r>
              <a:rPr lang="en-US" sz="1000" dirty="0">
                <a:solidFill>
                  <a:srgbClr val="6E7591"/>
                </a:solidFill>
                <a:latin typeface="Calibri" pitchFamily="34" charset="0"/>
                <a:ea typeface="Calibri" pitchFamily="34" charset="-122"/>
                <a:cs typeface="Calibri" pitchFamily="34" charset="-120"/>
              </a:rPr>
              <a:t>Dispatch Agent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rtlCol="0" anchor="ctr"/>
          <a:lstStyle/>
          <a:p>
            <a:pPr indent="0" marL="0">
              <a:buNone/>
            </a:pPr>
            <a:r>
              <a:rPr lang="en-US" sz="1200" b="1" spc="200" kern="0" dirty="0">
                <a:solidFill>
                  <a:srgbClr val="6E7591"/>
                </a:solidFill>
                <a:latin typeface="Calibri" pitchFamily="34" charset="0"/>
                <a:ea typeface="Calibri" pitchFamily="34" charset="-122"/>
                <a:cs typeface="Calibri" pitchFamily="34" charset="-120"/>
              </a:rPr>
              <a:t>STEP 5 · WRITE #2</a:t>
            </a:r>
            <a:endParaRPr lang="en-US" sz="1200" dirty="0"/>
          </a:p>
        </p:txBody>
      </p:sp>
      <p:sp>
        <p:nvSpPr>
          <p:cNvPr id="3" name="Text 1"/>
          <p:cNvSpPr/>
          <p:nvPr/>
        </p:nvSpPr>
        <p:spPr>
          <a:xfrm>
            <a:off x="548640" y="621792"/>
            <a:ext cx="11064240" cy="685800"/>
          </a:xfrm>
          <a:prstGeom prst="rect">
            <a:avLst/>
          </a:prstGeom>
          <a:noFill/>
          <a:ln/>
        </p:spPr>
        <p:txBody>
          <a:bodyPr wrap="square"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Recording the Dispatch Audit Trail</a:t>
            </a:r>
            <a:endParaRPr lang="en-US" sz="3000" dirty="0"/>
          </a:p>
        </p:txBody>
      </p:sp>
      <p:sp>
        <p:nvSpPr>
          <p:cNvPr id="4" name="Text 2"/>
          <p:cNvSpPr/>
          <p:nvPr/>
        </p:nvSpPr>
        <p:spPr>
          <a:xfrm>
            <a:off x="548640" y="1508760"/>
            <a:ext cx="11064240" cy="548640"/>
          </a:xfrm>
          <a:prstGeom prst="rect">
            <a:avLst/>
          </a:prstGeom>
          <a:noFill/>
          <a:ln/>
        </p:spPr>
        <p:txBody>
          <a:bodyPr wrap="square" rtlCol="0" anchor="ctr"/>
          <a:lstStyle/>
          <a:p>
            <a:pPr indent="0" marL="0">
              <a:lnSpc>
                <a:spcPts val="1800"/>
              </a:lnSpc>
              <a:buNone/>
            </a:pPr>
            <a:r>
              <a:rPr lang="en-US" sz="1350" dirty="0">
                <a:solidFill>
                  <a:srgbClr val="23283B"/>
                </a:solidFill>
                <a:latin typeface="Calibri" pitchFamily="34" charset="0"/>
                <a:ea typeface="Calibri" pitchFamily="34" charset="-122"/>
                <a:cs typeface="Calibri" pitchFamily="34" charset="-120"/>
              </a:rPr>
              <a:t>Immediately after the work order is created, the agent writes a matching entry to dispatch_logs — the system of record for every status change that follows.</a:t>
            </a:r>
            <a:endParaRPr lang="en-US" sz="1350" dirty="0"/>
          </a:p>
        </p:txBody>
      </p:sp>
      <p:sp>
        <p:nvSpPr>
          <p:cNvPr id="5" name="Shape 3"/>
          <p:cNvSpPr/>
          <p:nvPr/>
        </p:nvSpPr>
        <p:spPr>
          <a:xfrm>
            <a:off x="548640" y="2331720"/>
            <a:ext cx="6766560" cy="2743200"/>
          </a:xfrm>
          <a:prstGeom prst="roundRect">
            <a:avLst>
              <a:gd name="adj" fmla="val 3000"/>
            </a:avLst>
          </a:prstGeom>
          <a:solidFill>
            <a:srgbClr val="141B47"/>
          </a:solidFill>
          <a:ln/>
        </p:spPr>
      </p:sp>
      <p:sp>
        <p:nvSpPr>
          <p:cNvPr id="6" name="Text 4"/>
          <p:cNvSpPr/>
          <p:nvPr/>
        </p:nvSpPr>
        <p:spPr>
          <a:xfrm>
            <a:off x="822960" y="2514600"/>
            <a:ext cx="6217920" cy="320040"/>
          </a:xfrm>
          <a:prstGeom prst="rect">
            <a:avLst/>
          </a:prstGeom>
          <a:noFill/>
          <a:ln/>
        </p:spPr>
        <p:txBody>
          <a:bodyPr wrap="square" rtlCol="0" anchor="ctr"/>
          <a:lstStyle/>
          <a:p>
            <a:pPr indent="0" marL="0">
              <a:buNone/>
            </a:pPr>
            <a:r>
              <a:rPr lang="en-US" sz="1200" b="1" dirty="0">
                <a:solidFill>
                  <a:srgbClr val="CADCFC"/>
                </a:solidFill>
                <a:latin typeface="Calibri" pitchFamily="34" charset="0"/>
                <a:ea typeface="Calibri" pitchFamily="34" charset="-122"/>
                <a:cs typeface="Calibri" pitchFamily="34" charset="-120"/>
              </a:rPr>
              <a:t>dispatch_logs  ·  new row</a:t>
            </a:r>
            <a:endParaRPr lang="en-US" sz="1200" dirty="0"/>
          </a:p>
        </p:txBody>
      </p:sp>
      <p:sp>
        <p:nvSpPr>
          <p:cNvPr id="7" name="Text 5"/>
          <p:cNvSpPr/>
          <p:nvPr/>
        </p:nvSpPr>
        <p:spPr>
          <a:xfrm>
            <a:off x="822960" y="2971800"/>
            <a:ext cx="2926080" cy="457200"/>
          </a:xfrm>
          <a:prstGeom prst="rect">
            <a:avLst/>
          </a:prstGeom>
          <a:noFill/>
          <a:ln/>
        </p:spPr>
        <p:txBody>
          <a:bodyPr wrap="square" rtlCol="0" anchor="ctr"/>
          <a:lstStyle/>
          <a:p>
            <a:pPr indent="0" marL="0">
              <a:buNone/>
            </a:pPr>
            <a:r>
              <a:rPr lang="en-US" sz="1500" dirty="0">
                <a:solidFill>
                  <a:srgbClr val="9FB2E8"/>
                </a:solidFill>
                <a:latin typeface="Courier New" pitchFamily="34" charset="0"/>
                <a:ea typeface="Courier New" pitchFamily="34" charset="-122"/>
                <a:cs typeface="Courier New" pitchFamily="34" charset="-120"/>
              </a:rPr>
              <a:t>action</a:t>
            </a:r>
            <a:endParaRPr lang="en-US" sz="1500" dirty="0"/>
          </a:p>
        </p:txBody>
      </p:sp>
      <p:sp>
        <p:nvSpPr>
          <p:cNvPr id="8" name="Text 6"/>
          <p:cNvSpPr/>
          <p:nvPr/>
        </p:nvSpPr>
        <p:spPr>
          <a:xfrm>
            <a:off x="3749040" y="2971800"/>
            <a:ext cx="365760" cy="457200"/>
          </a:xfrm>
          <a:prstGeom prst="rect">
            <a:avLst/>
          </a:prstGeom>
          <a:noFill/>
          <a:ln/>
        </p:spPr>
        <p:txBody>
          <a:bodyPr wrap="square" rtlCol="0" anchor="ctr"/>
          <a:lstStyle/>
          <a:p>
            <a:pPr indent="0" marL="0">
              <a:buNone/>
            </a:pPr>
            <a:r>
              <a:rPr lang="en-US" sz="1500" dirty="0">
                <a:solidFill>
                  <a:srgbClr val="6B7BB8"/>
                </a:solidFill>
                <a:latin typeface="Courier New" pitchFamily="34" charset="0"/>
                <a:ea typeface="Courier New" pitchFamily="34" charset="-122"/>
                <a:cs typeface="Courier New" pitchFamily="34" charset="-120"/>
              </a:rPr>
              <a:t>=</a:t>
            </a:r>
            <a:endParaRPr lang="en-US" sz="1500" dirty="0"/>
          </a:p>
        </p:txBody>
      </p:sp>
      <p:sp>
        <p:nvSpPr>
          <p:cNvPr id="9" name="Text 7"/>
          <p:cNvSpPr/>
          <p:nvPr/>
        </p:nvSpPr>
        <p:spPr>
          <a:xfrm>
            <a:off x="4160520" y="2971800"/>
            <a:ext cx="2926080" cy="457200"/>
          </a:xfrm>
          <a:prstGeom prst="rect">
            <a:avLst/>
          </a:prstGeom>
          <a:noFill/>
          <a:ln/>
        </p:spPr>
        <p:txBody>
          <a:bodyPr wrap="square" rtlCol="0" anchor="ctr"/>
          <a:lstStyle/>
          <a:p>
            <a:pPr indent="0" marL="0">
              <a:buNone/>
            </a:pPr>
            <a:r>
              <a:rPr lang="en-US" sz="1500" b="1" dirty="0">
                <a:solidFill>
                  <a:srgbClr val="FFFFFF"/>
                </a:solidFill>
                <a:latin typeface="Courier New" pitchFamily="34" charset="0"/>
                <a:ea typeface="Courier New" pitchFamily="34" charset="-122"/>
                <a:cs typeface="Courier New" pitchFamily="34" charset="-120"/>
              </a:rPr>
              <a:t>Created</a:t>
            </a:r>
            <a:endParaRPr lang="en-US" sz="1500" dirty="0"/>
          </a:p>
        </p:txBody>
      </p:sp>
      <p:sp>
        <p:nvSpPr>
          <p:cNvPr id="10" name="Text 8"/>
          <p:cNvSpPr/>
          <p:nvPr/>
        </p:nvSpPr>
        <p:spPr>
          <a:xfrm>
            <a:off x="822960" y="3566160"/>
            <a:ext cx="2926080" cy="457200"/>
          </a:xfrm>
          <a:prstGeom prst="rect">
            <a:avLst/>
          </a:prstGeom>
          <a:noFill/>
          <a:ln/>
        </p:spPr>
        <p:txBody>
          <a:bodyPr wrap="square" rtlCol="0" anchor="ctr"/>
          <a:lstStyle/>
          <a:p>
            <a:pPr indent="0" marL="0">
              <a:buNone/>
            </a:pPr>
            <a:r>
              <a:rPr lang="en-US" sz="1500" dirty="0">
                <a:solidFill>
                  <a:srgbClr val="9FB2E8"/>
                </a:solidFill>
                <a:latin typeface="Courier New" pitchFamily="34" charset="0"/>
                <a:ea typeface="Courier New" pitchFamily="34" charset="-122"/>
                <a:cs typeface="Courier New" pitchFamily="34" charset="-120"/>
              </a:rPr>
              <a:t>previous_status</a:t>
            </a:r>
            <a:endParaRPr lang="en-US" sz="1500" dirty="0"/>
          </a:p>
        </p:txBody>
      </p:sp>
      <p:sp>
        <p:nvSpPr>
          <p:cNvPr id="11" name="Text 9"/>
          <p:cNvSpPr/>
          <p:nvPr/>
        </p:nvSpPr>
        <p:spPr>
          <a:xfrm>
            <a:off x="3749040" y="3566160"/>
            <a:ext cx="365760" cy="457200"/>
          </a:xfrm>
          <a:prstGeom prst="rect">
            <a:avLst/>
          </a:prstGeom>
          <a:noFill/>
          <a:ln/>
        </p:spPr>
        <p:txBody>
          <a:bodyPr wrap="square" rtlCol="0" anchor="ctr"/>
          <a:lstStyle/>
          <a:p>
            <a:pPr indent="0" marL="0">
              <a:buNone/>
            </a:pPr>
            <a:r>
              <a:rPr lang="en-US" sz="1500" dirty="0">
                <a:solidFill>
                  <a:srgbClr val="6B7BB8"/>
                </a:solidFill>
                <a:latin typeface="Courier New" pitchFamily="34" charset="0"/>
                <a:ea typeface="Courier New" pitchFamily="34" charset="-122"/>
                <a:cs typeface="Courier New" pitchFamily="34" charset="-120"/>
              </a:rPr>
              <a:t>=</a:t>
            </a:r>
            <a:endParaRPr lang="en-US" sz="1500" dirty="0"/>
          </a:p>
        </p:txBody>
      </p:sp>
      <p:sp>
        <p:nvSpPr>
          <p:cNvPr id="12" name="Text 10"/>
          <p:cNvSpPr/>
          <p:nvPr/>
        </p:nvSpPr>
        <p:spPr>
          <a:xfrm>
            <a:off x="4160520" y="3566160"/>
            <a:ext cx="2926080" cy="457200"/>
          </a:xfrm>
          <a:prstGeom prst="rect">
            <a:avLst/>
          </a:prstGeom>
          <a:noFill/>
          <a:ln/>
        </p:spPr>
        <p:txBody>
          <a:bodyPr wrap="square" rtlCol="0" anchor="ctr"/>
          <a:lstStyle/>
          <a:p>
            <a:pPr indent="0" marL="0">
              <a:buNone/>
            </a:pPr>
            <a:r>
              <a:rPr lang="en-US" sz="1500" b="1" dirty="0">
                <a:solidFill>
                  <a:srgbClr val="FFFFFF"/>
                </a:solidFill>
                <a:latin typeface="Courier New" pitchFamily="34" charset="0"/>
                <a:ea typeface="Courier New" pitchFamily="34" charset="-122"/>
                <a:cs typeface="Courier New" pitchFamily="34" charset="-120"/>
              </a:rPr>
              <a:t>NULL</a:t>
            </a:r>
            <a:endParaRPr lang="en-US" sz="1500" dirty="0"/>
          </a:p>
        </p:txBody>
      </p:sp>
      <p:sp>
        <p:nvSpPr>
          <p:cNvPr id="13" name="Text 11"/>
          <p:cNvSpPr/>
          <p:nvPr/>
        </p:nvSpPr>
        <p:spPr>
          <a:xfrm>
            <a:off x="822960" y="4160520"/>
            <a:ext cx="2926080" cy="457200"/>
          </a:xfrm>
          <a:prstGeom prst="rect">
            <a:avLst/>
          </a:prstGeom>
          <a:noFill/>
          <a:ln/>
        </p:spPr>
        <p:txBody>
          <a:bodyPr wrap="square" rtlCol="0" anchor="ctr"/>
          <a:lstStyle/>
          <a:p>
            <a:pPr indent="0" marL="0">
              <a:buNone/>
            </a:pPr>
            <a:r>
              <a:rPr lang="en-US" sz="1500" dirty="0">
                <a:solidFill>
                  <a:srgbClr val="9FB2E8"/>
                </a:solidFill>
                <a:latin typeface="Courier New" pitchFamily="34" charset="0"/>
                <a:ea typeface="Courier New" pitchFamily="34" charset="-122"/>
                <a:cs typeface="Courier New" pitchFamily="34" charset="-120"/>
              </a:rPr>
              <a:t>new_status</a:t>
            </a:r>
            <a:endParaRPr lang="en-US" sz="1500" dirty="0"/>
          </a:p>
        </p:txBody>
      </p:sp>
      <p:sp>
        <p:nvSpPr>
          <p:cNvPr id="14" name="Text 12"/>
          <p:cNvSpPr/>
          <p:nvPr/>
        </p:nvSpPr>
        <p:spPr>
          <a:xfrm>
            <a:off x="3749040" y="4160520"/>
            <a:ext cx="365760" cy="457200"/>
          </a:xfrm>
          <a:prstGeom prst="rect">
            <a:avLst/>
          </a:prstGeom>
          <a:noFill/>
          <a:ln/>
        </p:spPr>
        <p:txBody>
          <a:bodyPr wrap="square" rtlCol="0" anchor="ctr"/>
          <a:lstStyle/>
          <a:p>
            <a:pPr indent="0" marL="0">
              <a:buNone/>
            </a:pPr>
            <a:r>
              <a:rPr lang="en-US" sz="1500" dirty="0">
                <a:solidFill>
                  <a:srgbClr val="6B7BB8"/>
                </a:solidFill>
                <a:latin typeface="Courier New" pitchFamily="34" charset="0"/>
                <a:ea typeface="Courier New" pitchFamily="34" charset="-122"/>
                <a:cs typeface="Courier New" pitchFamily="34" charset="-120"/>
              </a:rPr>
              <a:t>=</a:t>
            </a:r>
            <a:endParaRPr lang="en-US" sz="1500" dirty="0"/>
          </a:p>
        </p:txBody>
      </p:sp>
      <p:sp>
        <p:nvSpPr>
          <p:cNvPr id="15" name="Text 13"/>
          <p:cNvSpPr/>
          <p:nvPr/>
        </p:nvSpPr>
        <p:spPr>
          <a:xfrm>
            <a:off x="4160520" y="4160520"/>
            <a:ext cx="2926080" cy="457200"/>
          </a:xfrm>
          <a:prstGeom prst="rect">
            <a:avLst/>
          </a:prstGeom>
          <a:noFill/>
          <a:ln/>
        </p:spPr>
        <p:txBody>
          <a:bodyPr wrap="square" rtlCol="0" anchor="ctr"/>
          <a:lstStyle/>
          <a:p>
            <a:pPr indent="0" marL="0">
              <a:buNone/>
            </a:pPr>
            <a:r>
              <a:rPr lang="en-US" sz="1500" b="1" dirty="0">
                <a:solidFill>
                  <a:srgbClr val="FFFFFF"/>
                </a:solidFill>
                <a:latin typeface="Courier New" pitchFamily="34" charset="0"/>
                <a:ea typeface="Courier New" pitchFamily="34" charset="-122"/>
                <a:cs typeface="Courier New" pitchFamily="34" charset="-120"/>
              </a:rPr>
              <a:t>Scheduled</a:t>
            </a:r>
            <a:endParaRPr lang="en-US" sz="1500" dirty="0"/>
          </a:p>
        </p:txBody>
      </p:sp>
      <p:sp>
        <p:nvSpPr>
          <p:cNvPr id="16" name="Shape 14"/>
          <p:cNvSpPr/>
          <p:nvPr/>
        </p:nvSpPr>
        <p:spPr>
          <a:xfrm>
            <a:off x="7589520" y="2331720"/>
            <a:ext cx="4023360" cy="2743200"/>
          </a:xfrm>
          <a:prstGeom prst="roundRect">
            <a:avLst>
              <a:gd name="adj" fmla="val 3000"/>
            </a:avLst>
          </a:prstGeom>
          <a:solidFill>
            <a:srgbClr val="F4F6FC"/>
          </a:solidFill>
          <a:ln w="12700">
            <a:solidFill>
              <a:srgbClr val="E3E7F5"/>
            </a:solidFill>
            <a:prstDash val="solid"/>
          </a:ln>
        </p:spPr>
      </p:sp>
      <p:sp>
        <p:nvSpPr>
          <p:cNvPr id="17" name="Text 15"/>
          <p:cNvSpPr/>
          <p:nvPr/>
        </p:nvSpPr>
        <p:spPr>
          <a:xfrm>
            <a:off x="7818120" y="2542032"/>
            <a:ext cx="3566160" cy="274320"/>
          </a:xfrm>
          <a:prstGeom prst="rect">
            <a:avLst/>
          </a:prstGeom>
          <a:noFill/>
          <a:ln/>
        </p:spPr>
        <p:txBody>
          <a:bodyPr wrap="square" rtlCol="0" anchor="ctr"/>
          <a:lstStyle/>
          <a:p>
            <a:pPr indent="0" marL="0">
              <a:buNone/>
            </a:pPr>
            <a:r>
              <a:rPr lang="en-US" sz="1050" b="1" spc="150" kern="0" dirty="0">
                <a:solidFill>
                  <a:srgbClr val="1E2761"/>
                </a:solidFill>
                <a:latin typeface="Calibri" pitchFamily="34" charset="0"/>
                <a:ea typeface="Calibri" pitchFamily="34" charset="-122"/>
                <a:cs typeface="Calibri" pitchFamily="34" charset="-120"/>
              </a:rPr>
              <a:t>WHY IT MATTERS</a:t>
            </a:r>
            <a:endParaRPr lang="en-US" sz="1050" dirty="0"/>
          </a:p>
        </p:txBody>
      </p:sp>
      <p:sp>
        <p:nvSpPr>
          <p:cNvPr id="18" name="Text 16"/>
          <p:cNvSpPr/>
          <p:nvPr/>
        </p:nvSpPr>
        <p:spPr>
          <a:xfrm>
            <a:off x="7818120" y="2834640"/>
            <a:ext cx="3566160" cy="2103120"/>
          </a:xfrm>
          <a:prstGeom prst="rect">
            <a:avLst/>
          </a:prstGeom>
          <a:noFill/>
          <a:ln/>
        </p:spPr>
        <p:txBody>
          <a:bodyPr wrap="square" rtlCol="0" anchor="ctr"/>
          <a:lstStyle/>
          <a:p>
            <a:pPr indent="0" marL="0">
              <a:lnSpc>
                <a:spcPts val="1700"/>
              </a:lnSpc>
              <a:buNone/>
            </a:pPr>
            <a:r>
              <a:rPr lang="en-US" sz="1250" dirty="0">
                <a:solidFill>
                  <a:srgbClr val="23283B"/>
                </a:solidFill>
                <a:latin typeface="Calibri" pitchFamily="34" charset="0"/>
                <a:ea typeface="Calibri" pitchFamily="34" charset="-122"/>
                <a:cs typeface="Calibri" pitchFamily="34" charset="-120"/>
              </a:rPr>
              <a:t>Every later transition — In Progress, Completed, Canceled — appends another row here, giving a complete, queryable history of the work order's lifecycle.</a:t>
            </a:r>
            <a:endParaRPr lang="en-US" sz="1250" dirty="0"/>
          </a:p>
        </p:txBody>
      </p:sp>
      <p:sp>
        <p:nvSpPr>
          <p:cNvPr id="19" name="Text 17"/>
          <p:cNvSpPr/>
          <p:nvPr/>
        </p:nvSpPr>
        <p:spPr>
          <a:xfrm>
            <a:off x="11548872" y="6400800"/>
            <a:ext cx="365760" cy="274320"/>
          </a:xfrm>
          <a:prstGeom prst="rect">
            <a:avLst/>
          </a:prstGeom>
          <a:noFill/>
          <a:ln/>
        </p:spPr>
        <p:txBody>
          <a:bodyPr wrap="square" rtlCol="0" anchor="ctr"/>
          <a:lstStyle/>
          <a:p>
            <a:pPr algn="r" indent="0" marL="0">
              <a:buNone/>
            </a:pPr>
            <a:r>
              <a:rPr lang="en-US" sz="1000" dirty="0">
                <a:solidFill>
                  <a:srgbClr val="6E7591"/>
                </a:solidFill>
                <a:latin typeface="Calibri" pitchFamily="34" charset="0"/>
                <a:ea typeface="Calibri" pitchFamily="34" charset="-122"/>
                <a:cs typeface="Calibri" pitchFamily="34" charset="-120"/>
              </a:rPr>
              <a:t>7</a:t>
            </a:r>
            <a:endParaRPr lang="en-US" sz="1000" dirty="0"/>
          </a:p>
        </p:txBody>
      </p:sp>
      <p:sp>
        <p:nvSpPr>
          <p:cNvPr id="20" name="Text 18"/>
          <p:cNvSpPr/>
          <p:nvPr/>
        </p:nvSpPr>
        <p:spPr>
          <a:xfrm>
            <a:off x="457200" y="6400800"/>
            <a:ext cx="5486400" cy="274320"/>
          </a:xfrm>
          <a:prstGeom prst="rect">
            <a:avLst/>
          </a:prstGeom>
          <a:noFill/>
          <a:ln/>
        </p:spPr>
        <p:txBody>
          <a:bodyPr wrap="square" rtlCol="0" anchor="ctr"/>
          <a:lstStyle/>
          <a:p>
            <a:pPr indent="0" marL="0">
              <a:buNone/>
            </a:pPr>
            <a:r>
              <a:rPr lang="en-US" sz="1000" dirty="0">
                <a:solidFill>
                  <a:srgbClr val="6E7591"/>
                </a:solidFill>
                <a:latin typeface="Calibri" pitchFamily="34" charset="0"/>
                <a:ea typeface="Calibri" pitchFamily="34" charset="-122"/>
                <a:cs typeface="Calibri" pitchFamily="34" charset="-120"/>
              </a:rPr>
              <a:t>Dispatch Agent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rtlCol="0" anchor="ctr"/>
          <a:lstStyle/>
          <a:p>
            <a:pPr indent="0" marL="0">
              <a:buNone/>
            </a:pPr>
            <a:r>
              <a:rPr lang="en-US" sz="1200" b="1" spc="200" kern="0" dirty="0">
                <a:solidFill>
                  <a:srgbClr val="6E7591"/>
                </a:solidFill>
                <a:latin typeface="Calibri" pitchFamily="34" charset="0"/>
                <a:ea typeface="Calibri" pitchFamily="34" charset="-122"/>
                <a:cs typeface="Calibri" pitchFamily="34" charset="-120"/>
              </a:rPr>
              <a:t>STEP 6 · WRITE #3</a:t>
            </a:r>
            <a:endParaRPr lang="en-US" sz="1200" dirty="0"/>
          </a:p>
        </p:txBody>
      </p:sp>
      <p:sp>
        <p:nvSpPr>
          <p:cNvPr id="3" name="Text 1"/>
          <p:cNvSpPr/>
          <p:nvPr/>
        </p:nvSpPr>
        <p:spPr>
          <a:xfrm>
            <a:off x="548640" y="621792"/>
            <a:ext cx="11064240" cy="685800"/>
          </a:xfrm>
          <a:prstGeom prst="rect">
            <a:avLst/>
          </a:prstGeom>
          <a:noFill/>
          <a:ln/>
        </p:spPr>
        <p:txBody>
          <a:bodyPr wrap="square"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Syncing the Downstream Vendor Job</a:t>
            </a:r>
            <a:endParaRPr lang="en-US" sz="3000" dirty="0"/>
          </a:p>
        </p:txBody>
      </p:sp>
      <p:sp>
        <p:nvSpPr>
          <p:cNvPr id="4" name="Text 2"/>
          <p:cNvSpPr/>
          <p:nvPr/>
        </p:nvSpPr>
        <p:spPr>
          <a:xfrm>
            <a:off x="548640" y="1508760"/>
            <a:ext cx="11064240" cy="548640"/>
          </a:xfrm>
          <a:prstGeom prst="rect">
            <a:avLst/>
          </a:prstGeom>
          <a:noFill/>
          <a:ln/>
        </p:spPr>
        <p:txBody>
          <a:bodyPr wrap="square" rtlCol="0" anchor="ctr"/>
          <a:lstStyle/>
          <a:p>
            <a:pPr indent="0" marL="0">
              <a:lnSpc>
                <a:spcPts val="1800"/>
              </a:lnSpc>
              <a:buNone/>
            </a:pPr>
            <a:r>
              <a:rPr lang="en-US" sz="1350" dirty="0">
                <a:solidFill>
                  <a:srgbClr val="23283B"/>
                </a:solidFill>
                <a:latin typeface="Calibri" pitchFamily="34" charset="0"/>
                <a:ea typeface="Calibri" pitchFamily="34" charset="-122"/>
                <a:cs typeface="Calibri" pitchFamily="34" charset="-120"/>
              </a:rPr>
              <a:t>The agent resolves the assigned vendor from vendor_assignment, then creates a matching record in vendor_jobs_input so downstream agents can pick up the job.</a:t>
            </a:r>
            <a:endParaRPr lang="en-US" sz="1350" dirty="0"/>
          </a:p>
        </p:txBody>
      </p:sp>
      <p:sp>
        <p:nvSpPr>
          <p:cNvPr id="5" name="Shape 3"/>
          <p:cNvSpPr/>
          <p:nvPr/>
        </p:nvSpPr>
        <p:spPr>
          <a:xfrm>
            <a:off x="548640" y="2331720"/>
            <a:ext cx="5577840" cy="3429000"/>
          </a:xfrm>
          <a:prstGeom prst="roundRect">
            <a:avLst>
              <a:gd name="adj" fmla="val 2400"/>
            </a:avLst>
          </a:prstGeom>
          <a:solidFill>
            <a:srgbClr val="F4F6FC"/>
          </a:solidFill>
          <a:ln w="12700">
            <a:solidFill>
              <a:srgbClr val="E3E7F5"/>
            </a:solidFill>
            <a:prstDash val="solid"/>
          </a:ln>
        </p:spPr>
      </p:sp>
      <p:sp>
        <p:nvSpPr>
          <p:cNvPr id="6" name="Text 4"/>
          <p:cNvSpPr/>
          <p:nvPr/>
        </p:nvSpPr>
        <p:spPr>
          <a:xfrm>
            <a:off x="777240" y="2514600"/>
            <a:ext cx="5120640" cy="320040"/>
          </a:xfrm>
          <a:prstGeom prst="rect">
            <a:avLst/>
          </a:prstGeom>
          <a:noFill/>
          <a:ln/>
        </p:spPr>
        <p:txBody>
          <a:bodyPr wrap="square"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vendor_jobs_input  ·  initial values</a:t>
            </a:r>
            <a:endParaRPr lang="en-US" sz="1250" dirty="0"/>
          </a:p>
        </p:txBody>
      </p:sp>
      <p:sp>
        <p:nvSpPr>
          <p:cNvPr id="7" name="Text 5"/>
          <p:cNvSpPr/>
          <p:nvPr/>
        </p:nvSpPr>
        <p:spPr>
          <a:xfrm>
            <a:off x="777240" y="2926080"/>
            <a:ext cx="2468880" cy="329184"/>
          </a:xfrm>
          <a:prstGeom prst="rect">
            <a:avLst/>
          </a:prstGeom>
          <a:noFill/>
          <a:ln/>
        </p:spPr>
        <p:txBody>
          <a:bodyPr wrap="square" rtlCol="0" anchor="ctr"/>
          <a:lstStyle/>
          <a:p>
            <a:pPr indent="0" marL="0">
              <a:buNone/>
            </a:pPr>
            <a:r>
              <a:rPr lang="en-US" sz="1200" dirty="0">
                <a:solidFill>
                  <a:srgbClr val="6E7591"/>
                </a:solidFill>
                <a:latin typeface="Courier New" pitchFamily="34" charset="0"/>
                <a:ea typeface="Courier New" pitchFamily="34" charset="-122"/>
                <a:cs typeface="Courier New" pitchFamily="34" charset="-120"/>
              </a:rPr>
              <a:t>vendor_id</a:t>
            </a:r>
            <a:endParaRPr lang="en-US" sz="1200" dirty="0"/>
          </a:p>
        </p:txBody>
      </p:sp>
      <p:sp>
        <p:nvSpPr>
          <p:cNvPr id="8" name="Text 6"/>
          <p:cNvSpPr/>
          <p:nvPr/>
        </p:nvSpPr>
        <p:spPr>
          <a:xfrm>
            <a:off x="3291840" y="2926080"/>
            <a:ext cx="2651760" cy="329184"/>
          </a:xfrm>
          <a:prstGeom prst="rect">
            <a:avLst/>
          </a:prstGeom>
          <a:noFill/>
          <a:ln/>
        </p:spPr>
        <p:txBody>
          <a:bodyPr wrap="square" rtlCol="0" anchor="ctr"/>
          <a:lstStyle/>
          <a:p>
            <a:pPr indent="0" marL="0">
              <a:buNone/>
            </a:pPr>
            <a:r>
              <a:rPr lang="en-US" sz="1200" b="1" dirty="0">
                <a:solidFill>
                  <a:srgbClr val="23283B"/>
                </a:solidFill>
                <a:latin typeface="Courier New" pitchFamily="34" charset="0"/>
                <a:ea typeface="Courier New" pitchFamily="34" charset="-122"/>
                <a:cs typeface="Courier New" pitchFamily="34" charset="-120"/>
              </a:rPr>
              <a:t>resolved vendor</a:t>
            </a:r>
            <a:endParaRPr lang="en-US" sz="1200" dirty="0"/>
          </a:p>
        </p:txBody>
      </p:sp>
      <p:sp>
        <p:nvSpPr>
          <p:cNvPr id="9" name="Text 7"/>
          <p:cNvSpPr/>
          <p:nvPr/>
        </p:nvSpPr>
        <p:spPr>
          <a:xfrm>
            <a:off x="777240" y="3268980"/>
            <a:ext cx="2468880" cy="329184"/>
          </a:xfrm>
          <a:prstGeom prst="rect">
            <a:avLst/>
          </a:prstGeom>
          <a:noFill/>
          <a:ln/>
        </p:spPr>
        <p:txBody>
          <a:bodyPr wrap="square" rtlCol="0" anchor="ctr"/>
          <a:lstStyle/>
          <a:p>
            <a:pPr indent="0" marL="0">
              <a:buNone/>
            </a:pPr>
            <a:r>
              <a:rPr lang="en-US" sz="1200" dirty="0">
                <a:solidFill>
                  <a:srgbClr val="6E7591"/>
                </a:solidFill>
                <a:latin typeface="Courier New" pitchFamily="34" charset="0"/>
                <a:ea typeface="Courier New" pitchFamily="34" charset="-122"/>
                <a:cs typeface="Courier New" pitchFamily="34" charset="-120"/>
              </a:rPr>
              <a:t>claim_id</a:t>
            </a:r>
            <a:endParaRPr lang="en-US" sz="1200" dirty="0"/>
          </a:p>
        </p:txBody>
      </p:sp>
      <p:sp>
        <p:nvSpPr>
          <p:cNvPr id="10" name="Text 8"/>
          <p:cNvSpPr/>
          <p:nvPr/>
        </p:nvSpPr>
        <p:spPr>
          <a:xfrm>
            <a:off x="3291840" y="3268980"/>
            <a:ext cx="2651760" cy="329184"/>
          </a:xfrm>
          <a:prstGeom prst="rect">
            <a:avLst/>
          </a:prstGeom>
          <a:noFill/>
          <a:ln/>
        </p:spPr>
        <p:txBody>
          <a:bodyPr wrap="square" rtlCol="0" anchor="ctr"/>
          <a:lstStyle/>
          <a:p>
            <a:pPr indent="0" marL="0">
              <a:buNone/>
            </a:pPr>
            <a:r>
              <a:rPr lang="en-US" sz="1200" b="1" dirty="0">
                <a:solidFill>
                  <a:srgbClr val="23283B"/>
                </a:solidFill>
                <a:latin typeface="Courier New" pitchFamily="34" charset="0"/>
                <a:ea typeface="Courier New" pitchFamily="34" charset="-122"/>
                <a:cs typeface="Courier New" pitchFamily="34" charset="-120"/>
              </a:rPr>
              <a:t>claim number</a:t>
            </a:r>
            <a:endParaRPr lang="en-US" sz="1200" dirty="0"/>
          </a:p>
        </p:txBody>
      </p:sp>
      <p:sp>
        <p:nvSpPr>
          <p:cNvPr id="11" name="Text 9"/>
          <p:cNvSpPr/>
          <p:nvPr/>
        </p:nvSpPr>
        <p:spPr>
          <a:xfrm>
            <a:off x="777240" y="3611880"/>
            <a:ext cx="2468880" cy="329184"/>
          </a:xfrm>
          <a:prstGeom prst="rect">
            <a:avLst/>
          </a:prstGeom>
          <a:noFill/>
          <a:ln/>
        </p:spPr>
        <p:txBody>
          <a:bodyPr wrap="square" rtlCol="0" anchor="ctr"/>
          <a:lstStyle/>
          <a:p>
            <a:pPr indent="0" marL="0">
              <a:buNone/>
            </a:pPr>
            <a:r>
              <a:rPr lang="en-US" sz="1200" dirty="0">
                <a:solidFill>
                  <a:srgbClr val="6E7591"/>
                </a:solidFill>
                <a:latin typeface="Courier New" pitchFamily="34" charset="0"/>
                <a:ea typeface="Courier New" pitchFamily="34" charset="-122"/>
                <a:cs typeface="Courier New" pitchFamily="34" charset="-120"/>
              </a:rPr>
              <a:t>assigned_date</a:t>
            </a:r>
            <a:endParaRPr lang="en-US" sz="1200" dirty="0"/>
          </a:p>
        </p:txBody>
      </p:sp>
      <p:sp>
        <p:nvSpPr>
          <p:cNvPr id="12" name="Text 10"/>
          <p:cNvSpPr/>
          <p:nvPr/>
        </p:nvSpPr>
        <p:spPr>
          <a:xfrm>
            <a:off x="3291840" y="3611880"/>
            <a:ext cx="2651760" cy="329184"/>
          </a:xfrm>
          <a:prstGeom prst="rect">
            <a:avLst/>
          </a:prstGeom>
          <a:noFill/>
          <a:ln/>
        </p:spPr>
        <p:txBody>
          <a:bodyPr wrap="square" rtlCol="0" anchor="ctr"/>
          <a:lstStyle/>
          <a:p>
            <a:pPr indent="0" marL="0">
              <a:buNone/>
            </a:pPr>
            <a:r>
              <a:rPr lang="en-US" sz="1200" b="1" dirty="0">
                <a:solidFill>
                  <a:srgbClr val="23283B"/>
                </a:solidFill>
                <a:latin typeface="Courier New" pitchFamily="34" charset="0"/>
                <a:ea typeface="Courier New" pitchFamily="34" charset="-122"/>
                <a:cs typeface="Courier New" pitchFamily="34" charset="-120"/>
              </a:rPr>
              <a:t>scheduled date</a:t>
            </a:r>
            <a:endParaRPr lang="en-US" sz="1200" dirty="0"/>
          </a:p>
        </p:txBody>
      </p:sp>
      <p:sp>
        <p:nvSpPr>
          <p:cNvPr id="13" name="Text 11"/>
          <p:cNvSpPr/>
          <p:nvPr/>
        </p:nvSpPr>
        <p:spPr>
          <a:xfrm>
            <a:off x="777240" y="3954780"/>
            <a:ext cx="2468880" cy="329184"/>
          </a:xfrm>
          <a:prstGeom prst="rect">
            <a:avLst/>
          </a:prstGeom>
          <a:noFill/>
          <a:ln/>
        </p:spPr>
        <p:txBody>
          <a:bodyPr wrap="square" rtlCol="0" anchor="ctr"/>
          <a:lstStyle/>
          <a:p>
            <a:pPr indent="0" marL="0">
              <a:buNone/>
            </a:pPr>
            <a:r>
              <a:rPr lang="en-US" sz="1200" dirty="0">
                <a:solidFill>
                  <a:srgbClr val="6E7591"/>
                </a:solidFill>
                <a:latin typeface="Courier New" pitchFamily="34" charset="0"/>
                <a:ea typeface="Courier New" pitchFamily="34" charset="-122"/>
                <a:cs typeface="Courier New" pitchFamily="34" charset="-120"/>
              </a:rPr>
              <a:t>completion_date</a:t>
            </a:r>
            <a:endParaRPr lang="en-US" sz="1200" dirty="0"/>
          </a:p>
        </p:txBody>
      </p:sp>
      <p:sp>
        <p:nvSpPr>
          <p:cNvPr id="14" name="Text 12"/>
          <p:cNvSpPr/>
          <p:nvPr/>
        </p:nvSpPr>
        <p:spPr>
          <a:xfrm>
            <a:off x="3291840" y="3954780"/>
            <a:ext cx="2651760" cy="329184"/>
          </a:xfrm>
          <a:prstGeom prst="rect">
            <a:avLst/>
          </a:prstGeom>
          <a:noFill/>
          <a:ln/>
        </p:spPr>
        <p:txBody>
          <a:bodyPr wrap="square" rtlCol="0" anchor="ctr"/>
          <a:lstStyle/>
          <a:p>
            <a:pPr indent="0" marL="0">
              <a:buNone/>
            </a:pPr>
            <a:r>
              <a:rPr lang="en-US" sz="1200" b="1" dirty="0">
                <a:solidFill>
                  <a:srgbClr val="23283B"/>
                </a:solidFill>
                <a:latin typeface="Courier New" pitchFamily="34" charset="0"/>
                <a:ea typeface="Courier New" pitchFamily="34" charset="-122"/>
                <a:cs typeface="Courier New" pitchFamily="34" charset="-120"/>
              </a:rPr>
              <a:t>NULL</a:t>
            </a:r>
            <a:endParaRPr lang="en-US" sz="1200" dirty="0"/>
          </a:p>
        </p:txBody>
      </p:sp>
      <p:sp>
        <p:nvSpPr>
          <p:cNvPr id="15" name="Text 13"/>
          <p:cNvSpPr/>
          <p:nvPr/>
        </p:nvSpPr>
        <p:spPr>
          <a:xfrm>
            <a:off x="777240" y="4297680"/>
            <a:ext cx="2468880" cy="329184"/>
          </a:xfrm>
          <a:prstGeom prst="rect">
            <a:avLst/>
          </a:prstGeom>
          <a:noFill/>
          <a:ln/>
        </p:spPr>
        <p:txBody>
          <a:bodyPr wrap="square" rtlCol="0" anchor="ctr"/>
          <a:lstStyle/>
          <a:p>
            <a:pPr indent="0" marL="0">
              <a:buNone/>
            </a:pPr>
            <a:r>
              <a:rPr lang="en-US" sz="1200" dirty="0">
                <a:solidFill>
                  <a:srgbClr val="6E7591"/>
                </a:solidFill>
                <a:latin typeface="Courier New" pitchFamily="34" charset="0"/>
                <a:ea typeface="Courier New" pitchFamily="34" charset="-122"/>
                <a:cs typeface="Courier New" pitchFamily="34" charset="-120"/>
              </a:rPr>
              <a:t>status</a:t>
            </a:r>
            <a:endParaRPr lang="en-US" sz="1200" dirty="0"/>
          </a:p>
        </p:txBody>
      </p:sp>
      <p:sp>
        <p:nvSpPr>
          <p:cNvPr id="16" name="Text 14"/>
          <p:cNvSpPr/>
          <p:nvPr/>
        </p:nvSpPr>
        <p:spPr>
          <a:xfrm>
            <a:off x="3291840" y="4297680"/>
            <a:ext cx="2651760" cy="329184"/>
          </a:xfrm>
          <a:prstGeom prst="rect">
            <a:avLst/>
          </a:prstGeom>
          <a:noFill/>
          <a:ln/>
        </p:spPr>
        <p:txBody>
          <a:bodyPr wrap="square" rtlCol="0" anchor="ctr"/>
          <a:lstStyle/>
          <a:p>
            <a:pPr indent="0" marL="0">
              <a:buNone/>
            </a:pPr>
            <a:r>
              <a:rPr lang="en-US" sz="1200" b="1" dirty="0">
                <a:solidFill>
                  <a:srgbClr val="23283B"/>
                </a:solidFill>
                <a:latin typeface="Courier New" pitchFamily="34" charset="0"/>
                <a:ea typeface="Courier New" pitchFamily="34" charset="-122"/>
                <a:cs typeface="Courier New" pitchFamily="34" charset="-120"/>
              </a:rPr>
              <a:t>Open</a:t>
            </a:r>
            <a:endParaRPr lang="en-US" sz="1200" dirty="0"/>
          </a:p>
        </p:txBody>
      </p:sp>
      <p:sp>
        <p:nvSpPr>
          <p:cNvPr id="17" name="Text 15"/>
          <p:cNvSpPr/>
          <p:nvPr/>
        </p:nvSpPr>
        <p:spPr>
          <a:xfrm>
            <a:off x="777240" y="4640580"/>
            <a:ext cx="2468880" cy="329184"/>
          </a:xfrm>
          <a:prstGeom prst="rect">
            <a:avLst/>
          </a:prstGeom>
          <a:noFill/>
          <a:ln/>
        </p:spPr>
        <p:txBody>
          <a:bodyPr wrap="square" rtlCol="0" anchor="ctr"/>
          <a:lstStyle/>
          <a:p>
            <a:pPr indent="0" marL="0">
              <a:buNone/>
            </a:pPr>
            <a:r>
              <a:rPr lang="en-US" sz="1200" dirty="0">
                <a:solidFill>
                  <a:srgbClr val="6E7591"/>
                </a:solidFill>
                <a:latin typeface="Courier New" pitchFamily="34" charset="0"/>
                <a:ea typeface="Courier New" pitchFamily="34" charset="-122"/>
                <a:cs typeface="Courier New" pitchFamily="34" charset="-120"/>
              </a:rPr>
              <a:t>action</a:t>
            </a:r>
            <a:endParaRPr lang="en-US" sz="1200" dirty="0"/>
          </a:p>
        </p:txBody>
      </p:sp>
      <p:sp>
        <p:nvSpPr>
          <p:cNvPr id="18" name="Text 16"/>
          <p:cNvSpPr/>
          <p:nvPr/>
        </p:nvSpPr>
        <p:spPr>
          <a:xfrm>
            <a:off x="3291840" y="4640580"/>
            <a:ext cx="2651760" cy="329184"/>
          </a:xfrm>
          <a:prstGeom prst="rect">
            <a:avLst/>
          </a:prstGeom>
          <a:noFill/>
          <a:ln/>
        </p:spPr>
        <p:txBody>
          <a:bodyPr wrap="square" rtlCol="0" anchor="ctr"/>
          <a:lstStyle/>
          <a:p>
            <a:pPr indent="0" marL="0">
              <a:buNone/>
            </a:pPr>
            <a:r>
              <a:rPr lang="en-US" sz="1200" b="1" dirty="0">
                <a:solidFill>
                  <a:srgbClr val="23283B"/>
                </a:solidFill>
                <a:latin typeface="Courier New" pitchFamily="34" charset="0"/>
                <a:ea typeface="Courier New" pitchFamily="34" charset="-122"/>
                <a:cs typeface="Courier New" pitchFamily="34" charset="-120"/>
              </a:rPr>
              <a:t>Dispatched</a:t>
            </a:r>
            <a:endParaRPr lang="en-US" sz="1200" dirty="0"/>
          </a:p>
        </p:txBody>
      </p:sp>
      <p:sp>
        <p:nvSpPr>
          <p:cNvPr id="19" name="Text 17"/>
          <p:cNvSpPr/>
          <p:nvPr/>
        </p:nvSpPr>
        <p:spPr>
          <a:xfrm>
            <a:off x="777240" y="4983480"/>
            <a:ext cx="2468880" cy="329184"/>
          </a:xfrm>
          <a:prstGeom prst="rect">
            <a:avLst/>
          </a:prstGeom>
          <a:noFill/>
          <a:ln/>
        </p:spPr>
        <p:txBody>
          <a:bodyPr wrap="square" rtlCol="0" anchor="ctr"/>
          <a:lstStyle/>
          <a:p>
            <a:pPr indent="0" marL="0">
              <a:buNone/>
            </a:pPr>
            <a:r>
              <a:rPr lang="en-US" sz="1200" dirty="0">
                <a:solidFill>
                  <a:srgbClr val="6E7591"/>
                </a:solidFill>
                <a:latin typeface="Courier New" pitchFamily="34" charset="0"/>
                <a:ea typeface="Courier New" pitchFamily="34" charset="-122"/>
                <a:cs typeface="Courier New" pitchFamily="34" charset="-120"/>
              </a:rPr>
              <a:t>sla_status</a:t>
            </a:r>
            <a:endParaRPr lang="en-US" sz="1200" dirty="0"/>
          </a:p>
        </p:txBody>
      </p:sp>
      <p:sp>
        <p:nvSpPr>
          <p:cNvPr id="20" name="Text 18"/>
          <p:cNvSpPr/>
          <p:nvPr/>
        </p:nvSpPr>
        <p:spPr>
          <a:xfrm>
            <a:off x="3291840" y="4983480"/>
            <a:ext cx="2651760" cy="329184"/>
          </a:xfrm>
          <a:prstGeom prst="rect">
            <a:avLst/>
          </a:prstGeom>
          <a:noFill/>
          <a:ln/>
        </p:spPr>
        <p:txBody>
          <a:bodyPr wrap="square" rtlCol="0" anchor="ctr"/>
          <a:lstStyle/>
          <a:p>
            <a:pPr indent="0" marL="0">
              <a:buNone/>
            </a:pPr>
            <a:r>
              <a:rPr lang="en-US" sz="1200" b="1" dirty="0">
                <a:solidFill>
                  <a:srgbClr val="23283B"/>
                </a:solidFill>
                <a:latin typeface="Courier New" pitchFamily="34" charset="0"/>
                <a:ea typeface="Courier New" pitchFamily="34" charset="-122"/>
                <a:cs typeface="Courier New" pitchFamily="34" charset="-120"/>
              </a:rPr>
              <a:t>Met</a:t>
            </a:r>
            <a:endParaRPr lang="en-US" sz="1200" dirty="0"/>
          </a:p>
        </p:txBody>
      </p:sp>
      <p:sp>
        <p:nvSpPr>
          <p:cNvPr id="21" name="Text 19"/>
          <p:cNvSpPr/>
          <p:nvPr/>
        </p:nvSpPr>
        <p:spPr>
          <a:xfrm>
            <a:off x="777240" y="5326380"/>
            <a:ext cx="2468880" cy="329184"/>
          </a:xfrm>
          <a:prstGeom prst="rect">
            <a:avLst/>
          </a:prstGeom>
          <a:noFill/>
          <a:ln/>
        </p:spPr>
        <p:txBody>
          <a:bodyPr wrap="square" rtlCol="0" anchor="ctr"/>
          <a:lstStyle/>
          <a:p>
            <a:pPr indent="0" marL="0">
              <a:buNone/>
            </a:pPr>
            <a:r>
              <a:rPr lang="en-US" sz="1200" dirty="0">
                <a:solidFill>
                  <a:srgbClr val="6E7591"/>
                </a:solidFill>
                <a:latin typeface="Courier New" pitchFamily="34" charset="0"/>
                <a:ea typeface="Courier New" pitchFamily="34" charset="-122"/>
                <a:cs typeface="Courier New" pitchFamily="34" charset="-120"/>
              </a:rPr>
              <a:t>active</a:t>
            </a:r>
            <a:endParaRPr lang="en-US" sz="1200" dirty="0"/>
          </a:p>
        </p:txBody>
      </p:sp>
      <p:sp>
        <p:nvSpPr>
          <p:cNvPr id="22" name="Text 20"/>
          <p:cNvSpPr/>
          <p:nvPr/>
        </p:nvSpPr>
        <p:spPr>
          <a:xfrm>
            <a:off x="3291840" y="5326380"/>
            <a:ext cx="2651760" cy="329184"/>
          </a:xfrm>
          <a:prstGeom prst="rect">
            <a:avLst/>
          </a:prstGeom>
          <a:noFill/>
          <a:ln/>
        </p:spPr>
        <p:txBody>
          <a:bodyPr wrap="square" rtlCol="0" anchor="ctr"/>
          <a:lstStyle/>
          <a:p>
            <a:pPr indent="0" marL="0">
              <a:buNone/>
            </a:pPr>
            <a:r>
              <a:rPr lang="en-US" sz="1200" b="1" dirty="0">
                <a:solidFill>
                  <a:srgbClr val="23283B"/>
                </a:solidFill>
                <a:latin typeface="Courier New" pitchFamily="34" charset="0"/>
                <a:ea typeface="Courier New" pitchFamily="34" charset="-122"/>
                <a:cs typeface="Courier New" pitchFamily="34" charset="-120"/>
              </a:rPr>
              <a:t>Yes</a:t>
            </a:r>
            <a:endParaRPr lang="en-US" sz="1200" dirty="0"/>
          </a:p>
        </p:txBody>
      </p:sp>
      <p:sp>
        <p:nvSpPr>
          <p:cNvPr id="23" name="Shape 21"/>
          <p:cNvSpPr/>
          <p:nvPr/>
        </p:nvSpPr>
        <p:spPr>
          <a:xfrm>
            <a:off x="6355080" y="2331720"/>
            <a:ext cx="5257800" cy="3429000"/>
          </a:xfrm>
          <a:prstGeom prst="roundRect">
            <a:avLst>
              <a:gd name="adj" fmla="val 2400"/>
            </a:avLst>
          </a:prstGeom>
          <a:solidFill>
            <a:srgbClr val="1E2761"/>
          </a:solidFill>
          <a:ln/>
        </p:spPr>
      </p:sp>
      <p:sp>
        <p:nvSpPr>
          <p:cNvPr id="24" name="Text 22"/>
          <p:cNvSpPr/>
          <p:nvPr/>
        </p:nvSpPr>
        <p:spPr>
          <a:xfrm>
            <a:off x="6583680" y="2514600"/>
            <a:ext cx="4754880" cy="320040"/>
          </a:xfrm>
          <a:prstGeom prst="rect">
            <a:avLst/>
          </a:prstGeom>
          <a:noFill/>
          <a:ln/>
        </p:spPr>
        <p:txBody>
          <a:bodyPr wrap="square" rtlCol="0" anchor="ctr"/>
          <a:lstStyle/>
          <a:p>
            <a:pPr indent="0" marL="0">
              <a:buNone/>
            </a:pPr>
            <a:r>
              <a:rPr lang="en-US" sz="1150" b="1" spc="100" kern="0" dirty="0">
                <a:solidFill>
                  <a:srgbClr val="CADCFC"/>
                </a:solidFill>
                <a:latin typeface="Calibri" pitchFamily="34" charset="0"/>
                <a:ea typeface="Calibri" pitchFamily="34" charset="-122"/>
                <a:cs typeface="Calibri" pitchFamily="34" charset="-120"/>
              </a:rPr>
              <a:t>READS vendor_jobs_input</a:t>
            </a:r>
            <a:endParaRPr lang="en-US" sz="1150" dirty="0"/>
          </a:p>
        </p:txBody>
      </p:sp>
      <p:sp>
        <p:nvSpPr>
          <p:cNvPr id="25" name="Shape 23"/>
          <p:cNvSpPr/>
          <p:nvPr/>
        </p:nvSpPr>
        <p:spPr>
          <a:xfrm>
            <a:off x="6583680" y="3090672"/>
            <a:ext cx="109728" cy="109728"/>
          </a:xfrm>
          <a:prstGeom prst="ellipse">
            <a:avLst/>
          </a:prstGeom>
          <a:solidFill>
            <a:srgbClr val="2E9E6D"/>
          </a:solidFill>
          <a:ln/>
        </p:spPr>
      </p:sp>
      <p:sp>
        <p:nvSpPr>
          <p:cNvPr id="26" name="Text 24"/>
          <p:cNvSpPr/>
          <p:nvPr/>
        </p:nvSpPr>
        <p:spPr>
          <a:xfrm>
            <a:off x="6812280" y="2971800"/>
            <a:ext cx="4663440" cy="292608"/>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SLA Compliance Agent</a:t>
            </a:r>
            <a:endParaRPr lang="en-US" sz="1300" dirty="0"/>
          </a:p>
        </p:txBody>
      </p:sp>
      <p:sp>
        <p:nvSpPr>
          <p:cNvPr id="27" name="Text 25"/>
          <p:cNvSpPr/>
          <p:nvPr/>
        </p:nvSpPr>
        <p:spPr>
          <a:xfrm>
            <a:off x="6812280" y="3273552"/>
            <a:ext cx="4663440" cy="457200"/>
          </a:xfrm>
          <a:prstGeom prst="rect">
            <a:avLst/>
          </a:prstGeom>
          <a:noFill/>
          <a:ln/>
        </p:spPr>
        <p:txBody>
          <a:bodyPr wrap="square" rtlCol="0" anchor="ctr"/>
          <a:lstStyle/>
          <a:p>
            <a:pPr indent="0" marL="0">
              <a:lnSpc>
                <a:spcPts val="1400"/>
              </a:lnSpc>
              <a:buNone/>
            </a:pPr>
            <a:r>
              <a:rPr lang="en-US" sz="1100" dirty="0">
                <a:solidFill>
                  <a:srgbClr val="AAB4E0"/>
                </a:solidFill>
                <a:latin typeface="Calibri" pitchFamily="34" charset="0"/>
                <a:ea typeface="Calibri" pitchFamily="34" charset="-122"/>
                <a:cs typeface="Calibri" pitchFamily="34" charset="-120"/>
              </a:rPr>
              <a:t>Monitors sla_status against commitments</a:t>
            </a:r>
            <a:endParaRPr lang="en-US" sz="1100" dirty="0"/>
          </a:p>
        </p:txBody>
      </p:sp>
      <p:sp>
        <p:nvSpPr>
          <p:cNvPr id="28" name="Shape 26"/>
          <p:cNvSpPr/>
          <p:nvPr/>
        </p:nvSpPr>
        <p:spPr>
          <a:xfrm>
            <a:off x="6583680" y="3986784"/>
            <a:ext cx="109728" cy="109728"/>
          </a:xfrm>
          <a:prstGeom prst="ellipse">
            <a:avLst/>
          </a:prstGeom>
          <a:solidFill>
            <a:srgbClr val="2E9E6D"/>
          </a:solidFill>
          <a:ln/>
        </p:spPr>
      </p:sp>
      <p:sp>
        <p:nvSpPr>
          <p:cNvPr id="29" name="Text 27"/>
          <p:cNvSpPr/>
          <p:nvPr/>
        </p:nvSpPr>
        <p:spPr>
          <a:xfrm>
            <a:off x="6812280" y="3867912"/>
            <a:ext cx="4663440" cy="292608"/>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Escalation Agent</a:t>
            </a:r>
            <a:endParaRPr lang="en-US" sz="1300" dirty="0"/>
          </a:p>
        </p:txBody>
      </p:sp>
      <p:sp>
        <p:nvSpPr>
          <p:cNvPr id="30" name="Text 28"/>
          <p:cNvSpPr/>
          <p:nvPr/>
        </p:nvSpPr>
        <p:spPr>
          <a:xfrm>
            <a:off x="6812280" y="4169664"/>
            <a:ext cx="4663440" cy="457200"/>
          </a:xfrm>
          <a:prstGeom prst="rect">
            <a:avLst/>
          </a:prstGeom>
          <a:noFill/>
          <a:ln/>
        </p:spPr>
        <p:txBody>
          <a:bodyPr wrap="square" rtlCol="0" anchor="ctr"/>
          <a:lstStyle/>
          <a:p>
            <a:pPr indent="0" marL="0">
              <a:lnSpc>
                <a:spcPts val="1400"/>
              </a:lnSpc>
              <a:buNone/>
            </a:pPr>
            <a:r>
              <a:rPr lang="en-US" sz="1100" dirty="0">
                <a:solidFill>
                  <a:srgbClr val="AAB4E0"/>
                </a:solidFill>
                <a:latin typeface="Calibri" pitchFamily="34" charset="0"/>
                <a:ea typeface="Calibri" pitchFamily="34" charset="-122"/>
                <a:cs typeface="Calibri" pitchFamily="34" charset="-120"/>
              </a:rPr>
              <a:t>Flags jobs falling behind schedule</a:t>
            </a:r>
            <a:endParaRPr lang="en-US" sz="1100" dirty="0"/>
          </a:p>
        </p:txBody>
      </p:sp>
      <p:sp>
        <p:nvSpPr>
          <p:cNvPr id="31" name="Shape 29"/>
          <p:cNvSpPr/>
          <p:nvPr/>
        </p:nvSpPr>
        <p:spPr>
          <a:xfrm>
            <a:off x="6583680" y="4882896"/>
            <a:ext cx="109728" cy="109728"/>
          </a:xfrm>
          <a:prstGeom prst="ellipse">
            <a:avLst/>
          </a:prstGeom>
          <a:solidFill>
            <a:srgbClr val="2E9E6D"/>
          </a:solidFill>
          <a:ln/>
        </p:spPr>
      </p:sp>
      <p:sp>
        <p:nvSpPr>
          <p:cNvPr id="32" name="Text 30"/>
          <p:cNvSpPr/>
          <p:nvPr/>
        </p:nvSpPr>
        <p:spPr>
          <a:xfrm>
            <a:off x="6812280" y="4764024"/>
            <a:ext cx="4663440" cy="292608"/>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Vendor Performance Agent</a:t>
            </a:r>
            <a:endParaRPr lang="en-US" sz="1300" dirty="0"/>
          </a:p>
        </p:txBody>
      </p:sp>
      <p:sp>
        <p:nvSpPr>
          <p:cNvPr id="33" name="Text 31"/>
          <p:cNvSpPr/>
          <p:nvPr/>
        </p:nvSpPr>
        <p:spPr>
          <a:xfrm>
            <a:off x="6812280" y="5065776"/>
            <a:ext cx="4663440" cy="457200"/>
          </a:xfrm>
          <a:prstGeom prst="rect">
            <a:avLst/>
          </a:prstGeom>
          <a:noFill/>
          <a:ln/>
        </p:spPr>
        <p:txBody>
          <a:bodyPr wrap="square" rtlCol="0" anchor="ctr"/>
          <a:lstStyle/>
          <a:p>
            <a:pPr indent="0" marL="0">
              <a:lnSpc>
                <a:spcPts val="1400"/>
              </a:lnSpc>
              <a:buNone/>
            </a:pPr>
            <a:r>
              <a:rPr lang="en-US" sz="1100" dirty="0">
                <a:solidFill>
                  <a:srgbClr val="AAB4E0"/>
                </a:solidFill>
                <a:latin typeface="Calibri" pitchFamily="34" charset="0"/>
                <a:ea typeface="Calibri" pitchFamily="34" charset="-122"/>
                <a:cs typeface="Calibri" pitchFamily="34" charset="-120"/>
              </a:rPr>
              <a:t>Scores vendors on completed jobs</a:t>
            </a:r>
            <a:endParaRPr lang="en-US" sz="1100" dirty="0"/>
          </a:p>
        </p:txBody>
      </p:sp>
      <p:sp>
        <p:nvSpPr>
          <p:cNvPr id="34" name="Text 32"/>
          <p:cNvSpPr/>
          <p:nvPr/>
        </p:nvSpPr>
        <p:spPr>
          <a:xfrm>
            <a:off x="11548872" y="6400800"/>
            <a:ext cx="365760" cy="274320"/>
          </a:xfrm>
          <a:prstGeom prst="rect">
            <a:avLst/>
          </a:prstGeom>
          <a:noFill/>
          <a:ln/>
        </p:spPr>
        <p:txBody>
          <a:bodyPr wrap="square" rtlCol="0" anchor="ctr"/>
          <a:lstStyle/>
          <a:p>
            <a:pPr algn="r" indent="0" marL="0">
              <a:buNone/>
            </a:pPr>
            <a:r>
              <a:rPr lang="en-US" sz="1000" dirty="0">
                <a:solidFill>
                  <a:srgbClr val="6E7591"/>
                </a:solidFill>
                <a:latin typeface="Calibri" pitchFamily="34" charset="0"/>
                <a:ea typeface="Calibri" pitchFamily="34" charset="-122"/>
                <a:cs typeface="Calibri" pitchFamily="34" charset="-120"/>
              </a:rPr>
              <a:t>8</a:t>
            </a:r>
            <a:endParaRPr lang="en-US" sz="1000" dirty="0"/>
          </a:p>
        </p:txBody>
      </p:sp>
      <p:sp>
        <p:nvSpPr>
          <p:cNvPr id="35" name="Text 33"/>
          <p:cNvSpPr/>
          <p:nvPr/>
        </p:nvSpPr>
        <p:spPr>
          <a:xfrm>
            <a:off x="457200" y="6400800"/>
            <a:ext cx="5486400" cy="274320"/>
          </a:xfrm>
          <a:prstGeom prst="rect">
            <a:avLst/>
          </a:prstGeom>
          <a:noFill/>
          <a:ln/>
        </p:spPr>
        <p:txBody>
          <a:bodyPr wrap="square" rtlCol="0" anchor="ctr"/>
          <a:lstStyle/>
          <a:p>
            <a:pPr indent="0" marL="0">
              <a:buNone/>
            </a:pPr>
            <a:r>
              <a:rPr lang="en-US" sz="1000" dirty="0">
                <a:solidFill>
                  <a:srgbClr val="6E7591"/>
                </a:solidFill>
                <a:latin typeface="Calibri" pitchFamily="34" charset="0"/>
                <a:ea typeface="Calibri" pitchFamily="34" charset="-122"/>
                <a:cs typeface="Calibri" pitchFamily="34" charset="-120"/>
              </a:rPr>
              <a:t>Dispatch Agent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rtlCol="0" anchor="ctr"/>
          <a:lstStyle/>
          <a:p>
            <a:pPr indent="0" marL="0">
              <a:buNone/>
            </a:pPr>
            <a:r>
              <a:rPr lang="en-US" sz="1200" b="1" spc="200" kern="0" dirty="0">
                <a:solidFill>
                  <a:srgbClr val="6E7591"/>
                </a:solidFill>
                <a:latin typeface="Calibri" pitchFamily="34" charset="0"/>
                <a:ea typeface="Calibri" pitchFamily="34" charset="-122"/>
                <a:cs typeface="Calibri" pitchFamily="34" charset="-120"/>
              </a:rPr>
              <a:t>STATE MACHINE</a:t>
            </a:r>
            <a:endParaRPr lang="en-US" sz="1200" dirty="0"/>
          </a:p>
        </p:txBody>
      </p:sp>
      <p:sp>
        <p:nvSpPr>
          <p:cNvPr id="3" name="Text 1"/>
          <p:cNvSpPr/>
          <p:nvPr/>
        </p:nvSpPr>
        <p:spPr>
          <a:xfrm>
            <a:off x="548640" y="621792"/>
            <a:ext cx="11064240" cy="685800"/>
          </a:xfrm>
          <a:prstGeom prst="rect">
            <a:avLst/>
          </a:prstGeom>
          <a:noFill/>
          <a:ln/>
        </p:spPr>
        <p:txBody>
          <a:bodyPr wrap="square"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Work Order Lifecycle</a:t>
            </a:r>
            <a:endParaRPr lang="en-US" sz="3000" dirty="0"/>
          </a:p>
        </p:txBody>
      </p:sp>
      <p:sp>
        <p:nvSpPr>
          <p:cNvPr id="4" name="Text 2"/>
          <p:cNvSpPr/>
          <p:nvPr/>
        </p:nvSpPr>
        <p:spPr>
          <a:xfrm>
            <a:off x="548640" y="1508760"/>
            <a:ext cx="11064240" cy="457200"/>
          </a:xfrm>
          <a:prstGeom prst="rect">
            <a:avLst/>
          </a:prstGeom>
          <a:noFill/>
          <a:ln/>
        </p:spPr>
        <p:txBody>
          <a:bodyPr wrap="square" rtlCol="0" anchor="ctr"/>
          <a:lstStyle/>
          <a:p>
            <a:pPr indent="0" marL="0">
              <a:buNone/>
            </a:pPr>
            <a:r>
              <a:rPr lang="en-US" sz="1350" dirty="0">
                <a:solidFill>
                  <a:srgbClr val="23283B"/>
                </a:solidFill>
                <a:latin typeface="Calibri" pitchFamily="34" charset="0"/>
                <a:ea typeface="Calibri" pitchFamily="34" charset="-122"/>
                <a:cs typeface="Calibri" pitchFamily="34" charset="-120"/>
              </a:rPr>
              <a:t>Once created, a work order can only move through these transitions. Any other jump — e.g. Scheduled straight to Completed — is rejected.</a:t>
            </a:r>
            <a:endParaRPr lang="en-US" sz="1350" dirty="0"/>
          </a:p>
        </p:txBody>
      </p:sp>
      <p:sp>
        <p:nvSpPr>
          <p:cNvPr id="5" name="Shape 3"/>
          <p:cNvSpPr/>
          <p:nvPr/>
        </p:nvSpPr>
        <p:spPr>
          <a:xfrm>
            <a:off x="914400" y="2468880"/>
            <a:ext cx="2377440" cy="1005840"/>
          </a:xfrm>
          <a:prstGeom prst="roundRect">
            <a:avLst>
              <a:gd name="adj" fmla="val 9091"/>
            </a:avLst>
          </a:prstGeom>
          <a:solidFill>
            <a:srgbClr val="1E2761"/>
          </a:solidFill>
          <a:ln/>
        </p:spPr>
      </p:sp>
      <p:sp>
        <p:nvSpPr>
          <p:cNvPr id="6" name="Text 4"/>
          <p:cNvSpPr/>
          <p:nvPr/>
        </p:nvSpPr>
        <p:spPr>
          <a:xfrm>
            <a:off x="914400" y="2468880"/>
            <a:ext cx="2377440" cy="100584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Scheduled</a:t>
            </a:r>
            <a:endParaRPr lang="en-US" sz="1600" dirty="0"/>
          </a:p>
        </p:txBody>
      </p:sp>
      <p:sp>
        <p:nvSpPr>
          <p:cNvPr id="7" name="Shape 5"/>
          <p:cNvSpPr/>
          <p:nvPr/>
        </p:nvSpPr>
        <p:spPr>
          <a:xfrm>
            <a:off x="4572000" y="2468880"/>
            <a:ext cx="2377440" cy="1005840"/>
          </a:xfrm>
          <a:prstGeom prst="roundRect">
            <a:avLst>
              <a:gd name="adj" fmla="val 9091"/>
            </a:avLst>
          </a:prstGeom>
          <a:solidFill>
            <a:srgbClr val="D98A2B"/>
          </a:solidFill>
          <a:ln/>
        </p:spPr>
      </p:sp>
      <p:sp>
        <p:nvSpPr>
          <p:cNvPr id="8" name="Text 6"/>
          <p:cNvSpPr/>
          <p:nvPr/>
        </p:nvSpPr>
        <p:spPr>
          <a:xfrm>
            <a:off x="4572000" y="2468880"/>
            <a:ext cx="2377440" cy="100584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In Progress</a:t>
            </a:r>
            <a:endParaRPr lang="en-US" sz="1600" dirty="0"/>
          </a:p>
        </p:txBody>
      </p:sp>
      <p:sp>
        <p:nvSpPr>
          <p:cNvPr id="9" name="Shape 7"/>
          <p:cNvSpPr/>
          <p:nvPr/>
        </p:nvSpPr>
        <p:spPr>
          <a:xfrm>
            <a:off x="8229600" y="2468880"/>
            <a:ext cx="2377440" cy="1005840"/>
          </a:xfrm>
          <a:prstGeom prst="roundRect">
            <a:avLst>
              <a:gd name="adj" fmla="val 9091"/>
            </a:avLst>
          </a:prstGeom>
          <a:solidFill>
            <a:srgbClr val="2E9E6D"/>
          </a:solidFill>
          <a:ln/>
        </p:spPr>
      </p:sp>
      <p:sp>
        <p:nvSpPr>
          <p:cNvPr id="10" name="Text 8"/>
          <p:cNvSpPr/>
          <p:nvPr/>
        </p:nvSpPr>
        <p:spPr>
          <a:xfrm>
            <a:off x="8229600" y="2468880"/>
            <a:ext cx="2377440" cy="100584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Completed</a:t>
            </a:r>
            <a:endParaRPr lang="en-US" sz="1600" dirty="0"/>
          </a:p>
        </p:txBody>
      </p:sp>
      <p:sp>
        <p:nvSpPr>
          <p:cNvPr id="11" name="Text 9"/>
          <p:cNvSpPr/>
          <p:nvPr/>
        </p:nvSpPr>
        <p:spPr>
          <a:xfrm>
            <a:off x="3291840" y="2468880"/>
            <a:ext cx="1280160" cy="1005840"/>
          </a:xfrm>
          <a:prstGeom prst="rect">
            <a:avLst/>
          </a:prstGeom>
          <a:noFill/>
          <a:ln/>
        </p:spPr>
        <p:txBody>
          <a:bodyPr wrap="square" rtlCol="0" anchor="ctr"/>
          <a:lstStyle/>
          <a:p>
            <a:pPr algn="ctr" indent="0" marL="0">
              <a:buNone/>
            </a:pPr>
            <a:r>
              <a:rPr lang="en-US" sz="2600" dirty="0">
                <a:solidFill>
                  <a:srgbClr val="6E7591"/>
                </a:solidFill>
                <a:latin typeface="Calibri" pitchFamily="34" charset="0"/>
                <a:ea typeface="Calibri" pitchFamily="34" charset="-122"/>
                <a:cs typeface="Calibri" pitchFamily="34" charset="-120"/>
              </a:rPr>
              <a:t>→</a:t>
            </a:r>
            <a:endParaRPr lang="en-US" sz="2600" dirty="0"/>
          </a:p>
        </p:txBody>
      </p:sp>
      <p:sp>
        <p:nvSpPr>
          <p:cNvPr id="12" name="Text 10"/>
          <p:cNvSpPr/>
          <p:nvPr/>
        </p:nvSpPr>
        <p:spPr>
          <a:xfrm>
            <a:off x="6949440" y="2468880"/>
            <a:ext cx="1280160" cy="1005840"/>
          </a:xfrm>
          <a:prstGeom prst="rect">
            <a:avLst/>
          </a:prstGeom>
          <a:noFill/>
          <a:ln/>
        </p:spPr>
        <p:txBody>
          <a:bodyPr wrap="square" rtlCol="0" anchor="ctr"/>
          <a:lstStyle/>
          <a:p>
            <a:pPr algn="ctr" indent="0" marL="0">
              <a:buNone/>
            </a:pPr>
            <a:r>
              <a:rPr lang="en-US" sz="2600" dirty="0">
                <a:solidFill>
                  <a:srgbClr val="6E7591"/>
                </a:solidFill>
                <a:latin typeface="Calibri" pitchFamily="34" charset="0"/>
                <a:ea typeface="Calibri" pitchFamily="34" charset="-122"/>
                <a:cs typeface="Calibri" pitchFamily="34" charset="-120"/>
              </a:rPr>
              <a:t>→</a:t>
            </a:r>
            <a:endParaRPr lang="en-US" sz="2600" dirty="0"/>
          </a:p>
        </p:txBody>
      </p:sp>
      <p:sp>
        <p:nvSpPr>
          <p:cNvPr id="13" name="Shape 11"/>
          <p:cNvSpPr/>
          <p:nvPr/>
        </p:nvSpPr>
        <p:spPr>
          <a:xfrm>
            <a:off x="4572000" y="4206240"/>
            <a:ext cx="2377440" cy="1005840"/>
          </a:xfrm>
          <a:prstGeom prst="roundRect">
            <a:avLst>
              <a:gd name="adj" fmla="val 9091"/>
            </a:avLst>
          </a:prstGeom>
          <a:solidFill>
            <a:srgbClr val="C0435A"/>
          </a:solidFill>
          <a:ln/>
        </p:spPr>
      </p:sp>
      <p:sp>
        <p:nvSpPr>
          <p:cNvPr id="14" name="Text 12"/>
          <p:cNvSpPr/>
          <p:nvPr/>
        </p:nvSpPr>
        <p:spPr>
          <a:xfrm>
            <a:off x="4572000" y="4206240"/>
            <a:ext cx="2377440" cy="100584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Canceled</a:t>
            </a:r>
            <a:endParaRPr lang="en-US" sz="1600" dirty="0"/>
          </a:p>
        </p:txBody>
      </p:sp>
      <p:sp>
        <p:nvSpPr>
          <p:cNvPr id="15" name="Shape 13"/>
          <p:cNvSpPr/>
          <p:nvPr/>
        </p:nvSpPr>
        <p:spPr>
          <a:xfrm>
            <a:off x="2103120" y="3474720"/>
            <a:ext cx="0" cy="365760"/>
          </a:xfrm>
          <a:prstGeom prst="line">
            <a:avLst/>
          </a:prstGeom>
          <a:noFill/>
          <a:ln w="19050">
            <a:solidFill>
              <a:srgbClr val="B7BDD6"/>
            </a:solidFill>
            <a:prstDash val="dash"/>
          </a:ln>
        </p:spPr>
      </p:sp>
      <p:sp>
        <p:nvSpPr>
          <p:cNvPr id="16" name="Shape 14"/>
          <p:cNvSpPr/>
          <p:nvPr/>
        </p:nvSpPr>
        <p:spPr>
          <a:xfrm>
            <a:off x="2103120" y="3840480"/>
            <a:ext cx="3657600" cy="0"/>
          </a:xfrm>
          <a:prstGeom prst="line">
            <a:avLst/>
          </a:prstGeom>
          <a:noFill/>
          <a:ln w="19050">
            <a:solidFill>
              <a:srgbClr val="B7BDD6"/>
            </a:solidFill>
            <a:prstDash val="dash"/>
          </a:ln>
        </p:spPr>
      </p:sp>
      <p:sp>
        <p:nvSpPr>
          <p:cNvPr id="17" name="Shape 15"/>
          <p:cNvSpPr/>
          <p:nvPr/>
        </p:nvSpPr>
        <p:spPr>
          <a:xfrm>
            <a:off x="5760720" y="3840480"/>
            <a:ext cx="0" cy="365760"/>
          </a:xfrm>
          <a:prstGeom prst="line">
            <a:avLst/>
          </a:prstGeom>
          <a:noFill/>
          <a:ln w="19050">
            <a:solidFill>
              <a:srgbClr val="B7BDD6"/>
            </a:solidFill>
            <a:prstDash val="dash"/>
            <a:tailEnd type="triangle"/>
          </a:ln>
        </p:spPr>
      </p:sp>
      <p:sp>
        <p:nvSpPr>
          <p:cNvPr id="18" name="Shape 16"/>
          <p:cNvSpPr/>
          <p:nvPr/>
        </p:nvSpPr>
        <p:spPr>
          <a:xfrm>
            <a:off x="5760720" y="3474720"/>
            <a:ext cx="0" cy="731520"/>
          </a:xfrm>
          <a:prstGeom prst="line">
            <a:avLst/>
          </a:prstGeom>
          <a:noFill/>
          <a:ln w="19050">
            <a:solidFill>
              <a:srgbClr val="B7BDD6"/>
            </a:solidFill>
            <a:prstDash val="dash"/>
            <a:tailEnd type="triangle"/>
          </a:ln>
        </p:spPr>
      </p:sp>
      <p:sp>
        <p:nvSpPr>
          <p:cNvPr id="19" name="Text 17"/>
          <p:cNvSpPr/>
          <p:nvPr/>
        </p:nvSpPr>
        <p:spPr>
          <a:xfrm>
            <a:off x="914400" y="5394960"/>
            <a:ext cx="6035040" cy="320040"/>
          </a:xfrm>
          <a:prstGeom prst="rect">
            <a:avLst/>
          </a:prstGeom>
          <a:noFill/>
          <a:ln/>
        </p:spPr>
        <p:txBody>
          <a:bodyPr wrap="square" rtlCol="0" anchor="ctr"/>
          <a:lstStyle/>
          <a:p>
            <a:pPr indent="0" marL="0">
              <a:buNone/>
            </a:pPr>
            <a:r>
              <a:rPr lang="en-US" sz="1150" i="1" dirty="0">
                <a:solidFill>
                  <a:srgbClr val="6E7591"/>
                </a:solidFill>
                <a:latin typeface="Calibri" pitchFamily="34" charset="0"/>
                <a:ea typeface="Calibri" pitchFamily="34" charset="-122"/>
                <a:cs typeface="Calibri" pitchFamily="34" charset="-120"/>
              </a:rPr>
              <a:t>Scheduled or In Progress can both cancel directly</a:t>
            </a:r>
            <a:endParaRPr lang="en-US" sz="1150" dirty="0"/>
          </a:p>
        </p:txBody>
      </p:sp>
      <p:sp>
        <p:nvSpPr>
          <p:cNvPr id="20" name="Shape 18"/>
          <p:cNvSpPr/>
          <p:nvPr/>
        </p:nvSpPr>
        <p:spPr>
          <a:xfrm>
            <a:off x="8229600" y="4206240"/>
            <a:ext cx="3383280" cy="1371600"/>
          </a:xfrm>
          <a:prstGeom prst="roundRect">
            <a:avLst>
              <a:gd name="adj" fmla="val 6000"/>
            </a:avLst>
          </a:prstGeom>
          <a:solidFill>
            <a:srgbClr val="F4F6FC"/>
          </a:solidFill>
          <a:ln w="12700">
            <a:solidFill>
              <a:srgbClr val="E3E7F5"/>
            </a:solidFill>
            <a:prstDash val="solid"/>
          </a:ln>
        </p:spPr>
      </p:sp>
      <p:sp>
        <p:nvSpPr>
          <p:cNvPr id="21" name="Text 19"/>
          <p:cNvSpPr/>
          <p:nvPr/>
        </p:nvSpPr>
        <p:spPr>
          <a:xfrm>
            <a:off x="8458200" y="4343400"/>
            <a:ext cx="2926080" cy="274320"/>
          </a:xfrm>
          <a:prstGeom prst="rect">
            <a:avLst/>
          </a:prstGeom>
          <a:noFill/>
          <a:ln/>
        </p:spPr>
        <p:txBody>
          <a:bodyPr wrap="square" rtlCol="0" anchor="ctr"/>
          <a:lstStyle/>
          <a:p>
            <a:pPr indent="0" marL="0">
              <a:buNone/>
            </a:pPr>
            <a:r>
              <a:rPr lang="en-US" sz="1000" b="1" spc="150" kern="0" dirty="0">
                <a:solidFill>
                  <a:srgbClr val="C0435A"/>
                </a:solidFill>
                <a:latin typeface="Calibri" pitchFamily="34" charset="0"/>
                <a:ea typeface="Calibri" pitchFamily="34" charset="-122"/>
                <a:cs typeface="Calibri" pitchFamily="34" charset="-120"/>
              </a:rPr>
              <a:t>INVALID EXAMPLE</a:t>
            </a:r>
            <a:endParaRPr lang="en-US" sz="1000" dirty="0"/>
          </a:p>
        </p:txBody>
      </p:sp>
      <p:sp>
        <p:nvSpPr>
          <p:cNvPr id="22" name="Text 20"/>
          <p:cNvSpPr/>
          <p:nvPr/>
        </p:nvSpPr>
        <p:spPr>
          <a:xfrm>
            <a:off x="8458200" y="4617720"/>
            <a:ext cx="2926080" cy="914400"/>
          </a:xfrm>
          <a:prstGeom prst="rect">
            <a:avLst/>
          </a:prstGeom>
          <a:noFill/>
          <a:ln/>
        </p:spPr>
        <p:txBody>
          <a:bodyPr wrap="square" rtlCol="0" anchor="ctr"/>
          <a:lstStyle/>
          <a:p>
            <a:pPr indent="0" marL="0">
              <a:lnSpc>
                <a:spcPts val="1600"/>
              </a:lnSpc>
              <a:buNone/>
            </a:pPr>
            <a:r>
              <a:rPr lang="en-US" sz="1200" dirty="0">
                <a:solidFill>
                  <a:srgbClr val="23283B"/>
                </a:solidFill>
                <a:latin typeface="Courier New" pitchFamily="34" charset="0"/>
                <a:ea typeface="Courier New" pitchFamily="34" charset="-122"/>
                <a:cs typeface="Courier New" pitchFamily="34" charset="-120"/>
              </a:rPr>
              <a:t>Scheduled → Completed</a:t>
            </a:r>
            <a:endParaRPr lang="en-US" sz="1200" dirty="0"/>
          </a:p>
          <a:p>
            <a:pPr indent="0" marL="0">
              <a:lnSpc>
                <a:spcPts val="1600"/>
              </a:lnSpc>
              <a:buNone/>
            </a:pPr>
            <a:r>
              <a:rPr lang="en-US" sz="1200" dirty="0">
                <a:solidFill>
                  <a:srgbClr val="23283B"/>
                </a:solidFill>
                <a:latin typeface="Courier New" pitchFamily="34" charset="0"/>
                <a:ea typeface="Courier New" pitchFamily="34" charset="-122"/>
                <a:cs typeface="Courier New" pitchFamily="34" charset="-120"/>
              </a:rPr>
              <a:t>is rejected — must pass</a:t>
            </a:r>
            <a:endParaRPr lang="en-US" sz="1200" dirty="0"/>
          </a:p>
          <a:p>
            <a:pPr indent="0" marL="0">
              <a:lnSpc>
                <a:spcPts val="1600"/>
              </a:lnSpc>
              <a:buNone/>
            </a:pPr>
            <a:r>
              <a:rPr lang="en-US" sz="1200" dirty="0">
                <a:solidFill>
                  <a:srgbClr val="23283B"/>
                </a:solidFill>
                <a:latin typeface="Courier New" pitchFamily="34" charset="0"/>
                <a:ea typeface="Courier New" pitchFamily="34" charset="-122"/>
                <a:cs typeface="Courier New" pitchFamily="34" charset="-120"/>
              </a:rPr>
              <a:t>through In Progress.</a:t>
            </a:r>
            <a:endParaRPr lang="en-US" sz="1200" dirty="0"/>
          </a:p>
        </p:txBody>
      </p:sp>
      <p:sp>
        <p:nvSpPr>
          <p:cNvPr id="23" name="Text 21"/>
          <p:cNvSpPr/>
          <p:nvPr/>
        </p:nvSpPr>
        <p:spPr>
          <a:xfrm>
            <a:off x="11548872" y="6400800"/>
            <a:ext cx="365760" cy="274320"/>
          </a:xfrm>
          <a:prstGeom prst="rect">
            <a:avLst/>
          </a:prstGeom>
          <a:noFill/>
          <a:ln/>
        </p:spPr>
        <p:txBody>
          <a:bodyPr wrap="square" rtlCol="0" anchor="ctr"/>
          <a:lstStyle/>
          <a:p>
            <a:pPr algn="r" indent="0" marL="0">
              <a:buNone/>
            </a:pPr>
            <a:r>
              <a:rPr lang="en-US" sz="1000" dirty="0">
                <a:solidFill>
                  <a:srgbClr val="6E7591"/>
                </a:solidFill>
                <a:latin typeface="Calibri" pitchFamily="34" charset="0"/>
                <a:ea typeface="Calibri" pitchFamily="34" charset="-122"/>
                <a:cs typeface="Calibri" pitchFamily="34" charset="-120"/>
              </a:rPr>
              <a:t>9</a:t>
            </a:r>
            <a:endParaRPr lang="en-US" sz="1000" dirty="0"/>
          </a:p>
        </p:txBody>
      </p:sp>
      <p:sp>
        <p:nvSpPr>
          <p:cNvPr id="24" name="Text 22"/>
          <p:cNvSpPr/>
          <p:nvPr/>
        </p:nvSpPr>
        <p:spPr>
          <a:xfrm>
            <a:off x="457200" y="6400800"/>
            <a:ext cx="5486400" cy="274320"/>
          </a:xfrm>
          <a:prstGeom prst="rect">
            <a:avLst/>
          </a:prstGeom>
          <a:noFill/>
          <a:ln/>
        </p:spPr>
        <p:txBody>
          <a:bodyPr wrap="square" rtlCol="0" anchor="ctr"/>
          <a:lstStyle/>
          <a:p>
            <a:pPr indent="0" marL="0">
              <a:buNone/>
            </a:pPr>
            <a:r>
              <a:rPr lang="en-US" sz="1000" dirty="0">
                <a:solidFill>
                  <a:srgbClr val="6E7591"/>
                </a:solidFill>
                <a:latin typeface="Calibri" pitchFamily="34" charset="0"/>
                <a:ea typeface="Calibri" pitchFamily="34" charset="-122"/>
                <a:cs typeface="Calibri" pitchFamily="34" charset="-120"/>
              </a:rPr>
              <a:t>Dispatch Agent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rtlCol="0" anchor="ctr"/>
          <a:lstStyle/>
          <a:p>
            <a:pPr indent="0" marL="0">
              <a:buNone/>
            </a:pPr>
            <a:r>
              <a:rPr lang="en-US" sz="1200" b="1" spc="200" kern="0" dirty="0">
                <a:solidFill>
                  <a:srgbClr val="6E7591"/>
                </a:solidFill>
                <a:latin typeface="Calibri" pitchFamily="34" charset="0"/>
                <a:ea typeface="Calibri" pitchFamily="34" charset="-122"/>
                <a:cs typeface="Calibri" pitchFamily="34" charset="-120"/>
              </a:rPr>
              <a:t>DATA FLOW</a:t>
            </a:r>
            <a:endParaRPr lang="en-US" sz="1200" dirty="0"/>
          </a:p>
        </p:txBody>
      </p:sp>
      <p:sp>
        <p:nvSpPr>
          <p:cNvPr id="3" name="Text 1"/>
          <p:cNvSpPr/>
          <p:nvPr/>
        </p:nvSpPr>
        <p:spPr>
          <a:xfrm>
            <a:off x="548640" y="621792"/>
            <a:ext cx="11064240" cy="685800"/>
          </a:xfrm>
          <a:prstGeom prst="rect">
            <a:avLst/>
          </a:prstGeom>
          <a:noFill/>
          <a:ln/>
        </p:spPr>
        <p:txBody>
          <a:bodyPr wrap="square"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What Updates on Each Transition</a:t>
            </a:r>
            <a:endParaRPr lang="en-US" sz="3000" dirty="0"/>
          </a:p>
        </p:txBody>
      </p:sp>
      <p:sp>
        <p:nvSpPr>
          <p:cNvPr id="4" name="Text 2"/>
          <p:cNvSpPr/>
          <p:nvPr/>
        </p:nvSpPr>
        <p:spPr>
          <a:xfrm>
            <a:off x="548640" y="1508760"/>
            <a:ext cx="11064240" cy="365760"/>
          </a:xfrm>
          <a:prstGeom prst="rect">
            <a:avLst/>
          </a:prstGeom>
          <a:noFill/>
          <a:ln/>
        </p:spPr>
        <p:txBody>
          <a:bodyPr wrap="square" rtlCol="0" anchor="ctr"/>
          <a:lstStyle/>
          <a:p>
            <a:pPr indent="0" marL="0">
              <a:buNone/>
            </a:pPr>
            <a:r>
              <a:rPr lang="en-US" sz="1350" dirty="0">
                <a:solidFill>
                  <a:srgbClr val="23283B"/>
                </a:solidFill>
                <a:latin typeface="Calibri" pitchFamily="34" charset="0"/>
                <a:ea typeface="Calibri" pitchFamily="34" charset="-122"/>
                <a:cs typeface="Calibri" pitchFamily="34" charset="-120"/>
              </a:rPr>
              <a:t>Every status change touches the same three tables — only the values differ.</a:t>
            </a:r>
            <a:endParaRPr lang="en-US" sz="13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2057400"/>
          <a:ext cx="11064240" cy="3931920"/>
        </p:xfrm>
        <a:graphic>
          <a:graphicData uri="http://schemas.openxmlformats.org/drawingml/2006/table">
            <a:tbl>
              <a:tblPr/>
              <a:tblGrid>
                <a:gridCol w="2286000"/>
                <a:gridCol w="2926080"/>
                <a:gridCol w="2926080"/>
                <a:gridCol w="2926080"/>
              </a:tblGrid>
              <a:tr h="982980">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Transition</a:t>
                      </a:r>
                      <a:endParaRPr lang="en-US" sz="1200" dirty="0">
                        <a:latin typeface="Calibri" charset="0"/>
                        <a:ea typeface="Calibri" charset="0"/>
                        <a:cs typeface="Calibri" charset="0"/>
                      </a:endParaRPr>
                    </a:p>
                  </a:txBody>
                  <a:tcPr marL="101600" marR="101600" marT="76200" marB="76200" anchor="ctr">
                    <a:lnL w="12700" cap="flat" cmpd="sng" algn="ctr">
                      <a:solidFill>
                        <a:srgbClr val="E3E7F5"/>
                      </a:solidFill>
                      <a:prstDash val="solid"/>
                      <a:round/>
                      <a:headEnd type="none" w="med" len="med"/>
                      <a:tailEnd type="none" w="med" len="med"/>
                    </a:lnL>
                    <a:lnR w="12700" cap="flat" cmpd="sng" algn="ctr">
                      <a:solidFill>
                        <a:srgbClr val="E3E7F5"/>
                      </a:solidFill>
                      <a:prstDash val="solid"/>
                      <a:round/>
                      <a:headEnd type="none" w="med" len="med"/>
                      <a:tailEnd type="none" w="med" len="med"/>
                    </a:lnR>
                    <a:lnT w="12700" cap="flat" cmpd="sng" algn="ctr">
                      <a:solidFill>
                        <a:srgbClr val="E3E7F5"/>
                      </a:solidFill>
                      <a:prstDash val="solid"/>
                      <a:round/>
                      <a:headEnd type="none" w="med" len="med"/>
                      <a:tailEnd type="none" w="med" len="med"/>
                    </a:lnT>
                    <a:lnB w="12700" cap="flat" cmpd="sng" algn="ctr">
                      <a:solidFill>
                        <a:srgbClr val="E3E7F5"/>
                      </a:solidFill>
                      <a:prstDash val="solid"/>
                      <a:round/>
                      <a:headEnd type="none" w="med" len="med"/>
                      <a:tailEnd type="none" w="med" len="med"/>
                    </a:lnB>
                    <a:solidFill>
                      <a:srgbClr val="1E2761"/>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work_orders</a:t>
                      </a:r>
                      <a:endParaRPr lang="en-US" sz="1200" dirty="0">
                        <a:latin typeface="Calibri" charset="0"/>
                        <a:ea typeface="Calibri" charset="0"/>
                        <a:cs typeface="Calibri" charset="0"/>
                      </a:endParaRPr>
                    </a:p>
                  </a:txBody>
                  <a:tcPr marL="101600" marR="101600" marT="76200" marB="76200" anchor="ctr">
                    <a:lnL w="12700" cap="flat" cmpd="sng" algn="ctr">
                      <a:solidFill>
                        <a:srgbClr val="E3E7F5"/>
                      </a:solidFill>
                      <a:prstDash val="solid"/>
                      <a:round/>
                      <a:headEnd type="none" w="med" len="med"/>
                      <a:tailEnd type="none" w="med" len="med"/>
                    </a:lnL>
                    <a:lnR w="12700" cap="flat" cmpd="sng" algn="ctr">
                      <a:solidFill>
                        <a:srgbClr val="E3E7F5"/>
                      </a:solidFill>
                      <a:prstDash val="solid"/>
                      <a:round/>
                      <a:headEnd type="none" w="med" len="med"/>
                      <a:tailEnd type="none" w="med" len="med"/>
                    </a:lnR>
                    <a:lnT w="12700" cap="flat" cmpd="sng" algn="ctr">
                      <a:solidFill>
                        <a:srgbClr val="E3E7F5"/>
                      </a:solidFill>
                      <a:prstDash val="solid"/>
                      <a:round/>
                      <a:headEnd type="none" w="med" len="med"/>
                      <a:tailEnd type="none" w="med" len="med"/>
                    </a:lnT>
                    <a:lnB w="12700" cap="flat" cmpd="sng" algn="ctr">
                      <a:solidFill>
                        <a:srgbClr val="E3E7F5"/>
                      </a:solidFill>
                      <a:prstDash val="solid"/>
                      <a:round/>
                      <a:headEnd type="none" w="med" len="med"/>
                      <a:tailEnd type="none" w="med" len="med"/>
                    </a:lnB>
                    <a:solidFill>
                      <a:srgbClr val="1E2761"/>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dispatch_logs</a:t>
                      </a:r>
                      <a:endParaRPr lang="en-US" sz="1200" dirty="0">
                        <a:latin typeface="Calibri" charset="0"/>
                        <a:ea typeface="Calibri" charset="0"/>
                        <a:cs typeface="Calibri" charset="0"/>
                      </a:endParaRPr>
                    </a:p>
                  </a:txBody>
                  <a:tcPr marL="101600" marR="101600" marT="76200" marB="76200" anchor="ctr">
                    <a:lnL w="12700" cap="flat" cmpd="sng" algn="ctr">
                      <a:solidFill>
                        <a:srgbClr val="E3E7F5"/>
                      </a:solidFill>
                      <a:prstDash val="solid"/>
                      <a:round/>
                      <a:headEnd type="none" w="med" len="med"/>
                      <a:tailEnd type="none" w="med" len="med"/>
                    </a:lnL>
                    <a:lnR w="12700" cap="flat" cmpd="sng" algn="ctr">
                      <a:solidFill>
                        <a:srgbClr val="E3E7F5"/>
                      </a:solidFill>
                      <a:prstDash val="solid"/>
                      <a:round/>
                      <a:headEnd type="none" w="med" len="med"/>
                      <a:tailEnd type="none" w="med" len="med"/>
                    </a:lnR>
                    <a:lnT w="12700" cap="flat" cmpd="sng" algn="ctr">
                      <a:solidFill>
                        <a:srgbClr val="E3E7F5"/>
                      </a:solidFill>
                      <a:prstDash val="solid"/>
                      <a:round/>
                      <a:headEnd type="none" w="med" len="med"/>
                      <a:tailEnd type="none" w="med" len="med"/>
                    </a:lnT>
                    <a:lnB w="12700" cap="flat" cmpd="sng" algn="ctr">
                      <a:solidFill>
                        <a:srgbClr val="E3E7F5"/>
                      </a:solidFill>
                      <a:prstDash val="solid"/>
                      <a:round/>
                      <a:headEnd type="none" w="med" len="med"/>
                      <a:tailEnd type="none" w="med" len="med"/>
                    </a:lnB>
                    <a:solidFill>
                      <a:srgbClr val="1E2761"/>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vendor_jobs_input</a:t>
                      </a:r>
                      <a:endParaRPr lang="en-US" sz="1200" dirty="0">
                        <a:latin typeface="Calibri" charset="0"/>
                        <a:ea typeface="Calibri" charset="0"/>
                        <a:cs typeface="Calibri" charset="0"/>
                      </a:endParaRPr>
                    </a:p>
                  </a:txBody>
                  <a:tcPr marL="101600" marR="101600" marT="76200" marB="76200" anchor="ctr">
                    <a:lnL w="12700" cap="flat" cmpd="sng" algn="ctr">
                      <a:solidFill>
                        <a:srgbClr val="E3E7F5"/>
                      </a:solidFill>
                      <a:prstDash val="solid"/>
                      <a:round/>
                      <a:headEnd type="none" w="med" len="med"/>
                      <a:tailEnd type="none" w="med" len="med"/>
                    </a:lnL>
                    <a:lnR w="12700" cap="flat" cmpd="sng" algn="ctr">
                      <a:solidFill>
                        <a:srgbClr val="E3E7F5"/>
                      </a:solidFill>
                      <a:prstDash val="solid"/>
                      <a:round/>
                      <a:headEnd type="none" w="med" len="med"/>
                      <a:tailEnd type="none" w="med" len="med"/>
                    </a:lnR>
                    <a:lnT w="12700" cap="flat" cmpd="sng" algn="ctr">
                      <a:solidFill>
                        <a:srgbClr val="E3E7F5"/>
                      </a:solidFill>
                      <a:prstDash val="solid"/>
                      <a:round/>
                      <a:headEnd type="none" w="med" len="med"/>
                      <a:tailEnd type="none" w="med" len="med"/>
                    </a:lnT>
                    <a:lnB w="12700" cap="flat" cmpd="sng" algn="ctr">
                      <a:solidFill>
                        <a:srgbClr val="E3E7F5"/>
                      </a:solidFill>
                      <a:prstDash val="solid"/>
                      <a:round/>
                      <a:headEnd type="none" w="med" len="med"/>
                      <a:tailEnd type="none" w="med" len="med"/>
                    </a:lnB>
                    <a:solidFill>
                      <a:srgbClr val="1E2761"/>
                    </a:solidFill>
                  </a:tcPr>
                </a:tc>
              </a:tr>
              <a:tr h="982980">
                <a:tc>
                  <a:txBody>
                    <a:bodyPr/>
                    <a:lstStyle/>
                    <a:p>
                      <a:pPr algn="l" indent="0" marL="0">
                        <a:buNone/>
                      </a:pPr>
                      <a:r>
                        <a:rPr lang="en-US" sz="1150" b="1" dirty="0">
                          <a:solidFill>
                            <a:srgbClr val="D98A2B"/>
                          </a:solidFill>
                          <a:latin typeface="Calibri" pitchFamily="34" charset="0"/>
                          <a:ea typeface="Calibri" pitchFamily="34" charset="-122"/>
                          <a:cs typeface="Calibri" pitchFamily="34" charset="-120"/>
                        </a:rPr>
                        <a:t>Scheduled →</a:t>
                      </a:r>
                      <a:endParaRPr lang="en-US" sz="1150" dirty="0">
                        <a:latin typeface="Calibri" charset="0"/>
                        <a:ea typeface="Calibri" charset="0"/>
                        <a:cs typeface="Calibri" charset="0"/>
                      </a:endParaRPr>
                    </a:p>
                    <a:p>
                      <a:pPr algn="l" indent="0" marL="0">
                        <a:buNone/>
                      </a:pPr>
                      <a:r>
                        <a:rPr lang="en-US" sz="1150" b="1" dirty="0">
                          <a:solidFill>
                            <a:srgbClr val="D98A2B"/>
                          </a:solidFill>
                          <a:latin typeface="Calibri" pitchFamily="34" charset="0"/>
                          <a:ea typeface="Calibri" pitchFamily="34" charset="-122"/>
                          <a:cs typeface="Calibri" pitchFamily="34" charset="-120"/>
                        </a:rPr>
                        <a:t>In Progress</a:t>
                      </a:r>
                      <a:endParaRPr lang="en-US" sz="1150" dirty="0">
                        <a:latin typeface="Calibri" charset="0"/>
                        <a:ea typeface="Calibri" charset="0"/>
                        <a:cs typeface="Calibri" charset="0"/>
                      </a:endParaRPr>
                    </a:p>
                  </a:txBody>
                  <a:tcPr marL="101600" marR="101600" marT="76200" marB="76200" anchor="ctr">
                    <a:lnL w="12700" cap="flat" cmpd="sng" algn="ctr">
                      <a:solidFill>
                        <a:srgbClr val="E3E7F5"/>
                      </a:solidFill>
                      <a:prstDash val="solid"/>
                      <a:round/>
                      <a:headEnd type="none" w="med" len="med"/>
                      <a:tailEnd type="none" w="med" len="med"/>
                    </a:lnL>
                    <a:lnR w="12700" cap="flat" cmpd="sng" algn="ctr">
                      <a:solidFill>
                        <a:srgbClr val="E3E7F5"/>
                      </a:solidFill>
                      <a:prstDash val="solid"/>
                      <a:round/>
                      <a:headEnd type="none" w="med" len="med"/>
                      <a:tailEnd type="none" w="med" len="med"/>
                    </a:lnR>
                    <a:lnT w="12700" cap="flat" cmpd="sng" algn="ctr">
                      <a:solidFill>
                        <a:srgbClr val="E3E7F5"/>
                      </a:solidFill>
                      <a:prstDash val="solid"/>
                      <a:round/>
                      <a:headEnd type="none" w="med" len="med"/>
                      <a:tailEnd type="none" w="med" len="med"/>
                    </a:lnT>
                    <a:lnB w="12700" cap="flat" cmpd="sng" algn="ctr">
                      <a:solidFill>
                        <a:srgbClr val="E3E7F5"/>
                      </a:solidFill>
                      <a:prstDash val="solid"/>
                      <a:round/>
                      <a:headEnd type="none" w="med" len="med"/>
                      <a:tailEnd type="none" w="med" len="med"/>
                    </a:lnB>
                    <a:solidFill>
                      <a:srgbClr val="F4F6FC"/>
                    </a:solidFill>
                  </a:tcPr>
                </a:tc>
                <a:tc>
                  <a:txBody>
                    <a:bodyPr/>
                    <a:lstStyle/>
                    <a:p>
                      <a:pPr algn="l" indent="0" marL="0">
                        <a:buNone/>
                      </a:pPr>
                      <a:r>
                        <a:rPr lang="en-US" sz="1150" dirty="0">
                          <a:solidFill>
                            <a:srgbClr val="23283B"/>
                          </a:solidFill>
                          <a:latin typeface="Courier New" pitchFamily="34" charset="0"/>
                          <a:ea typeface="Courier New" pitchFamily="34" charset="-122"/>
                          <a:cs typeface="Courier New" pitchFamily="34" charset="-120"/>
                        </a:rPr>
                        <a:t>status = In Progress</a:t>
                      </a:r>
                      <a:endParaRPr lang="en-US" sz="1150" dirty="0">
                        <a:latin typeface="Courier New" charset="0"/>
                        <a:ea typeface="Courier New" charset="0"/>
                        <a:cs typeface="Courier New" charset="0"/>
                      </a:endParaRPr>
                    </a:p>
                    <a:p>
                      <a:pPr algn="l" indent="0" marL="0">
                        <a:buNone/>
                      </a:pPr>
                      <a:r>
                        <a:rPr lang="en-US" sz="1150" dirty="0">
                          <a:solidFill>
                            <a:srgbClr val="23283B"/>
                          </a:solidFill>
                          <a:latin typeface="Courier New" pitchFamily="34" charset="0"/>
                          <a:ea typeface="Courier New" pitchFamily="34" charset="-122"/>
                          <a:cs typeface="Courier New" pitchFamily="34" charset="-120"/>
                        </a:rPr>
                        <a:t>started_at = now</a:t>
                      </a:r>
                      <a:endParaRPr lang="en-US" sz="1150" dirty="0">
                        <a:latin typeface="Courier New" charset="0"/>
                        <a:ea typeface="Courier New" charset="0"/>
                        <a:cs typeface="Courier New" charset="0"/>
                      </a:endParaRPr>
                    </a:p>
                  </a:txBody>
                  <a:tcPr marL="101600" marR="101600" marT="76200" marB="76200" anchor="ctr">
                    <a:lnL w="12700" cap="flat" cmpd="sng" algn="ctr">
                      <a:solidFill>
                        <a:srgbClr val="E3E7F5"/>
                      </a:solidFill>
                      <a:prstDash val="solid"/>
                      <a:round/>
                      <a:headEnd type="none" w="med" len="med"/>
                      <a:tailEnd type="none" w="med" len="med"/>
                    </a:lnL>
                    <a:lnR w="12700" cap="flat" cmpd="sng" algn="ctr">
                      <a:solidFill>
                        <a:srgbClr val="E3E7F5"/>
                      </a:solidFill>
                      <a:prstDash val="solid"/>
                      <a:round/>
                      <a:headEnd type="none" w="med" len="med"/>
                      <a:tailEnd type="none" w="med" len="med"/>
                    </a:lnR>
                    <a:lnT w="12700" cap="flat" cmpd="sng" algn="ctr">
                      <a:solidFill>
                        <a:srgbClr val="E3E7F5"/>
                      </a:solidFill>
                      <a:prstDash val="solid"/>
                      <a:round/>
                      <a:headEnd type="none" w="med" len="med"/>
                      <a:tailEnd type="none" w="med" len="med"/>
                    </a:lnT>
                    <a:lnB w="12700" cap="flat" cmpd="sng" algn="ctr">
                      <a:solidFill>
                        <a:srgbClr val="E3E7F5"/>
                      </a:solidFill>
                      <a:prstDash val="solid"/>
                      <a:round/>
                      <a:headEnd type="none" w="med" len="med"/>
                      <a:tailEnd type="none" w="med" len="med"/>
                    </a:lnB>
                    <a:solidFill>
                      <a:srgbClr val="F4F6FC"/>
                    </a:solidFill>
                  </a:tcPr>
                </a:tc>
                <a:tc>
                  <a:txBody>
                    <a:bodyPr/>
                    <a:lstStyle/>
                    <a:p>
                      <a:pPr algn="l" indent="0" marL="0">
                        <a:buNone/>
                      </a:pPr>
                      <a:r>
                        <a:rPr lang="en-US" sz="1150" dirty="0">
                          <a:solidFill>
                            <a:srgbClr val="23283B"/>
                          </a:solidFill>
                          <a:latin typeface="Courier New" pitchFamily="34" charset="0"/>
                          <a:ea typeface="Courier New" pitchFamily="34" charset="-122"/>
                          <a:cs typeface="Courier New" pitchFamily="34" charset="-120"/>
                        </a:rPr>
                        <a:t>prev: Scheduled</a:t>
                      </a:r>
                      <a:endParaRPr lang="en-US" sz="1150" dirty="0">
                        <a:latin typeface="Courier New" charset="0"/>
                        <a:ea typeface="Courier New" charset="0"/>
                        <a:cs typeface="Courier New" charset="0"/>
                      </a:endParaRPr>
                    </a:p>
                    <a:p>
                      <a:pPr algn="l" indent="0" marL="0">
                        <a:buNone/>
                      </a:pPr>
                      <a:r>
                        <a:rPr lang="en-US" sz="1150" dirty="0">
                          <a:solidFill>
                            <a:srgbClr val="23283B"/>
                          </a:solidFill>
                          <a:latin typeface="Courier New" pitchFamily="34" charset="0"/>
                          <a:ea typeface="Courier New" pitchFamily="34" charset="-122"/>
                          <a:cs typeface="Courier New" pitchFamily="34" charset="-120"/>
                        </a:rPr>
                        <a:t>new: In Progress</a:t>
                      </a:r>
                      <a:endParaRPr lang="en-US" sz="1150" dirty="0">
                        <a:latin typeface="Courier New" charset="0"/>
                        <a:ea typeface="Courier New" charset="0"/>
                        <a:cs typeface="Courier New" charset="0"/>
                      </a:endParaRPr>
                    </a:p>
                  </a:txBody>
                  <a:tcPr marL="101600" marR="101600" marT="76200" marB="76200" anchor="ctr">
                    <a:lnL w="12700" cap="flat" cmpd="sng" algn="ctr">
                      <a:solidFill>
                        <a:srgbClr val="E3E7F5"/>
                      </a:solidFill>
                      <a:prstDash val="solid"/>
                      <a:round/>
                      <a:headEnd type="none" w="med" len="med"/>
                      <a:tailEnd type="none" w="med" len="med"/>
                    </a:lnL>
                    <a:lnR w="12700" cap="flat" cmpd="sng" algn="ctr">
                      <a:solidFill>
                        <a:srgbClr val="E3E7F5"/>
                      </a:solidFill>
                      <a:prstDash val="solid"/>
                      <a:round/>
                      <a:headEnd type="none" w="med" len="med"/>
                      <a:tailEnd type="none" w="med" len="med"/>
                    </a:lnR>
                    <a:lnT w="12700" cap="flat" cmpd="sng" algn="ctr">
                      <a:solidFill>
                        <a:srgbClr val="E3E7F5"/>
                      </a:solidFill>
                      <a:prstDash val="solid"/>
                      <a:round/>
                      <a:headEnd type="none" w="med" len="med"/>
                      <a:tailEnd type="none" w="med" len="med"/>
                    </a:lnT>
                    <a:lnB w="12700" cap="flat" cmpd="sng" algn="ctr">
                      <a:solidFill>
                        <a:srgbClr val="E3E7F5"/>
                      </a:solidFill>
                      <a:prstDash val="solid"/>
                      <a:round/>
                      <a:headEnd type="none" w="med" len="med"/>
                      <a:tailEnd type="none" w="med" len="med"/>
                    </a:lnB>
                    <a:solidFill>
                      <a:srgbClr val="F4F6FC"/>
                    </a:solidFill>
                  </a:tcPr>
                </a:tc>
                <a:tc>
                  <a:txBody>
                    <a:bodyPr/>
                    <a:lstStyle/>
                    <a:p>
                      <a:pPr algn="l" indent="0" marL="0">
                        <a:buNone/>
                      </a:pPr>
                      <a:r>
                        <a:rPr lang="en-US" sz="1150" dirty="0">
                          <a:solidFill>
                            <a:srgbClr val="23283B"/>
                          </a:solidFill>
                          <a:latin typeface="Courier New" pitchFamily="34" charset="0"/>
                          <a:ea typeface="Courier New" pitchFamily="34" charset="-122"/>
                          <a:cs typeface="Courier New" pitchFamily="34" charset="-120"/>
                        </a:rPr>
                        <a:t>status = In Progress</a:t>
                      </a:r>
                      <a:endParaRPr lang="en-US" sz="1150" dirty="0">
                        <a:latin typeface="Courier New" charset="0"/>
                        <a:ea typeface="Courier New" charset="0"/>
                        <a:cs typeface="Courier New" charset="0"/>
                      </a:endParaRPr>
                    </a:p>
                  </a:txBody>
                  <a:tcPr marL="101600" marR="101600" marT="76200" marB="76200" anchor="ctr">
                    <a:lnL w="12700" cap="flat" cmpd="sng" algn="ctr">
                      <a:solidFill>
                        <a:srgbClr val="E3E7F5"/>
                      </a:solidFill>
                      <a:prstDash val="solid"/>
                      <a:round/>
                      <a:headEnd type="none" w="med" len="med"/>
                      <a:tailEnd type="none" w="med" len="med"/>
                    </a:lnL>
                    <a:lnR w="12700" cap="flat" cmpd="sng" algn="ctr">
                      <a:solidFill>
                        <a:srgbClr val="E3E7F5"/>
                      </a:solidFill>
                      <a:prstDash val="solid"/>
                      <a:round/>
                      <a:headEnd type="none" w="med" len="med"/>
                      <a:tailEnd type="none" w="med" len="med"/>
                    </a:lnR>
                    <a:lnT w="12700" cap="flat" cmpd="sng" algn="ctr">
                      <a:solidFill>
                        <a:srgbClr val="E3E7F5"/>
                      </a:solidFill>
                      <a:prstDash val="solid"/>
                      <a:round/>
                      <a:headEnd type="none" w="med" len="med"/>
                      <a:tailEnd type="none" w="med" len="med"/>
                    </a:lnT>
                    <a:lnB w="12700" cap="flat" cmpd="sng" algn="ctr">
                      <a:solidFill>
                        <a:srgbClr val="E3E7F5"/>
                      </a:solidFill>
                      <a:prstDash val="solid"/>
                      <a:round/>
                      <a:headEnd type="none" w="med" len="med"/>
                      <a:tailEnd type="none" w="med" len="med"/>
                    </a:lnB>
                    <a:solidFill>
                      <a:srgbClr val="F4F6FC"/>
                    </a:solidFill>
                  </a:tcPr>
                </a:tc>
              </a:tr>
              <a:tr h="982980">
                <a:tc>
                  <a:txBody>
                    <a:bodyPr/>
                    <a:lstStyle/>
                    <a:p>
                      <a:pPr algn="l" indent="0" marL="0">
                        <a:buNone/>
                      </a:pPr>
                      <a:r>
                        <a:rPr lang="en-US" sz="1150" b="1" dirty="0">
                          <a:solidFill>
                            <a:srgbClr val="2E9E6D"/>
                          </a:solidFill>
                          <a:latin typeface="Calibri" pitchFamily="34" charset="0"/>
                          <a:ea typeface="Calibri" pitchFamily="34" charset="-122"/>
                          <a:cs typeface="Calibri" pitchFamily="34" charset="-120"/>
                        </a:rPr>
                        <a:t>In Progress →</a:t>
                      </a:r>
                      <a:endParaRPr lang="en-US" sz="1150" dirty="0">
                        <a:latin typeface="Calibri" charset="0"/>
                        <a:ea typeface="Calibri" charset="0"/>
                        <a:cs typeface="Calibri" charset="0"/>
                      </a:endParaRPr>
                    </a:p>
                    <a:p>
                      <a:pPr algn="l" indent="0" marL="0">
                        <a:buNone/>
                      </a:pPr>
                      <a:r>
                        <a:rPr lang="en-US" sz="1150" b="1" dirty="0">
                          <a:solidFill>
                            <a:srgbClr val="2E9E6D"/>
                          </a:solidFill>
                          <a:latin typeface="Calibri" pitchFamily="34" charset="0"/>
                          <a:ea typeface="Calibri" pitchFamily="34" charset="-122"/>
                          <a:cs typeface="Calibri" pitchFamily="34" charset="-120"/>
                        </a:rPr>
                        <a:t>Completed</a:t>
                      </a:r>
                      <a:endParaRPr lang="en-US" sz="1150" dirty="0">
                        <a:latin typeface="Calibri" charset="0"/>
                        <a:ea typeface="Calibri" charset="0"/>
                        <a:cs typeface="Calibri" charset="0"/>
                      </a:endParaRPr>
                    </a:p>
                  </a:txBody>
                  <a:tcPr marL="101600" marR="101600" marT="76200" marB="76200" anchor="ctr">
                    <a:lnL w="12700" cap="flat" cmpd="sng" algn="ctr">
                      <a:solidFill>
                        <a:srgbClr val="E3E7F5"/>
                      </a:solidFill>
                      <a:prstDash val="solid"/>
                      <a:round/>
                      <a:headEnd type="none" w="med" len="med"/>
                      <a:tailEnd type="none" w="med" len="med"/>
                    </a:lnL>
                    <a:lnR w="12700" cap="flat" cmpd="sng" algn="ctr">
                      <a:solidFill>
                        <a:srgbClr val="E3E7F5"/>
                      </a:solidFill>
                      <a:prstDash val="solid"/>
                      <a:round/>
                      <a:headEnd type="none" w="med" len="med"/>
                      <a:tailEnd type="none" w="med" len="med"/>
                    </a:lnR>
                    <a:lnT w="12700" cap="flat" cmpd="sng" algn="ctr">
                      <a:solidFill>
                        <a:srgbClr val="E3E7F5"/>
                      </a:solidFill>
                      <a:prstDash val="solid"/>
                      <a:round/>
                      <a:headEnd type="none" w="med" len="med"/>
                      <a:tailEnd type="none" w="med" len="med"/>
                    </a:lnT>
                    <a:lnB w="12700" cap="flat" cmpd="sng" algn="ctr">
                      <a:solidFill>
                        <a:srgbClr val="E3E7F5"/>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3283B"/>
                          </a:solidFill>
                          <a:latin typeface="Courier New" pitchFamily="34" charset="0"/>
                          <a:ea typeface="Courier New" pitchFamily="34" charset="-122"/>
                          <a:cs typeface="Courier New" pitchFamily="34" charset="-120"/>
                        </a:rPr>
                        <a:t>status = Completed</a:t>
                      </a:r>
                      <a:endParaRPr lang="en-US" sz="1150" dirty="0">
                        <a:latin typeface="Courier New" charset="0"/>
                        <a:ea typeface="Courier New" charset="0"/>
                        <a:cs typeface="Courier New" charset="0"/>
                      </a:endParaRPr>
                    </a:p>
                    <a:p>
                      <a:pPr algn="l" indent="0" marL="0">
                        <a:buNone/>
                      </a:pPr>
                      <a:r>
                        <a:rPr lang="en-US" sz="1150" dirty="0">
                          <a:solidFill>
                            <a:srgbClr val="23283B"/>
                          </a:solidFill>
                          <a:latin typeface="Courier New" pitchFamily="34" charset="0"/>
                          <a:ea typeface="Courier New" pitchFamily="34" charset="-122"/>
                          <a:cs typeface="Courier New" pitchFamily="34" charset="-120"/>
                        </a:rPr>
                        <a:t>completed_at = now</a:t>
                      </a:r>
                      <a:endParaRPr lang="en-US" sz="1150" dirty="0">
                        <a:latin typeface="Courier New" charset="0"/>
                        <a:ea typeface="Courier New" charset="0"/>
                        <a:cs typeface="Courier New" charset="0"/>
                      </a:endParaRPr>
                    </a:p>
                  </a:txBody>
                  <a:tcPr marL="101600" marR="101600" marT="76200" marB="76200" anchor="ctr">
                    <a:lnL w="12700" cap="flat" cmpd="sng" algn="ctr">
                      <a:solidFill>
                        <a:srgbClr val="E3E7F5"/>
                      </a:solidFill>
                      <a:prstDash val="solid"/>
                      <a:round/>
                      <a:headEnd type="none" w="med" len="med"/>
                      <a:tailEnd type="none" w="med" len="med"/>
                    </a:lnL>
                    <a:lnR w="12700" cap="flat" cmpd="sng" algn="ctr">
                      <a:solidFill>
                        <a:srgbClr val="E3E7F5"/>
                      </a:solidFill>
                      <a:prstDash val="solid"/>
                      <a:round/>
                      <a:headEnd type="none" w="med" len="med"/>
                      <a:tailEnd type="none" w="med" len="med"/>
                    </a:lnR>
                    <a:lnT w="12700" cap="flat" cmpd="sng" algn="ctr">
                      <a:solidFill>
                        <a:srgbClr val="E3E7F5"/>
                      </a:solidFill>
                      <a:prstDash val="solid"/>
                      <a:round/>
                      <a:headEnd type="none" w="med" len="med"/>
                      <a:tailEnd type="none" w="med" len="med"/>
                    </a:lnT>
                    <a:lnB w="12700" cap="flat" cmpd="sng" algn="ctr">
                      <a:solidFill>
                        <a:srgbClr val="E3E7F5"/>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3283B"/>
                          </a:solidFill>
                          <a:latin typeface="Courier New" pitchFamily="34" charset="0"/>
                          <a:ea typeface="Courier New" pitchFamily="34" charset="-122"/>
                          <a:cs typeface="Courier New" pitchFamily="34" charset="-120"/>
                        </a:rPr>
                        <a:t>prev: In Progress</a:t>
                      </a:r>
                      <a:endParaRPr lang="en-US" sz="1150" dirty="0">
                        <a:latin typeface="Courier New" charset="0"/>
                        <a:ea typeface="Courier New" charset="0"/>
                        <a:cs typeface="Courier New" charset="0"/>
                      </a:endParaRPr>
                    </a:p>
                    <a:p>
                      <a:pPr algn="l" indent="0" marL="0">
                        <a:buNone/>
                      </a:pPr>
                      <a:r>
                        <a:rPr lang="en-US" sz="1150" dirty="0">
                          <a:solidFill>
                            <a:srgbClr val="23283B"/>
                          </a:solidFill>
                          <a:latin typeface="Courier New" pitchFamily="34" charset="0"/>
                          <a:ea typeface="Courier New" pitchFamily="34" charset="-122"/>
                          <a:cs typeface="Courier New" pitchFamily="34" charset="-120"/>
                        </a:rPr>
                        <a:t>new: Completed</a:t>
                      </a:r>
                      <a:endParaRPr lang="en-US" sz="1150" dirty="0">
                        <a:latin typeface="Courier New" charset="0"/>
                        <a:ea typeface="Courier New" charset="0"/>
                        <a:cs typeface="Courier New" charset="0"/>
                      </a:endParaRPr>
                    </a:p>
                  </a:txBody>
                  <a:tcPr marL="101600" marR="101600" marT="76200" marB="76200" anchor="ctr">
                    <a:lnL w="12700" cap="flat" cmpd="sng" algn="ctr">
                      <a:solidFill>
                        <a:srgbClr val="E3E7F5"/>
                      </a:solidFill>
                      <a:prstDash val="solid"/>
                      <a:round/>
                      <a:headEnd type="none" w="med" len="med"/>
                      <a:tailEnd type="none" w="med" len="med"/>
                    </a:lnL>
                    <a:lnR w="12700" cap="flat" cmpd="sng" algn="ctr">
                      <a:solidFill>
                        <a:srgbClr val="E3E7F5"/>
                      </a:solidFill>
                      <a:prstDash val="solid"/>
                      <a:round/>
                      <a:headEnd type="none" w="med" len="med"/>
                      <a:tailEnd type="none" w="med" len="med"/>
                    </a:lnR>
                    <a:lnT w="12700" cap="flat" cmpd="sng" algn="ctr">
                      <a:solidFill>
                        <a:srgbClr val="E3E7F5"/>
                      </a:solidFill>
                      <a:prstDash val="solid"/>
                      <a:round/>
                      <a:headEnd type="none" w="med" len="med"/>
                      <a:tailEnd type="none" w="med" len="med"/>
                    </a:lnT>
                    <a:lnB w="12700" cap="flat" cmpd="sng" algn="ctr">
                      <a:solidFill>
                        <a:srgbClr val="E3E7F5"/>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3283B"/>
                          </a:solidFill>
                          <a:latin typeface="Courier New" pitchFamily="34" charset="0"/>
                          <a:ea typeface="Courier New" pitchFamily="34" charset="-122"/>
                          <a:cs typeface="Courier New" pitchFamily="34" charset="-120"/>
                        </a:rPr>
                        <a:t>status = Completed</a:t>
                      </a:r>
                      <a:endParaRPr lang="en-US" sz="1150" dirty="0">
                        <a:latin typeface="Courier New" charset="0"/>
                        <a:ea typeface="Courier New" charset="0"/>
                        <a:cs typeface="Courier New" charset="0"/>
                      </a:endParaRPr>
                    </a:p>
                    <a:p>
                      <a:pPr algn="l" indent="0" marL="0">
                        <a:buNone/>
                      </a:pPr>
                      <a:r>
                        <a:rPr lang="en-US" sz="1150" dirty="0">
                          <a:solidFill>
                            <a:srgbClr val="23283B"/>
                          </a:solidFill>
                          <a:latin typeface="Courier New" pitchFamily="34" charset="0"/>
                          <a:ea typeface="Courier New" pitchFamily="34" charset="-122"/>
                          <a:cs typeface="Courier New" pitchFamily="34" charset="-120"/>
                        </a:rPr>
                        <a:t>active = No</a:t>
                      </a:r>
                      <a:endParaRPr lang="en-US" sz="1150" dirty="0">
                        <a:latin typeface="Courier New" charset="0"/>
                        <a:ea typeface="Courier New" charset="0"/>
                        <a:cs typeface="Courier New" charset="0"/>
                      </a:endParaRPr>
                    </a:p>
                  </a:txBody>
                  <a:tcPr marL="101600" marR="101600" marT="76200" marB="76200" anchor="ctr">
                    <a:lnL w="12700" cap="flat" cmpd="sng" algn="ctr">
                      <a:solidFill>
                        <a:srgbClr val="E3E7F5"/>
                      </a:solidFill>
                      <a:prstDash val="solid"/>
                      <a:round/>
                      <a:headEnd type="none" w="med" len="med"/>
                      <a:tailEnd type="none" w="med" len="med"/>
                    </a:lnL>
                    <a:lnR w="12700" cap="flat" cmpd="sng" algn="ctr">
                      <a:solidFill>
                        <a:srgbClr val="E3E7F5"/>
                      </a:solidFill>
                      <a:prstDash val="solid"/>
                      <a:round/>
                      <a:headEnd type="none" w="med" len="med"/>
                      <a:tailEnd type="none" w="med" len="med"/>
                    </a:lnR>
                    <a:lnT w="12700" cap="flat" cmpd="sng" algn="ctr">
                      <a:solidFill>
                        <a:srgbClr val="E3E7F5"/>
                      </a:solidFill>
                      <a:prstDash val="solid"/>
                      <a:round/>
                      <a:headEnd type="none" w="med" len="med"/>
                      <a:tailEnd type="none" w="med" len="med"/>
                    </a:lnT>
                    <a:lnB w="12700" cap="flat" cmpd="sng" algn="ctr">
                      <a:solidFill>
                        <a:srgbClr val="E3E7F5"/>
                      </a:solidFill>
                      <a:prstDash val="solid"/>
                      <a:round/>
                      <a:headEnd type="none" w="med" len="med"/>
                      <a:tailEnd type="none" w="med" len="med"/>
                    </a:lnB>
                    <a:solidFill>
                      <a:srgbClr val="FFFFFF"/>
                    </a:solidFill>
                  </a:tcPr>
                </a:tc>
              </a:tr>
              <a:tr h="982980">
                <a:tc>
                  <a:txBody>
                    <a:bodyPr/>
                    <a:lstStyle/>
                    <a:p>
                      <a:pPr algn="l" indent="0" marL="0">
                        <a:buNone/>
                      </a:pPr>
                      <a:r>
                        <a:rPr lang="en-US" sz="1150" b="1" dirty="0">
                          <a:solidFill>
                            <a:srgbClr val="C0435A"/>
                          </a:solidFill>
                          <a:latin typeface="Calibri" pitchFamily="34" charset="0"/>
                          <a:ea typeface="Calibri" pitchFamily="34" charset="-122"/>
                          <a:cs typeface="Calibri" pitchFamily="34" charset="-120"/>
                        </a:rPr>
                        <a:t>→ Canceled</a:t>
                      </a:r>
                      <a:endParaRPr lang="en-US" sz="1150" dirty="0">
                        <a:latin typeface="Calibri" charset="0"/>
                        <a:ea typeface="Calibri" charset="0"/>
                        <a:cs typeface="Calibri" charset="0"/>
                      </a:endParaRPr>
                    </a:p>
                    <a:p>
                      <a:pPr algn="l" indent="0" marL="0">
                        <a:buNone/>
                      </a:pPr>
                      <a:r>
                        <a:rPr lang="en-US" sz="1150" b="1" dirty="0">
                          <a:solidFill>
                            <a:srgbClr val="C0435A"/>
                          </a:solidFill>
                          <a:latin typeface="Calibri" pitchFamily="34" charset="0"/>
                          <a:ea typeface="Calibri" pitchFamily="34" charset="-122"/>
                          <a:cs typeface="Calibri" pitchFamily="34" charset="-120"/>
                        </a:rPr>
                        <a:t>(from either state)</a:t>
                      </a:r>
                      <a:endParaRPr lang="en-US" sz="1150" dirty="0">
                        <a:latin typeface="Calibri" charset="0"/>
                        <a:ea typeface="Calibri" charset="0"/>
                        <a:cs typeface="Calibri" charset="0"/>
                      </a:endParaRPr>
                    </a:p>
                  </a:txBody>
                  <a:tcPr marL="101600" marR="101600" marT="76200" marB="76200" anchor="ctr">
                    <a:lnL w="12700" cap="flat" cmpd="sng" algn="ctr">
                      <a:solidFill>
                        <a:srgbClr val="E3E7F5"/>
                      </a:solidFill>
                      <a:prstDash val="solid"/>
                      <a:round/>
                      <a:headEnd type="none" w="med" len="med"/>
                      <a:tailEnd type="none" w="med" len="med"/>
                    </a:lnL>
                    <a:lnR w="12700" cap="flat" cmpd="sng" algn="ctr">
                      <a:solidFill>
                        <a:srgbClr val="E3E7F5"/>
                      </a:solidFill>
                      <a:prstDash val="solid"/>
                      <a:round/>
                      <a:headEnd type="none" w="med" len="med"/>
                      <a:tailEnd type="none" w="med" len="med"/>
                    </a:lnR>
                    <a:lnT w="12700" cap="flat" cmpd="sng" algn="ctr">
                      <a:solidFill>
                        <a:srgbClr val="E3E7F5"/>
                      </a:solidFill>
                      <a:prstDash val="solid"/>
                      <a:round/>
                      <a:headEnd type="none" w="med" len="med"/>
                      <a:tailEnd type="none" w="med" len="med"/>
                    </a:lnT>
                    <a:lnB w="12700" cap="flat" cmpd="sng" algn="ctr">
                      <a:solidFill>
                        <a:srgbClr val="E3E7F5"/>
                      </a:solidFill>
                      <a:prstDash val="solid"/>
                      <a:round/>
                      <a:headEnd type="none" w="med" len="med"/>
                      <a:tailEnd type="none" w="med" len="med"/>
                    </a:lnB>
                    <a:solidFill>
                      <a:srgbClr val="F4F6FC"/>
                    </a:solidFill>
                  </a:tcPr>
                </a:tc>
                <a:tc>
                  <a:txBody>
                    <a:bodyPr/>
                    <a:lstStyle/>
                    <a:p>
                      <a:pPr algn="l" indent="0" marL="0">
                        <a:buNone/>
                      </a:pPr>
                      <a:r>
                        <a:rPr lang="en-US" sz="1150" dirty="0">
                          <a:solidFill>
                            <a:srgbClr val="23283B"/>
                          </a:solidFill>
                          <a:latin typeface="Courier New" pitchFamily="34" charset="0"/>
                          <a:ea typeface="Courier New" pitchFamily="34" charset="-122"/>
                          <a:cs typeface="Courier New" pitchFamily="34" charset="-120"/>
                        </a:rPr>
                        <a:t>status = Canceled</a:t>
                      </a:r>
                      <a:endParaRPr lang="en-US" sz="1150" dirty="0">
                        <a:latin typeface="Courier New" charset="0"/>
                        <a:ea typeface="Courier New" charset="0"/>
                        <a:cs typeface="Courier New" charset="0"/>
                      </a:endParaRPr>
                    </a:p>
                    <a:p>
                      <a:pPr algn="l" indent="0" marL="0">
                        <a:buNone/>
                      </a:pPr>
                      <a:r>
                        <a:rPr lang="en-US" sz="1150" dirty="0">
                          <a:solidFill>
                            <a:srgbClr val="23283B"/>
                          </a:solidFill>
                          <a:latin typeface="Courier New" pitchFamily="34" charset="0"/>
                          <a:ea typeface="Courier New" pitchFamily="34" charset="-122"/>
                          <a:cs typeface="Courier New" pitchFamily="34" charset="-120"/>
                        </a:rPr>
                        <a:t>canceled_at = now</a:t>
                      </a:r>
                      <a:endParaRPr lang="en-US" sz="1150" dirty="0">
                        <a:latin typeface="Courier New" charset="0"/>
                        <a:ea typeface="Courier New" charset="0"/>
                        <a:cs typeface="Courier New" charset="0"/>
                      </a:endParaRPr>
                    </a:p>
                    <a:p>
                      <a:pPr algn="l" indent="0" marL="0">
                        <a:buNone/>
                      </a:pPr>
                      <a:r>
                        <a:rPr lang="en-US" sz="1150" dirty="0">
                          <a:solidFill>
                            <a:srgbClr val="23283B"/>
                          </a:solidFill>
                          <a:latin typeface="Courier New" pitchFamily="34" charset="0"/>
                          <a:ea typeface="Courier New" pitchFamily="34" charset="-122"/>
                          <a:cs typeface="Courier New" pitchFamily="34" charset="-120"/>
                        </a:rPr>
                        <a:t>cancel_reason = ...</a:t>
                      </a:r>
                      <a:endParaRPr lang="en-US" sz="1150" dirty="0">
                        <a:latin typeface="Courier New" charset="0"/>
                        <a:ea typeface="Courier New" charset="0"/>
                        <a:cs typeface="Courier New" charset="0"/>
                      </a:endParaRPr>
                    </a:p>
                  </a:txBody>
                  <a:tcPr marL="101600" marR="101600" marT="76200" marB="76200" anchor="ctr">
                    <a:lnL w="12700" cap="flat" cmpd="sng" algn="ctr">
                      <a:solidFill>
                        <a:srgbClr val="E3E7F5"/>
                      </a:solidFill>
                      <a:prstDash val="solid"/>
                      <a:round/>
                      <a:headEnd type="none" w="med" len="med"/>
                      <a:tailEnd type="none" w="med" len="med"/>
                    </a:lnL>
                    <a:lnR w="12700" cap="flat" cmpd="sng" algn="ctr">
                      <a:solidFill>
                        <a:srgbClr val="E3E7F5"/>
                      </a:solidFill>
                      <a:prstDash val="solid"/>
                      <a:round/>
                      <a:headEnd type="none" w="med" len="med"/>
                      <a:tailEnd type="none" w="med" len="med"/>
                    </a:lnR>
                    <a:lnT w="12700" cap="flat" cmpd="sng" algn="ctr">
                      <a:solidFill>
                        <a:srgbClr val="E3E7F5"/>
                      </a:solidFill>
                      <a:prstDash val="solid"/>
                      <a:round/>
                      <a:headEnd type="none" w="med" len="med"/>
                      <a:tailEnd type="none" w="med" len="med"/>
                    </a:lnT>
                    <a:lnB w="12700" cap="flat" cmpd="sng" algn="ctr">
                      <a:solidFill>
                        <a:srgbClr val="E3E7F5"/>
                      </a:solidFill>
                      <a:prstDash val="solid"/>
                      <a:round/>
                      <a:headEnd type="none" w="med" len="med"/>
                      <a:tailEnd type="none" w="med" len="med"/>
                    </a:lnB>
                    <a:solidFill>
                      <a:srgbClr val="F4F6FC"/>
                    </a:solidFill>
                  </a:tcPr>
                </a:tc>
                <a:tc>
                  <a:txBody>
                    <a:bodyPr/>
                    <a:lstStyle/>
                    <a:p>
                      <a:pPr algn="l" indent="0" marL="0">
                        <a:buNone/>
                      </a:pPr>
                      <a:r>
                        <a:rPr lang="en-US" sz="1150" dirty="0">
                          <a:solidFill>
                            <a:srgbClr val="23283B"/>
                          </a:solidFill>
                          <a:latin typeface="Courier New" pitchFamily="34" charset="0"/>
                          <a:ea typeface="Courier New" pitchFamily="34" charset="-122"/>
                          <a:cs typeface="Courier New" pitchFamily="34" charset="-120"/>
                        </a:rPr>
                        <a:t>prev: prior status</a:t>
                      </a:r>
                      <a:endParaRPr lang="en-US" sz="1150" dirty="0">
                        <a:latin typeface="Courier New" charset="0"/>
                        <a:ea typeface="Courier New" charset="0"/>
                        <a:cs typeface="Courier New" charset="0"/>
                      </a:endParaRPr>
                    </a:p>
                    <a:p>
                      <a:pPr algn="l" indent="0" marL="0">
                        <a:buNone/>
                      </a:pPr>
                      <a:r>
                        <a:rPr lang="en-US" sz="1150" dirty="0">
                          <a:solidFill>
                            <a:srgbClr val="23283B"/>
                          </a:solidFill>
                          <a:latin typeface="Courier New" pitchFamily="34" charset="0"/>
                          <a:ea typeface="Courier New" pitchFamily="34" charset="-122"/>
                          <a:cs typeface="Courier New" pitchFamily="34" charset="-120"/>
                        </a:rPr>
                        <a:t>new: Canceled</a:t>
                      </a:r>
                      <a:endParaRPr lang="en-US" sz="1150" dirty="0">
                        <a:latin typeface="Courier New" charset="0"/>
                        <a:ea typeface="Courier New" charset="0"/>
                        <a:cs typeface="Courier New" charset="0"/>
                      </a:endParaRPr>
                    </a:p>
                  </a:txBody>
                  <a:tcPr marL="101600" marR="101600" marT="76200" marB="76200" anchor="ctr">
                    <a:lnL w="12700" cap="flat" cmpd="sng" algn="ctr">
                      <a:solidFill>
                        <a:srgbClr val="E3E7F5"/>
                      </a:solidFill>
                      <a:prstDash val="solid"/>
                      <a:round/>
                      <a:headEnd type="none" w="med" len="med"/>
                      <a:tailEnd type="none" w="med" len="med"/>
                    </a:lnL>
                    <a:lnR w="12700" cap="flat" cmpd="sng" algn="ctr">
                      <a:solidFill>
                        <a:srgbClr val="E3E7F5"/>
                      </a:solidFill>
                      <a:prstDash val="solid"/>
                      <a:round/>
                      <a:headEnd type="none" w="med" len="med"/>
                      <a:tailEnd type="none" w="med" len="med"/>
                    </a:lnR>
                    <a:lnT w="12700" cap="flat" cmpd="sng" algn="ctr">
                      <a:solidFill>
                        <a:srgbClr val="E3E7F5"/>
                      </a:solidFill>
                      <a:prstDash val="solid"/>
                      <a:round/>
                      <a:headEnd type="none" w="med" len="med"/>
                      <a:tailEnd type="none" w="med" len="med"/>
                    </a:lnT>
                    <a:lnB w="12700" cap="flat" cmpd="sng" algn="ctr">
                      <a:solidFill>
                        <a:srgbClr val="E3E7F5"/>
                      </a:solidFill>
                      <a:prstDash val="solid"/>
                      <a:round/>
                      <a:headEnd type="none" w="med" len="med"/>
                      <a:tailEnd type="none" w="med" len="med"/>
                    </a:lnB>
                    <a:solidFill>
                      <a:srgbClr val="F4F6FC"/>
                    </a:solidFill>
                  </a:tcPr>
                </a:tc>
                <a:tc>
                  <a:txBody>
                    <a:bodyPr/>
                    <a:lstStyle/>
                    <a:p>
                      <a:pPr algn="l" indent="0" marL="0">
                        <a:buNone/>
                      </a:pPr>
                      <a:r>
                        <a:rPr lang="en-US" sz="1150" dirty="0">
                          <a:solidFill>
                            <a:srgbClr val="23283B"/>
                          </a:solidFill>
                          <a:latin typeface="Courier New" pitchFamily="34" charset="0"/>
                          <a:ea typeface="Courier New" pitchFamily="34" charset="-122"/>
                          <a:cs typeface="Courier New" pitchFamily="34" charset="-120"/>
                        </a:rPr>
                        <a:t>status = Canceled</a:t>
                      </a:r>
                      <a:endParaRPr lang="en-US" sz="1150" dirty="0">
                        <a:latin typeface="Courier New" charset="0"/>
                        <a:ea typeface="Courier New" charset="0"/>
                        <a:cs typeface="Courier New" charset="0"/>
                      </a:endParaRPr>
                    </a:p>
                    <a:p>
                      <a:pPr algn="l" indent="0" marL="0">
                        <a:buNone/>
                      </a:pPr>
                      <a:r>
                        <a:rPr lang="en-US" sz="1150" dirty="0">
                          <a:solidFill>
                            <a:srgbClr val="23283B"/>
                          </a:solidFill>
                          <a:latin typeface="Courier New" pitchFamily="34" charset="0"/>
                          <a:ea typeface="Courier New" pitchFamily="34" charset="-122"/>
                          <a:cs typeface="Courier New" pitchFamily="34" charset="-120"/>
                        </a:rPr>
                        <a:t>active = No</a:t>
                      </a:r>
                      <a:endParaRPr lang="en-US" sz="1150" dirty="0">
                        <a:latin typeface="Courier New" charset="0"/>
                        <a:ea typeface="Courier New" charset="0"/>
                        <a:cs typeface="Courier New" charset="0"/>
                      </a:endParaRPr>
                    </a:p>
                  </a:txBody>
                  <a:tcPr marL="101600" marR="101600" marT="76200" marB="76200" anchor="ctr">
                    <a:lnL w="12700" cap="flat" cmpd="sng" algn="ctr">
                      <a:solidFill>
                        <a:srgbClr val="E3E7F5"/>
                      </a:solidFill>
                      <a:prstDash val="solid"/>
                      <a:round/>
                      <a:headEnd type="none" w="med" len="med"/>
                      <a:tailEnd type="none" w="med" len="med"/>
                    </a:lnL>
                    <a:lnR w="12700" cap="flat" cmpd="sng" algn="ctr">
                      <a:solidFill>
                        <a:srgbClr val="E3E7F5"/>
                      </a:solidFill>
                      <a:prstDash val="solid"/>
                      <a:round/>
                      <a:headEnd type="none" w="med" len="med"/>
                      <a:tailEnd type="none" w="med" len="med"/>
                    </a:lnR>
                    <a:lnT w="12700" cap="flat" cmpd="sng" algn="ctr">
                      <a:solidFill>
                        <a:srgbClr val="E3E7F5"/>
                      </a:solidFill>
                      <a:prstDash val="solid"/>
                      <a:round/>
                      <a:headEnd type="none" w="med" len="med"/>
                      <a:tailEnd type="none" w="med" len="med"/>
                    </a:lnT>
                    <a:lnB w="12700" cap="flat" cmpd="sng" algn="ctr">
                      <a:solidFill>
                        <a:srgbClr val="E3E7F5"/>
                      </a:solidFill>
                      <a:prstDash val="solid"/>
                      <a:round/>
                      <a:headEnd type="none" w="med" len="med"/>
                      <a:tailEnd type="none" w="med" len="med"/>
                    </a:lnB>
                    <a:solidFill>
                      <a:srgbClr val="F4F6FC"/>
                    </a:solidFill>
                  </a:tcPr>
                </a:tc>
              </a:tr>
            </a:tbl>
          </a:graphicData>
        </a:graphic>
      </p:graphicFrame>
      <p:sp>
        <p:nvSpPr>
          <p:cNvPr id="6" name="Text 3"/>
          <p:cNvSpPr/>
          <p:nvPr/>
        </p:nvSpPr>
        <p:spPr>
          <a:xfrm>
            <a:off x="11548872" y="6400800"/>
            <a:ext cx="365760" cy="274320"/>
          </a:xfrm>
          <a:prstGeom prst="rect">
            <a:avLst/>
          </a:prstGeom>
          <a:noFill/>
          <a:ln/>
        </p:spPr>
        <p:txBody>
          <a:bodyPr wrap="square" rtlCol="0" anchor="ctr"/>
          <a:lstStyle/>
          <a:p>
            <a:pPr algn="r" indent="0" marL="0">
              <a:buNone/>
            </a:pPr>
            <a:r>
              <a:rPr lang="en-US" sz="1000" dirty="0">
                <a:solidFill>
                  <a:srgbClr val="6E7591"/>
                </a:solidFill>
                <a:latin typeface="Calibri" pitchFamily="34" charset="0"/>
                <a:ea typeface="Calibri" pitchFamily="34" charset="-122"/>
                <a:cs typeface="Calibri" pitchFamily="34" charset="-120"/>
              </a:rPr>
              <a:t>10</a:t>
            </a:r>
            <a:endParaRPr lang="en-US" sz="1000" dirty="0"/>
          </a:p>
        </p:txBody>
      </p:sp>
      <p:sp>
        <p:nvSpPr>
          <p:cNvPr id="7" name="Text 4"/>
          <p:cNvSpPr/>
          <p:nvPr/>
        </p:nvSpPr>
        <p:spPr>
          <a:xfrm>
            <a:off x="457200" y="6400800"/>
            <a:ext cx="5486400" cy="274320"/>
          </a:xfrm>
          <a:prstGeom prst="rect">
            <a:avLst/>
          </a:prstGeom>
          <a:noFill/>
          <a:ln/>
        </p:spPr>
        <p:txBody>
          <a:bodyPr wrap="square" rtlCol="0" anchor="ctr"/>
          <a:lstStyle/>
          <a:p>
            <a:pPr indent="0" marL="0">
              <a:buNone/>
            </a:pPr>
            <a:r>
              <a:rPr lang="en-US" sz="1000" dirty="0">
                <a:solidFill>
                  <a:srgbClr val="6E7591"/>
                </a:solidFill>
                <a:latin typeface="Calibri" pitchFamily="34" charset="0"/>
                <a:ea typeface="Calibri" pitchFamily="34" charset="-122"/>
                <a:cs typeface="Calibri" pitchFamily="34" charset="-120"/>
              </a:rPr>
              <a:t>Dispatch Agent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rtlCol="0" anchor="ctr"/>
          <a:lstStyle/>
          <a:p>
            <a:pPr indent="0" marL="0">
              <a:buNone/>
            </a:pPr>
            <a:r>
              <a:rPr lang="en-US" sz="1200" b="1" spc="200" kern="0" dirty="0">
                <a:solidFill>
                  <a:srgbClr val="6E7591"/>
                </a:solidFill>
                <a:latin typeface="Calibri" pitchFamily="34" charset="0"/>
                <a:ea typeface="Calibri" pitchFamily="34" charset="-122"/>
                <a:cs typeface="Calibri" pitchFamily="34" charset="-120"/>
              </a:rPr>
              <a:t>DATA FOOTPRINT</a:t>
            </a:r>
            <a:endParaRPr lang="en-US" sz="1200" dirty="0"/>
          </a:p>
        </p:txBody>
      </p:sp>
      <p:sp>
        <p:nvSpPr>
          <p:cNvPr id="3" name="Text 1"/>
          <p:cNvSpPr/>
          <p:nvPr/>
        </p:nvSpPr>
        <p:spPr>
          <a:xfrm>
            <a:off x="548640" y="621792"/>
            <a:ext cx="11064240" cy="685800"/>
          </a:xfrm>
          <a:prstGeom prst="rect">
            <a:avLst/>
          </a:prstGeom>
          <a:noFill/>
          <a:ln/>
        </p:spPr>
        <p:txBody>
          <a:bodyPr wrap="square"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Tables the Agent Reads and Writes</a:t>
            </a:r>
            <a:endParaRPr lang="en-US" sz="3000" dirty="0"/>
          </a:p>
        </p:txBody>
      </p:sp>
      <p:sp>
        <p:nvSpPr>
          <p:cNvPr id="4" name="Shape 2"/>
          <p:cNvSpPr/>
          <p:nvPr/>
        </p:nvSpPr>
        <p:spPr>
          <a:xfrm>
            <a:off x="548640" y="1691640"/>
            <a:ext cx="5440680" cy="4297680"/>
          </a:xfrm>
          <a:prstGeom prst="roundRect">
            <a:avLst>
              <a:gd name="adj" fmla="val 1915"/>
            </a:avLst>
          </a:prstGeom>
          <a:solidFill>
            <a:srgbClr val="F4F6FC"/>
          </a:solidFill>
          <a:ln w="12700">
            <a:solidFill>
              <a:srgbClr val="E3E7F5"/>
            </a:solidFill>
            <a:prstDash val="solid"/>
          </a:ln>
        </p:spPr>
      </p:sp>
      <p:sp>
        <p:nvSpPr>
          <p:cNvPr id="5" name="Shape 3"/>
          <p:cNvSpPr/>
          <p:nvPr/>
        </p:nvSpPr>
        <p:spPr>
          <a:xfrm>
            <a:off x="548640" y="1691640"/>
            <a:ext cx="5440680" cy="502920"/>
          </a:xfrm>
          <a:prstGeom prst="roundRect">
            <a:avLst>
              <a:gd name="adj" fmla="val 16364"/>
            </a:avLst>
          </a:prstGeom>
          <a:solidFill>
            <a:srgbClr val="3A4A9E"/>
          </a:solidFill>
          <a:ln/>
        </p:spPr>
      </p:sp>
      <p:sp>
        <p:nvSpPr>
          <p:cNvPr id="6" name="Shape 4"/>
          <p:cNvSpPr/>
          <p:nvPr/>
        </p:nvSpPr>
        <p:spPr>
          <a:xfrm>
            <a:off x="548640" y="1874520"/>
            <a:ext cx="5440680" cy="320040"/>
          </a:xfrm>
          <a:prstGeom prst="rect">
            <a:avLst/>
          </a:prstGeom>
          <a:solidFill>
            <a:srgbClr val="3A4A9E"/>
          </a:solidFill>
          <a:ln/>
        </p:spPr>
      </p:sp>
      <p:sp>
        <p:nvSpPr>
          <p:cNvPr id="7" name="Text 5"/>
          <p:cNvSpPr/>
          <p:nvPr/>
        </p:nvSpPr>
        <p:spPr>
          <a:xfrm>
            <a:off x="777240" y="1691640"/>
            <a:ext cx="5029200" cy="502920"/>
          </a:xfrm>
          <a:prstGeom prst="rect">
            <a:avLst/>
          </a:prstGeom>
          <a:noFill/>
          <a:ln/>
        </p:spPr>
        <p:txBody>
          <a:bodyPr wrap="square" rtlCol="0" anchor="ctr"/>
          <a:lstStyle/>
          <a:p>
            <a:pPr indent="0" marL="0">
              <a:buNone/>
            </a:pPr>
            <a:r>
              <a:rPr lang="en-US" sz="1400" b="1" spc="200" kern="0" dirty="0">
                <a:solidFill>
                  <a:srgbClr val="FFFFFF"/>
                </a:solidFill>
                <a:latin typeface="Calibri" pitchFamily="34" charset="0"/>
                <a:ea typeface="Calibri" pitchFamily="34" charset="-122"/>
                <a:cs typeface="Calibri" pitchFamily="34" charset="-120"/>
              </a:rPr>
              <a:t>READ</a:t>
            </a:r>
            <a:endParaRPr lang="en-US" sz="1400" dirty="0"/>
          </a:p>
        </p:txBody>
      </p:sp>
      <p:sp>
        <p:nvSpPr>
          <p:cNvPr id="8" name="Text 6"/>
          <p:cNvSpPr/>
          <p:nvPr/>
        </p:nvSpPr>
        <p:spPr>
          <a:xfrm>
            <a:off x="777240" y="2377440"/>
            <a:ext cx="2011680" cy="640080"/>
          </a:xfrm>
          <a:prstGeom prst="rect">
            <a:avLst/>
          </a:prstGeom>
          <a:noFill/>
          <a:ln/>
        </p:spPr>
        <p:txBody>
          <a:bodyPr wrap="square" rtlCol="0" anchor="ctr"/>
          <a:lstStyle/>
          <a:p>
            <a:pPr indent="0" marL="0">
              <a:buNone/>
            </a:pPr>
            <a:r>
              <a:rPr lang="en-US" sz="1250" b="1" dirty="0">
                <a:solidFill>
                  <a:srgbClr val="3A4A9E"/>
                </a:solidFill>
                <a:latin typeface="Courier New" pitchFamily="34" charset="0"/>
                <a:ea typeface="Courier New" pitchFamily="34" charset="-122"/>
                <a:cs typeface="Courier New" pitchFamily="34" charset="-120"/>
              </a:rPr>
              <a:t>claims</a:t>
            </a:r>
            <a:endParaRPr lang="en-US" sz="1250" dirty="0"/>
          </a:p>
        </p:txBody>
      </p:sp>
      <p:sp>
        <p:nvSpPr>
          <p:cNvPr id="9" name="Text 7"/>
          <p:cNvSpPr/>
          <p:nvPr/>
        </p:nvSpPr>
        <p:spPr>
          <a:xfrm>
            <a:off x="2834640" y="2377440"/>
            <a:ext cx="2971800" cy="640080"/>
          </a:xfrm>
          <a:prstGeom prst="rect">
            <a:avLst/>
          </a:prstGeom>
          <a:noFill/>
          <a:ln/>
        </p:spPr>
        <p:txBody>
          <a:bodyPr wrap="square" rtlCol="0" anchor="ctr"/>
          <a:lstStyle/>
          <a:p>
            <a:pPr indent="0" marL="0">
              <a:lnSpc>
                <a:spcPts val="1400"/>
              </a:lnSpc>
              <a:buNone/>
            </a:pPr>
            <a:r>
              <a:rPr lang="en-US" sz="1100" dirty="0">
                <a:solidFill>
                  <a:srgbClr val="23283B"/>
                </a:solidFill>
                <a:latin typeface="Calibri" pitchFamily="34" charset="0"/>
                <a:ea typeface="Calibri" pitchFamily="34" charset="-122"/>
                <a:cs typeface="Calibri" pitchFamily="34" charset="-120"/>
              </a:rPr>
              <a:t>Claim existence, status, customer / location info</a:t>
            </a:r>
            <a:endParaRPr lang="en-US" sz="1100" dirty="0"/>
          </a:p>
        </p:txBody>
      </p:sp>
      <p:sp>
        <p:nvSpPr>
          <p:cNvPr id="10" name="Text 8"/>
          <p:cNvSpPr/>
          <p:nvPr/>
        </p:nvSpPr>
        <p:spPr>
          <a:xfrm>
            <a:off x="777240" y="3072384"/>
            <a:ext cx="2011680" cy="640080"/>
          </a:xfrm>
          <a:prstGeom prst="rect">
            <a:avLst/>
          </a:prstGeom>
          <a:noFill/>
          <a:ln/>
        </p:spPr>
        <p:txBody>
          <a:bodyPr wrap="square" rtlCol="0" anchor="ctr"/>
          <a:lstStyle/>
          <a:p>
            <a:pPr indent="0" marL="0">
              <a:buNone/>
            </a:pPr>
            <a:r>
              <a:rPr lang="en-US" sz="1250" b="1" dirty="0">
                <a:solidFill>
                  <a:srgbClr val="3A4A9E"/>
                </a:solidFill>
                <a:latin typeface="Courier New" pitchFamily="34" charset="0"/>
                <a:ea typeface="Courier New" pitchFamily="34" charset="-122"/>
                <a:cs typeface="Courier New" pitchFamily="34" charset="-120"/>
              </a:rPr>
              <a:t>experts</a:t>
            </a:r>
            <a:endParaRPr lang="en-US" sz="1250" dirty="0"/>
          </a:p>
        </p:txBody>
      </p:sp>
      <p:sp>
        <p:nvSpPr>
          <p:cNvPr id="11" name="Text 9"/>
          <p:cNvSpPr/>
          <p:nvPr/>
        </p:nvSpPr>
        <p:spPr>
          <a:xfrm>
            <a:off x="2834640" y="3072384"/>
            <a:ext cx="2971800" cy="640080"/>
          </a:xfrm>
          <a:prstGeom prst="rect">
            <a:avLst/>
          </a:prstGeom>
          <a:noFill/>
          <a:ln/>
        </p:spPr>
        <p:txBody>
          <a:bodyPr wrap="square" rtlCol="0" anchor="ctr"/>
          <a:lstStyle/>
          <a:p>
            <a:pPr indent="0" marL="0">
              <a:lnSpc>
                <a:spcPts val="1400"/>
              </a:lnSpc>
              <a:buNone/>
            </a:pPr>
            <a:r>
              <a:rPr lang="en-US" sz="1100" dirty="0">
                <a:solidFill>
                  <a:srgbClr val="23283B"/>
                </a:solidFill>
                <a:latin typeface="Calibri" pitchFamily="34" charset="0"/>
                <a:ea typeface="Calibri" pitchFamily="34" charset="-122"/>
                <a:cs typeface="Calibri" pitchFamily="34" charset="-120"/>
              </a:rPr>
              <a:t>Expert existence, active state, name and type</a:t>
            </a:r>
            <a:endParaRPr lang="en-US" sz="1100" dirty="0"/>
          </a:p>
        </p:txBody>
      </p:sp>
      <p:sp>
        <p:nvSpPr>
          <p:cNvPr id="12" name="Text 10"/>
          <p:cNvSpPr/>
          <p:nvPr/>
        </p:nvSpPr>
        <p:spPr>
          <a:xfrm>
            <a:off x="777240" y="3767328"/>
            <a:ext cx="2011680" cy="640080"/>
          </a:xfrm>
          <a:prstGeom prst="rect">
            <a:avLst/>
          </a:prstGeom>
          <a:noFill/>
          <a:ln/>
        </p:spPr>
        <p:txBody>
          <a:bodyPr wrap="square" rtlCol="0" anchor="ctr"/>
          <a:lstStyle/>
          <a:p>
            <a:pPr indent="0" marL="0">
              <a:buNone/>
            </a:pPr>
            <a:r>
              <a:rPr lang="en-US" sz="1250" b="1" dirty="0">
                <a:solidFill>
                  <a:srgbClr val="3A4A9E"/>
                </a:solidFill>
                <a:latin typeface="Courier New" pitchFamily="34" charset="0"/>
                <a:ea typeface="Courier New" pitchFamily="34" charset="-122"/>
                <a:cs typeface="Courier New" pitchFamily="34" charset="-120"/>
              </a:rPr>
              <a:t>vendor_assignment</a:t>
            </a:r>
            <a:endParaRPr lang="en-US" sz="1250" dirty="0"/>
          </a:p>
        </p:txBody>
      </p:sp>
      <p:sp>
        <p:nvSpPr>
          <p:cNvPr id="13" name="Text 11"/>
          <p:cNvSpPr/>
          <p:nvPr/>
        </p:nvSpPr>
        <p:spPr>
          <a:xfrm>
            <a:off x="2834640" y="3767328"/>
            <a:ext cx="2971800" cy="640080"/>
          </a:xfrm>
          <a:prstGeom prst="rect">
            <a:avLst/>
          </a:prstGeom>
          <a:noFill/>
          <a:ln/>
        </p:spPr>
        <p:txBody>
          <a:bodyPr wrap="square" rtlCol="0" anchor="ctr"/>
          <a:lstStyle/>
          <a:p>
            <a:pPr indent="0" marL="0">
              <a:lnSpc>
                <a:spcPts val="1400"/>
              </a:lnSpc>
              <a:buNone/>
            </a:pPr>
            <a:r>
              <a:rPr lang="en-US" sz="1100" dirty="0">
                <a:solidFill>
                  <a:srgbClr val="23283B"/>
                </a:solidFill>
                <a:latin typeface="Calibri" pitchFamily="34" charset="0"/>
                <a:ea typeface="Calibri" pitchFamily="34" charset="-122"/>
                <a:cs typeface="Calibri" pitchFamily="34" charset="-120"/>
              </a:rPr>
              <a:t>Resolve vendor_id</a:t>
            </a:r>
            <a:endParaRPr lang="en-US" sz="1100" dirty="0"/>
          </a:p>
        </p:txBody>
      </p:sp>
      <p:sp>
        <p:nvSpPr>
          <p:cNvPr id="14" name="Text 12"/>
          <p:cNvSpPr/>
          <p:nvPr/>
        </p:nvSpPr>
        <p:spPr>
          <a:xfrm>
            <a:off x="777240" y="4462272"/>
            <a:ext cx="2011680" cy="640080"/>
          </a:xfrm>
          <a:prstGeom prst="rect">
            <a:avLst/>
          </a:prstGeom>
          <a:noFill/>
          <a:ln/>
        </p:spPr>
        <p:txBody>
          <a:bodyPr wrap="square" rtlCol="0" anchor="ctr"/>
          <a:lstStyle/>
          <a:p>
            <a:pPr indent="0" marL="0">
              <a:buNone/>
            </a:pPr>
            <a:r>
              <a:rPr lang="en-US" sz="1250" b="1" dirty="0">
                <a:solidFill>
                  <a:srgbClr val="3A4A9E"/>
                </a:solidFill>
                <a:latin typeface="Courier New" pitchFamily="34" charset="0"/>
                <a:ea typeface="Courier New" pitchFamily="34" charset="-122"/>
                <a:cs typeface="Courier New" pitchFamily="34" charset="-120"/>
              </a:rPr>
              <a:t>work_orders</a:t>
            </a:r>
            <a:endParaRPr lang="en-US" sz="1250" dirty="0"/>
          </a:p>
        </p:txBody>
      </p:sp>
      <p:sp>
        <p:nvSpPr>
          <p:cNvPr id="15" name="Text 13"/>
          <p:cNvSpPr/>
          <p:nvPr/>
        </p:nvSpPr>
        <p:spPr>
          <a:xfrm>
            <a:off x="2834640" y="4462272"/>
            <a:ext cx="2971800" cy="640080"/>
          </a:xfrm>
          <a:prstGeom prst="rect">
            <a:avLst/>
          </a:prstGeom>
          <a:noFill/>
          <a:ln/>
        </p:spPr>
        <p:txBody>
          <a:bodyPr wrap="square" rtlCol="0" anchor="ctr"/>
          <a:lstStyle/>
          <a:p>
            <a:pPr indent="0" marL="0">
              <a:lnSpc>
                <a:spcPts val="1400"/>
              </a:lnSpc>
              <a:buNone/>
            </a:pPr>
            <a:r>
              <a:rPr lang="en-US" sz="1100" dirty="0">
                <a:solidFill>
                  <a:srgbClr val="23283B"/>
                </a:solidFill>
                <a:latin typeface="Calibri" pitchFamily="34" charset="0"/>
                <a:ea typeface="Calibri" pitchFamily="34" charset="-122"/>
                <a:cs typeface="Calibri" pitchFamily="34" charset="-120"/>
              </a:rPr>
              <a:t>Check existing active assignments</a:t>
            </a:r>
            <a:endParaRPr lang="en-US" sz="1100" dirty="0"/>
          </a:p>
        </p:txBody>
      </p:sp>
      <p:sp>
        <p:nvSpPr>
          <p:cNvPr id="16" name="Text 14"/>
          <p:cNvSpPr/>
          <p:nvPr/>
        </p:nvSpPr>
        <p:spPr>
          <a:xfrm>
            <a:off x="777240" y="5157216"/>
            <a:ext cx="2011680" cy="640080"/>
          </a:xfrm>
          <a:prstGeom prst="rect">
            <a:avLst/>
          </a:prstGeom>
          <a:noFill/>
          <a:ln/>
        </p:spPr>
        <p:txBody>
          <a:bodyPr wrap="square" rtlCol="0" anchor="ctr"/>
          <a:lstStyle/>
          <a:p>
            <a:pPr indent="0" marL="0">
              <a:buNone/>
            </a:pPr>
            <a:r>
              <a:rPr lang="en-US" sz="1250" b="1" dirty="0">
                <a:solidFill>
                  <a:srgbClr val="3A4A9E"/>
                </a:solidFill>
                <a:latin typeface="Courier New" pitchFamily="34" charset="0"/>
                <a:ea typeface="Courier New" pitchFamily="34" charset="-122"/>
                <a:cs typeface="Courier New" pitchFamily="34" charset="-120"/>
              </a:rPr>
              <a:t>dispatch_logs</a:t>
            </a:r>
            <a:endParaRPr lang="en-US" sz="1250" dirty="0"/>
          </a:p>
        </p:txBody>
      </p:sp>
      <p:sp>
        <p:nvSpPr>
          <p:cNvPr id="17" name="Text 15"/>
          <p:cNvSpPr/>
          <p:nvPr/>
        </p:nvSpPr>
        <p:spPr>
          <a:xfrm>
            <a:off x="2834640" y="5157216"/>
            <a:ext cx="2971800" cy="640080"/>
          </a:xfrm>
          <a:prstGeom prst="rect">
            <a:avLst/>
          </a:prstGeom>
          <a:noFill/>
          <a:ln/>
        </p:spPr>
        <p:txBody>
          <a:bodyPr wrap="square" rtlCol="0" anchor="ctr"/>
          <a:lstStyle/>
          <a:p>
            <a:pPr indent="0" marL="0">
              <a:lnSpc>
                <a:spcPts val="1400"/>
              </a:lnSpc>
              <a:buNone/>
            </a:pPr>
            <a:r>
              <a:rPr lang="en-US" sz="1100" dirty="0">
                <a:solidFill>
                  <a:srgbClr val="23283B"/>
                </a:solidFill>
                <a:latin typeface="Calibri" pitchFamily="34" charset="0"/>
                <a:ea typeface="Calibri" pitchFamily="34" charset="-122"/>
                <a:cs typeface="Calibri" pitchFamily="34" charset="-120"/>
              </a:rPr>
              <a:t>Retrieve dispatch history</a:t>
            </a:r>
            <a:endParaRPr lang="en-US" sz="1100" dirty="0"/>
          </a:p>
        </p:txBody>
      </p:sp>
      <p:sp>
        <p:nvSpPr>
          <p:cNvPr id="18" name="Shape 16"/>
          <p:cNvSpPr/>
          <p:nvPr/>
        </p:nvSpPr>
        <p:spPr>
          <a:xfrm>
            <a:off x="6217920" y="1691640"/>
            <a:ext cx="5440680" cy="4297680"/>
          </a:xfrm>
          <a:prstGeom prst="roundRect">
            <a:avLst>
              <a:gd name="adj" fmla="val 1915"/>
            </a:avLst>
          </a:prstGeom>
          <a:solidFill>
            <a:srgbClr val="F4F6FC"/>
          </a:solidFill>
          <a:ln w="12700">
            <a:solidFill>
              <a:srgbClr val="E3E7F5"/>
            </a:solidFill>
            <a:prstDash val="solid"/>
          </a:ln>
        </p:spPr>
      </p:sp>
      <p:sp>
        <p:nvSpPr>
          <p:cNvPr id="19" name="Shape 17"/>
          <p:cNvSpPr/>
          <p:nvPr/>
        </p:nvSpPr>
        <p:spPr>
          <a:xfrm>
            <a:off x="6217920" y="1691640"/>
            <a:ext cx="5440680" cy="502920"/>
          </a:xfrm>
          <a:prstGeom prst="roundRect">
            <a:avLst>
              <a:gd name="adj" fmla="val 16364"/>
            </a:avLst>
          </a:prstGeom>
          <a:solidFill>
            <a:srgbClr val="2E9E6D"/>
          </a:solidFill>
          <a:ln/>
        </p:spPr>
      </p:sp>
      <p:sp>
        <p:nvSpPr>
          <p:cNvPr id="20" name="Shape 18"/>
          <p:cNvSpPr/>
          <p:nvPr/>
        </p:nvSpPr>
        <p:spPr>
          <a:xfrm>
            <a:off x="6217920" y="1874520"/>
            <a:ext cx="5440680" cy="320040"/>
          </a:xfrm>
          <a:prstGeom prst="rect">
            <a:avLst/>
          </a:prstGeom>
          <a:solidFill>
            <a:srgbClr val="2E9E6D"/>
          </a:solidFill>
          <a:ln/>
        </p:spPr>
      </p:sp>
      <p:sp>
        <p:nvSpPr>
          <p:cNvPr id="21" name="Text 19"/>
          <p:cNvSpPr/>
          <p:nvPr/>
        </p:nvSpPr>
        <p:spPr>
          <a:xfrm>
            <a:off x="6446520" y="1691640"/>
            <a:ext cx="5029200" cy="502920"/>
          </a:xfrm>
          <a:prstGeom prst="rect">
            <a:avLst/>
          </a:prstGeom>
          <a:noFill/>
          <a:ln/>
        </p:spPr>
        <p:txBody>
          <a:bodyPr wrap="square" rtlCol="0" anchor="ctr"/>
          <a:lstStyle/>
          <a:p>
            <a:pPr indent="0" marL="0">
              <a:buNone/>
            </a:pPr>
            <a:r>
              <a:rPr lang="en-US" sz="1400" b="1" spc="200" kern="0" dirty="0">
                <a:solidFill>
                  <a:srgbClr val="FFFFFF"/>
                </a:solidFill>
                <a:latin typeface="Calibri" pitchFamily="34" charset="0"/>
                <a:ea typeface="Calibri" pitchFamily="34" charset="-122"/>
                <a:cs typeface="Calibri" pitchFamily="34" charset="-120"/>
              </a:rPr>
              <a:t>WRITE</a:t>
            </a:r>
            <a:endParaRPr lang="en-US" sz="1400" dirty="0"/>
          </a:p>
        </p:txBody>
      </p:sp>
      <p:sp>
        <p:nvSpPr>
          <p:cNvPr id="22" name="Text 20"/>
          <p:cNvSpPr/>
          <p:nvPr/>
        </p:nvSpPr>
        <p:spPr>
          <a:xfrm>
            <a:off x="6446520" y="2377440"/>
            <a:ext cx="2194560" cy="640080"/>
          </a:xfrm>
          <a:prstGeom prst="rect">
            <a:avLst/>
          </a:prstGeom>
          <a:noFill/>
          <a:ln/>
        </p:spPr>
        <p:txBody>
          <a:bodyPr wrap="square" rtlCol="0" anchor="ctr"/>
          <a:lstStyle/>
          <a:p>
            <a:pPr indent="0" marL="0">
              <a:buNone/>
            </a:pPr>
            <a:r>
              <a:rPr lang="en-US" sz="1250" b="1" dirty="0">
                <a:solidFill>
                  <a:srgbClr val="2E9E6D"/>
                </a:solidFill>
                <a:latin typeface="Courier New" pitchFamily="34" charset="0"/>
                <a:ea typeface="Courier New" pitchFamily="34" charset="-122"/>
                <a:cs typeface="Courier New" pitchFamily="34" charset="-120"/>
              </a:rPr>
              <a:t>work_orders</a:t>
            </a:r>
            <a:endParaRPr lang="en-US" sz="1250" dirty="0"/>
          </a:p>
        </p:txBody>
      </p:sp>
      <p:sp>
        <p:nvSpPr>
          <p:cNvPr id="23" name="Text 21"/>
          <p:cNvSpPr/>
          <p:nvPr/>
        </p:nvSpPr>
        <p:spPr>
          <a:xfrm>
            <a:off x="8686800" y="2377440"/>
            <a:ext cx="2788920" cy="640080"/>
          </a:xfrm>
          <a:prstGeom prst="rect">
            <a:avLst/>
          </a:prstGeom>
          <a:noFill/>
          <a:ln/>
        </p:spPr>
        <p:txBody>
          <a:bodyPr wrap="square" rtlCol="0" anchor="ctr"/>
          <a:lstStyle/>
          <a:p>
            <a:pPr indent="0" marL="0">
              <a:lnSpc>
                <a:spcPts val="1400"/>
              </a:lnSpc>
              <a:buNone/>
            </a:pPr>
            <a:r>
              <a:rPr lang="en-US" sz="1100" dirty="0">
                <a:solidFill>
                  <a:srgbClr val="23283B"/>
                </a:solidFill>
                <a:latin typeface="Calibri" pitchFamily="34" charset="0"/>
                <a:ea typeface="Calibri" pitchFamily="34" charset="-122"/>
                <a:cs typeface="Calibri" pitchFamily="34" charset="-120"/>
              </a:rPr>
              <a:t>Create / update the dispatch assignment</a:t>
            </a:r>
            <a:endParaRPr lang="en-US" sz="1100" dirty="0"/>
          </a:p>
        </p:txBody>
      </p:sp>
      <p:sp>
        <p:nvSpPr>
          <p:cNvPr id="24" name="Text 22"/>
          <p:cNvSpPr/>
          <p:nvPr/>
        </p:nvSpPr>
        <p:spPr>
          <a:xfrm>
            <a:off x="6446520" y="3072384"/>
            <a:ext cx="2194560" cy="640080"/>
          </a:xfrm>
          <a:prstGeom prst="rect">
            <a:avLst/>
          </a:prstGeom>
          <a:noFill/>
          <a:ln/>
        </p:spPr>
        <p:txBody>
          <a:bodyPr wrap="square" rtlCol="0" anchor="ctr"/>
          <a:lstStyle/>
          <a:p>
            <a:pPr indent="0" marL="0">
              <a:buNone/>
            </a:pPr>
            <a:r>
              <a:rPr lang="en-US" sz="1250" b="1" dirty="0">
                <a:solidFill>
                  <a:srgbClr val="2E9E6D"/>
                </a:solidFill>
                <a:latin typeface="Courier New" pitchFamily="34" charset="0"/>
                <a:ea typeface="Courier New" pitchFamily="34" charset="-122"/>
                <a:cs typeface="Courier New" pitchFamily="34" charset="-120"/>
              </a:rPr>
              <a:t>dispatch_logs</a:t>
            </a:r>
            <a:endParaRPr lang="en-US" sz="1250" dirty="0"/>
          </a:p>
        </p:txBody>
      </p:sp>
      <p:sp>
        <p:nvSpPr>
          <p:cNvPr id="25" name="Text 23"/>
          <p:cNvSpPr/>
          <p:nvPr/>
        </p:nvSpPr>
        <p:spPr>
          <a:xfrm>
            <a:off x="8686800" y="3072384"/>
            <a:ext cx="2788920" cy="640080"/>
          </a:xfrm>
          <a:prstGeom prst="rect">
            <a:avLst/>
          </a:prstGeom>
          <a:noFill/>
          <a:ln/>
        </p:spPr>
        <p:txBody>
          <a:bodyPr wrap="square" rtlCol="0" anchor="ctr"/>
          <a:lstStyle/>
          <a:p>
            <a:pPr indent="0" marL="0">
              <a:lnSpc>
                <a:spcPts val="1400"/>
              </a:lnSpc>
              <a:buNone/>
            </a:pPr>
            <a:r>
              <a:rPr lang="en-US" sz="1100" dirty="0">
                <a:solidFill>
                  <a:srgbClr val="23283B"/>
                </a:solidFill>
                <a:latin typeface="Calibri" pitchFamily="34" charset="0"/>
                <a:ea typeface="Calibri" pitchFamily="34" charset="-122"/>
                <a:cs typeface="Calibri" pitchFamily="34" charset="-120"/>
              </a:rPr>
              <a:t>Maintain audit history</a:t>
            </a:r>
            <a:endParaRPr lang="en-US" sz="1100" dirty="0"/>
          </a:p>
        </p:txBody>
      </p:sp>
      <p:sp>
        <p:nvSpPr>
          <p:cNvPr id="26" name="Text 24"/>
          <p:cNvSpPr/>
          <p:nvPr/>
        </p:nvSpPr>
        <p:spPr>
          <a:xfrm>
            <a:off x="6446520" y="3767328"/>
            <a:ext cx="2194560" cy="640080"/>
          </a:xfrm>
          <a:prstGeom prst="rect">
            <a:avLst/>
          </a:prstGeom>
          <a:noFill/>
          <a:ln/>
        </p:spPr>
        <p:txBody>
          <a:bodyPr wrap="square" rtlCol="0" anchor="ctr"/>
          <a:lstStyle/>
          <a:p>
            <a:pPr indent="0" marL="0">
              <a:buNone/>
            </a:pPr>
            <a:r>
              <a:rPr lang="en-US" sz="1250" b="1" dirty="0">
                <a:solidFill>
                  <a:srgbClr val="2E9E6D"/>
                </a:solidFill>
                <a:latin typeface="Courier New" pitchFamily="34" charset="0"/>
                <a:ea typeface="Courier New" pitchFamily="34" charset="-122"/>
                <a:cs typeface="Courier New" pitchFamily="34" charset="-120"/>
              </a:rPr>
              <a:t>vendor_jobs_input</a:t>
            </a:r>
            <a:endParaRPr lang="en-US" sz="1250" dirty="0"/>
          </a:p>
        </p:txBody>
      </p:sp>
      <p:sp>
        <p:nvSpPr>
          <p:cNvPr id="27" name="Text 25"/>
          <p:cNvSpPr/>
          <p:nvPr/>
        </p:nvSpPr>
        <p:spPr>
          <a:xfrm>
            <a:off x="8686800" y="3767328"/>
            <a:ext cx="2788920" cy="640080"/>
          </a:xfrm>
          <a:prstGeom prst="rect">
            <a:avLst/>
          </a:prstGeom>
          <a:noFill/>
          <a:ln/>
        </p:spPr>
        <p:txBody>
          <a:bodyPr wrap="square" rtlCol="0" anchor="ctr"/>
          <a:lstStyle/>
          <a:p>
            <a:pPr indent="0" marL="0">
              <a:lnSpc>
                <a:spcPts val="1400"/>
              </a:lnSpc>
              <a:buNone/>
            </a:pPr>
            <a:r>
              <a:rPr lang="en-US" sz="1100" dirty="0">
                <a:solidFill>
                  <a:srgbClr val="23283B"/>
                </a:solidFill>
                <a:latin typeface="Calibri" pitchFamily="34" charset="0"/>
                <a:ea typeface="Calibri" pitchFamily="34" charset="-122"/>
                <a:cs typeface="Calibri" pitchFamily="34" charset="-120"/>
              </a:rPr>
              <a:t>Create / update downstream vendor job state</a:t>
            </a:r>
            <a:endParaRPr lang="en-US" sz="1100" dirty="0"/>
          </a:p>
        </p:txBody>
      </p:sp>
      <p:sp>
        <p:nvSpPr>
          <p:cNvPr id="28" name="Text 26"/>
          <p:cNvSpPr/>
          <p:nvPr/>
        </p:nvSpPr>
        <p:spPr>
          <a:xfrm>
            <a:off x="11548872" y="6400800"/>
            <a:ext cx="365760" cy="274320"/>
          </a:xfrm>
          <a:prstGeom prst="rect">
            <a:avLst/>
          </a:prstGeom>
          <a:noFill/>
          <a:ln/>
        </p:spPr>
        <p:txBody>
          <a:bodyPr wrap="square" rtlCol="0" anchor="ctr"/>
          <a:lstStyle/>
          <a:p>
            <a:pPr algn="r" indent="0" marL="0">
              <a:buNone/>
            </a:pPr>
            <a:r>
              <a:rPr lang="en-US" sz="1000" dirty="0">
                <a:solidFill>
                  <a:srgbClr val="6E7591"/>
                </a:solidFill>
                <a:latin typeface="Calibri" pitchFamily="34" charset="0"/>
                <a:ea typeface="Calibri" pitchFamily="34" charset="-122"/>
                <a:cs typeface="Calibri" pitchFamily="34" charset="-120"/>
              </a:rPr>
              <a:t>11</a:t>
            </a:r>
            <a:endParaRPr lang="en-US" sz="1000" dirty="0"/>
          </a:p>
        </p:txBody>
      </p:sp>
      <p:sp>
        <p:nvSpPr>
          <p:cNvPr id="29" name="Text 27"/>
          <p:cNvSpPr/>
          <p:nvPr/>
        </p:nvSpPr>
        <p:spPr>
          <a:xfrm>
            <a:off x="457200" y="6400800"/>
            <a:ext cx="5486400" cy="274320"/>
          </a:xfrm>
          <a:prstGeom prst="rect">
            <a:avLst/>
          </a:prstGeom>
          <a:noFill/>
          <a:ln/>
        </p:spPr>
        <p:txBody>
          <a:bodyPr wrap="square" rtlCol="0" anchor="ctr"/>
          <a:lstStyle/>
          <a:p>
            <a:pPr indent="0" marL="0">
              <a:buNone/>
            </a:pPr>
            <a:r>
              <a:rPr lang="en-US" sz="1000" dirty="0">
                <a:solidFill>
                  <a:srgbClr val="6E7591"/>
                </a:solidFill>
                <a:latin typeface="Calibri" pitchFamily="34" charset="0"/>
                <a:ea typeface="Calibri" pitchFamily="34" charset="-122"/>
                <a:cs typeface="Calibri" pitchFamily="34" charset="-120"/>
              </a:rPr>
              <a:t>Dispatch Agent</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rtlCol="0" anchor="ctr"/>
          <a:lstStyle/>
          <a:p>
            <a:pPr indent="0" marL="0">
              <a:buNone/>
            </a:pPr>
            <a:r>
              <a:rPr lang="en-US" sz="1200" b="1" spc="200" kern="0" dirty="0">
                <a:solidFill>
                  <a:srgbClr val="6E7591"/>
                </a:solidFill>
                <a:latin typeface="Calibri" pitchFamily="34" charset="0"/>
                <a:ea typeface="Calibri" pitchFamily="34" charset="-122"/>
                <a:cs typeface="Calibri" pitchFamily="34" charset="-120"/>
              </a:rPr>
              <a:t>INTERFACE</a:t>
            </a:r>
            <a:endParaRPr lang="en-US" sz="1200" dirty="0"/>
          </a:p>
        </p:txBody>
      </p:sp>
      <p:sp>
        <p:nvSpPr>
          <p:cNvPr id="3" name="Text 1"/>
          <p:cNvSpPr/>
          <p:nvPr/>
        </p:nvSpPr>
        <p:spPr>
          <a:xfrm>
            <a:off x="548640" y="621792"/>
            <a:ext cx="11064240" cy="685800"/>
          </a:xfrm>
          <a:prstGeom prst="rect">
            <a:avLst/>
          </a:prstGeom>
          <a:noFill/>
          <a:ln/>
        </p:spPr>
        <p:txBody>
          <a:bodyPr wrap="square"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Five Tools Exposed by the Dispatch MCP</a:t>
            </a:r>
            <a:endParaRPr lang="en-US" sz="3000" dirty="0"/>
          </a:p>
        </p:txBody>
      </p:sp>
      <p:sp>
        <p:nvSpPr>
          <p:cNvPr id="4" name="Shape 2"/>
          <p:cNvSpPr/>
          <p:nvPr/>
        </p:nvSpPr>
        <p:spPr>
          <a:xfrm>
            <a:off x="548640" y="1828800"/>
            <a:ext cx="11064240" cy="749808"/>
          </a:xfrm>
          <a:prstGeom prst="roundRect">
            <a:avLst>
              <a:gd name="adj" fmla="val 8537"/>
            </a:avLst>
          </a:prstGeom>
          <a:solidFill>
            <a:srgbClr val="F4F6FC"/>
          </a:solidFill>
          <a:ln w="12700">
            <a:solidFill>
              <a:srgbClr val="E3E7F5"/>
            </a:solidFill>
            <a:prstDash val="solid"/>
          </a:ln>
        </p:spPr>
      </p:sp>
      <p:sp>
        <p:nvSpPr>
          <p:cNvPr id="5" name="Text 3"/>
          <p:cNvSpPr/>
          <p:nvPr/>
        </p:nvSpPr>
        <p:spPr>
          <a:xfrm>
            <a:off x="822960" y="1828800"/>
            <a:ext cx="3931920" cy="749808"/>
          </a:xfrm>
          <a:prstGeom prst="rect">
            <a:avLst/>
          </a:prstGeom>
          <a:noFill/>
          <a:ln/>
        </p:spPr>
        <p:txBody>
          <a:bodyPr wrap="square" rtlCol="0" anchor="ctr"/>
          <a:lstStyle/>
          <a:p>
            <a:pPr indent="0" marL="0">
              <a:buNone/>
            </a:pPr>
            <a:r>
              <a:rPr lang="en-US" sz="1400" b="1" dirty="0">
                <a:solidFill>
                  <a:srgbClr val="1E2761"/>
                </a:solidFill>
                <a:latin typeface="Courier New" pitchFamily="34" charset="0"/>
                <a:ea typeface="Courier New" pitchFamily="34" charset="-122"/>
                <a:cs typeface="Courier New" pitchFamily="34" charset="-120"/>
              </a:rPr>
              <a:t>create_work_order</a:t>
            </a:r>
            <a:endParaRPr lang="en-US" sz="1400" dirty="0"/>
          </a:p>
        </p:txBody>
      </p:sp>
      <p:sp>
        <p:nvSpPr>
          <p:cNvPr id="6" name="Text 4"/>
          <p:cNvSpPr/>
          <p:nvPr/>
        </p:nvSpPr>
        <p:spPr>
          <a:xfrm>
            <a:off x="4937760" y="1828800"/>
            <a:ext cx="6400800" cy="749808"/>
          </a:xfrm>
          <a:prstGeom prst="rect">
            <a:avLst/>
          </a:prstGeom>
          <a:noFill/>
          <a:ln/>
        </p:spPr>
        <p:txBody>
          <a:bodyPr wrap="square" rtlCol="0" anchor="ctr"/>
          <a:lstStyle/>
          <a:p>
            <a:pPr indent="0" marL="0">
              <a:buNone/>
            </a:pPr>
            <a:r>
              <a:rPr lang="en-US" sz="1300" dirty="0">
                <a:solidFill>
                  <a:srgbClr val="23283B"/>
                </a:solidFill>
                <a:latin typeface="Calibri" pitchFamily="34" charset="0"/>
                <a:ea typeface="Calibri" pitchFamily="34" charset="-122"/>
                <a:cs typeface="Calibri" pitchFamily="34" charset="-120"/>
              </a:rPr>
              <a:t>Creates the dispatch assignment</a:t>
            </a:r>
            <a:endParaRPr lang="en-US" sz="1300" dirty="0"/>
          </a:p>
        </p:txBody>
      </p:sp>
      <p:sp>
        <p:nvSpPr>
          <p:cNvPr id="7" name="Shape 5"/>
          <p:cNvSpPr/>
          <p:nvPr/>
        </p:nvSpPr>
        <p:spPr>
          <a:xfrm>
            <a:off x="548640" y="2697480"/>
            <a:ext cx="11064240" cy="749808"/>
          </a:xfrm>
          <a:prstGeom prst="roundRect">
            <a:avLst>
              <a:gd name="adj" fmla="val 8537"/>
            </a:avLst>
          </a:prstGeom>
          <a:solidFill>
            <a:srgbClr val="FFFFFF"/>
          </a:solidFill>
          <a:ln w="12700">
            <a:solidFill>
              <a:srgbClr val="E3E7F5"/>
            </a:solidFill>
            <a:prstDash val="solid"/>
          </a:ln>
        </p:spPr>
      </p:sp>
      <p:sp>
        <p:nvSpPr>
          <p:cNvPr id="8" name="Text 6"/>
          <p:cNvSpPr/>
          <p:nvPr/>
        </p:nvSpPr>
        <p:spPr>
          <a:xfrm>
            <a:off x="822960" y="2697480"/>
            <a:ext cx="3931920" cy="749808"/>
          </a:xfrm>
          <a:prstGeom prst="rect">
            <a:avLst/>
          </a:prstGeom>
          <a:noFill/>
          <a:ln/>
        </p:spPr>
        <p:txBody>
          <a:bodyPr wrap="square" rtlCol="0" anchor="ctr"/>
          <a:lstStyle/>
          <a:p>
            <a:pPr indent="0" marL="0">
              <a:buNone/>
            </a:pPr>
            <a:r>
              <a:rPr lang="en-US" sz="1400" b="1" dirty="0">
                <a:solidFill>
                  <a:srgbClr val="1E2761"/>
                </a:solidFill>
                <a:latin typeface="Courier New" pitchFamily="34" charset="0"/>
                <a:ea typeface="Courier New" pitchFamily="34" charset="-122"/>
                <a:cs typeface="Courier New" pitchFamily="34" charset="-120"/>
              </a:rPr>
              <a:t>get_work_order</a:t>
            </a:r>
            <a:endParaRPr lang="en-US" sz="1400" dirty="0"/>
          </a:p>
        </p:txBody>
      </p:sp>
      <p:sp>
        <p:nvSpPr>
          <p:cNvPr id="9" name="Text 7"/>
          <p:cNvSpPr/>
          <p:nvPr/>
        </p:nvSpPr>
        <p:spPr>
          <a:xfrm>
            <a:off x="4937760" y="2697480"/>
            <a:ext cx="6400800" cy="749808"/>
          </a:xfrm>
          <a:prstGeom prst="rect">
            <a:avLst/>
          </a:prstGeom>
          <a:noFill/>
          <a:ln/>
        </p:spPr>
        <p:txBody>
          <a:bodyPr wrap="square" rtlCol="0" anchor="ctr"/>
          <a:lstStyle/>
          <a:p>
            <a:pPr indent="0" marL="0">
              <a:buNone/>
            </a:pPr>
            <a:r>
              <a:rPr lang="en-US" sz="1300" dirty="0">
                <a:solidFill>
                  <a:srgbClr val="23283B"/>
                </a:solidFill>
                <a:latin typeface="Calibri" pitchFamily="34" charset="0"/>
                <a:ea typeface="Calibri" pitchFamily="34" charset="-122"/>
                <a:cs typeface="Calibri" pitchFamily="34" charset="-120"/>
              </a:rPr>
              <a:t>Retrieves a specific work order</a:t>
            </a:r>
            <a:endParaRPr lang="en-US" sz="1300" dirty="0"/>
          </a:p>
        </p:txBody>
      </p:sp>
      <p:sp>
        <p:nvSpPr>
          <p:cNvPr id="10" name="Shape 8"/>
          <p:cNvSpPr/>
          <p:nvPr/>
        </p:nvSpPr>
        <p:spPr>
          <a:xfrm>
            <a:off x="548640" y="3566160"/>
            <a:ext cx="11064240" cy="749808"/>
          </a:xfrm>
          <a:prstGeom prst="roundRect">
            <a:avLst>
              <a:gd name="adj" fmla="val 8537"/>
            </a:avLst>
          </a:prstGeom>
          <a:solidFill>
            <a:srgbClr val="F4F6FC"/>
          </a:solidFill>
          <a:ln w="12700">
            <a:solidFill>
              <a:srgbClr val="E3E7F5"/>
            </a:solidFill>
            <a:prstDash val="solid"/>
          </a:ln>
        </p:spPr>
      </p:sp>
      <p:sp>
        <p:nvSpPr>
          <p:cNvPr id="11" name="Text 9"/>
          <p:cNvSpPr/>
          <p:nvPr/>
        </p:nvSpPr>
        <p:spPr>
          <a:xfrm>
            <a:off x="822960" y="3566160"/>
            <a:ext cx="3931920" cy="749808"/>
          </a:xfrm>
          <a:prstGeom prst="rect">
            <a:avLst/>
          </a:prstGeom>
          <a:noFill/>
          <a:ln/>
        </p:spPr>
        <p:txBody>
          <a:bodyPr wrap="square" rtlCol="0" anchor="ctr"/>
          <a:lstStyle/>
          <a:p>
            <a:pPr indent="0" marL="0">
              <a:buNone/>
            </a:pPr>
            <a:r>
              <a:rPr lang="en-US" sz="1400" b="1" dirty="0">
                <a:solidFill>
                  <a:srgbClr val="1E2761"/>
                </a:solidFill>
                <a:latin typeface="Courier New" pitchFamily="34" charset="0"/>
                <a:ea typeface="Courier New" pitchFamily="34" charset="-122"/>
                <a:cs typeface="Courier New" pitchFamily="34" charset="-120"/>
              </a:rPr>
              <a:t>list_work_orders</a:t>
            </a:r>
            <a:endParaRPr lang="en-US" sz="1400" dirty="0"/>
          </a:p>
        </p:txBody>
      </p:sp>
      <p:sp>
        <p:nvSpPr>
          <p:cNvPr id="12" name="Text 10"/>
          <p:cNvSpPr/>
          <p:nvPr/>
        </p:nvSpPr>
        <p:spPr>
          <a:xfrm>
            <a:off x="4937760" y="3566160"/>
            <a:ext cx="6400800" cy="749808"/>
          </a:xfrm>
          <a:prstGeom prst="rect">
            <a:avLst/>
          </a:prstGeom>
          <a:noFill/>
          <a:ln/>
        </p:spPr>
        <p:txBody>
          <a:bodyPr wrap="square" rtlCol="0" anchor="ctr"/>
          <a:lstStyle/>
          <a:p>
            <a:pPr indent="0" marL="0">
              <a:buNone/>
            </a:pPr>
            <a:r>
              <a:rPr lang="en-US" sz="1300" dirty="0">
                <a:solidFill>
                  <a:srgbClr val="23283B"/>
                </a:solidFill>
                <a:latin typeface="Calibri" pitchFamily="34" charset="0"/>
                <a:ea typeface="Calibri" pitchFamily="34" charset="-122"/>
                <a:cs typeface="Calibri" pitchFamily="34" charset="-120"/>
              </a:rPr>
              <a:t>Retrieves work orders, filterable by claim_id or status</a:t>
            </a:r>
            <a:endParaRPr lang="en-US" sz="1300" dirty="0"/>
          </a:p>
        </p:txBody>
      </p:sp>
      <p:sp>
        <p:nvSpPr>
          <p:cNvPr id="13" name="Shape 11"/>
          <p:cNvSpPr/>
          <p:nvPr/>
        </p:nvSpPr>
        <p:spPr>
          <a:xfrm>
            <a:off x="548640" y="4434840"/>
            <a:ext cx="11064240" cy="749808"/>
          </a:xfrm>
          <a:prstGeom prst="roundRect">
            <a:avLst>
              <a:gd name="adj" fmla="val 8537"/>
            </a:avLst>
          </a:prstGeom>
          <a:solidFill>
            <a:srgbClr val="FFFFFF"/>
          </a:solidFill>
          <a:ln w="12700">
            <a:solidFill>
              <a:srgbClr val="E3E7F5"/>
            </a:solidFill>
            <a:prstDash val="solid"/>
          </a:ln>
        </p:spPr>
      </p:sp>
      <p:sp>
        <p:nvSpPr>
          <p:cNvPr id="14" name="Text 12"/>
          <p:cNvSpPr/>
          <p:nvPr/>
        </p:nvSpPr>
        <p:spPr>
          <a:xfrm>
            <a:off x="822960" y="4434840"/>
            <a:ext cx="3931920" cy="749808"/>
          </a:xfrm>
          <a:prstGeom prst="rect">
            <a:avLst/>
          </a:prstGeom>
          <a:noFill/>
          <a:ln/>
        </p:spPr>
        <p:txBody>
          <a:bodyPr wrap="square" rtlCol="0" anchor="ctr"/>
          <a:lstStyle/>
          <a:p>
            <a:pPr indent="0" marL="0">
              <a:buNone/>
            </a:pPr>
            <a:r>
              <a:rPr lang="en-US" sz="1400" b="1" dirty="0">
                <a:solidFill>
                  <a:srgbClr val="1E2761"/>
                </a:solidFill>
                <a:latin typeface="Courier New" pitchFamily="34" charset="0"/>
                <a:ea typeface="Courier New" pitchFamily="34" charset="-122"/>
                <a:cs typeface="Courier New" pitchFamily="34" charset="-120"/>
              </a:rPr>
              <a:t>update_work_order_status</a:t>
            </a:r>
            <a:endParaRPr lang="en-US" sz="1400" dirty="0"/>
          </a:p>
        </p:txBody>
      </p:sp>
      <p:sp>
        <p:nvSpPr>
          <p:cNvPr id="15" name="Text 13"/>
          <p:cNvSpPr/>
          <p:nvPr/>
        </p:nvSpPr>
        <p:spPr>
          <a:xfrm>
            <a:off x="4937760" y="4434840"/>
            <a:ext cx="6400800" cy="749808"/>
          </a:xfrm>
          <a:prstGeom prst="rect">
            <a:avLst/>
          </a:prstGeom>
          <a:noFill/>
          <a:ln/>
        </p:spPr>
        <p:txBody>
          <a:bodyPr wrap="square" rtlCol="0" anchor="ctr"/>
          <a:lstStyle/>
          <a:p>
            <a:pPr indent="0" marL="0">
              <a:buNone/>
            </a:pPr>
            <a:r>
              <a:rPr lang="en-US" sz="1300" dirty="0">
                <a:solidFill>
                  <a:srgbClr val="23283B"/>
                </a:solidFill>
                <a:latin typeface="Calibri" pitchFamily="34" charset="0"/>
                <a:ea typeface="Calibri" pitchFamily="34" charset="-122"/>
                <a:cs typeface="Calibri" pitchFamily="34" charset="-120"/>
              </a:rPr>
              <a:t>Moves the work order through its lifecycle</a:t>
            </a:r>
            <a:endParaRPr lang="en-US" sz="1300" dirty="0"/>
          </a:p>
        </p:txBody>
      </p:sp>
      <p:sp>
        <p:nvSpPr>
          <p:cNvPr id="16" name="Shape 14"/>
          <p:cNvSpPr/>
          <p:nvPr/>
        </p:nvSpPr>
        <p:spPr>
          <a:xfrm>
            <a:off x="548640" y="5303520"/>
            <a:ext cx="11064240" cy="749808"/>
          </a:xfrm>
          <a:prstGeom prst="roundRect">
            <a:avLst>
              <a:gd name="adj" fmla="val 8537"/>
            </a:avLst>
          </a:prstGeom>
          <a:solidFill>
            <a:srgbClr val="F4F6FC"/>
          </a:solidFill>
          <a:ln w="12700">
            <a:solidFill>
              <a:srgbClr val="E3E7F5"/>
            </a:solidFill>
            <a:prstDash val="solid"/>
          </a:ln>
        </p:spPr>
      </p:sp>
      <p:sp>
        <p:nvSpPr>
          <p:cNvPr id="17" name="Text 15"/>
          <p:cNvSpPr/>
          <p:nvPr/>
        </p:nvSpPr>
        <p:spPr>
          <a:xfrm>
            <a:off x="822960" y="5303520"/>
            <a:ext cx="3931920" cy="749808"/>
          </a:xfrm>
          <a:prstGeom prst="rect">
            <a:avLst/>
          </a:prstGeom>
          <a:noFill/>
          <a:ln/>
        </p:spPr>
        <p:txBody>
          <a:bodyPr wrap="square" rtlCol="0" anchor="ctr"/>
          <a:lstStyle/>
          <a:p>
            <a:pPr indent="0" marL="0">
              <a:buNone/>
            </a:pPr>
            <a:r>
              <a:rPr lang="en-US" sz="1400" b="1" dirty="0">
                <a:solidFill>
                  <a:srgbClr val="1E2761"/>
                </a:solidFill>
                <a:latin typeface="Courier New" pitchFamily="34" charset="0"/>
                <a:ea typeface="Courier New" pitchFamily="34" charset="-122"/>
                <a:cs typeface="Courier New" pitchFamily="34" charset="-120"/>
              </a:rPr>
              <a:t>get_dispatch_logs</a:t>
            </a:r>
            <a:endParaRPr lang="en-US" sz="1400" dirty="0"/>
          </a:p>
        </p:txBody>
      </p:sp>
      <p:sp>
        <p:nvSpPr>
          <p:cNvPr id="18" name="Text 16"/>
          <p:cNvSpPr/>
          <p:nvPr/>
        </p:nvSpPr>
        <p:spPr>
          <a:xfrm>
            <a:off x="4937760" y="5303520"/>
            <a:ext cx="6400800" cy="749808"/>
          </a:xfrm>
          <a:prstGeom prst="rect">
            <a:avLst/>
          </a:prstGeom>
          <a:noFill/>
          <a:ln/>
        </p:spPr>
        <p:txBody>
          <a:bodyPr wrap="square" rtlCol="0" anchor="ctr"/>
          <a:lstStyle/>
          <a:p>
            <a:pPr indent="0" marL="0">
              <a:buNone/>
            </a:pPr>
            <a:r>
              <a:rPr lang="en-US" sz="1300" dirty="0">
                <a:solidFill>
                  <a:srgbClr val="23283B"/>
                </a:solidFill>
                <a:latin typeface="Calibri" pitchFamily="34" charset="0"/>
                <a:ea typeface="Calibri" pitchFamily="34" charset="-122"/>
                <a:cs typeface="Calibri" pitchFamily="34" charset="-120"/>
              </a:rPr>
              <a:t>Returns the complete audit trail</a:t>
            </a:r>
            <a:endParaRPr lang="en-US" sz="1300" dirty="0"/>
          </a:p>
        </p:txBody>
      </p:sp>
      <p:sp>
        <p:nvSpPr>
          <p:cNvPr id="19" name="Text 17"/>
          <p:cNvSpPr/>
          <p:nvPr/>
        </p:nvSpPr>
        <p:spPr>
          <a:xfrm>
            <a:off x="11548872" y="6400800"/>
            <a:ext cx="365760" cy="274320"/>
          </a:xfrm>
          <a:prstGeom prst="rect">
            <a:avLst/>
          </a:prstGeom>
          <a:noFill/>
          <a:ln/>
        </p:spPr>
        <p:txBody>
          <a:bodyPr wrap="square" rtlCol="0" anchor="ctr"/>
          <a:lstStyle/>
          <a:p>
            <a:pPr algn="r" indent="0" marL="0">
              <a:buNone/>
            </a:pPr>
            <a:r>
              <a:rPr lang="en-US" sz="1000" dirty="0">
                <a:solidFill>
                  <a:srgbClr val="6E7591"/>
                </a:solidFill>
                <a:latin typeface="Calibri" pitchFamily="34" charset="0"/>
                <a:ea typeface="Calibri" pitchFamily="34" charset="-122"/>
                <a:cs typeface="Calibri" pitchFamily="34" charset="-120"/>
              </a:rPr>
              <a:t>12</a:t>
            </a:r>
            <a:endParaRPr lang="en-US" sz="1000" dirty="0"/>
          </a:p>
        </p:txBody>
      </p:sp>
      <p:sp>
        <p:nvSpPr>
          <p:cNvPr id="20" name="Text 18"/>
          <p:cNvSpPr/>
          <p:nvPr/>
        </p:nvSpPr>
        <p:spPr>
          <a:xfrm>
            <a:off x="457200" y="6400800"/>
            <a:ext cx="5486400" cy="274320"/>
          </a:xfrm>
          <a:prstGeom prst="rect">
            <a:avLst/>
          </a:prstGeom>
          <a:noFill/>
          <a:ln/>
        </p:spPr>
        <p:txBody>
          <a:bodyPr wrap="square" rtlCol="0" anchor="ctr"/>
          <a:lstStyle/>
          <a:p>
            <a:pPr indent="0" marL="0">
              <a:buNone/>
            </a:pPr>
            <a:r>
              <a:rPr lang="en-US" sz="1000" dirty="0">
                <a:solidFill>
                  <a:srgbClr val="6E7591"/>
                </a:solidFill>
                <a:latin typeface="Calibri" pitchFamily="34" charset="0"/>
                <a:ea typeface="Calibri" pitchFamily="34" charset="-122"/>
                <a:cs typeface="Calibri" pitchFamily="34" charset="-120"/>
              </a:rPr>
              <a:t>Dispatch Agent</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rtlCol="0" anchor="ctr"/>
          <a:lstStyle/>
          <a:p>
            <a:pPr indent="0" marL="0">
              <a:buNone/>
            </a:pPr>
            <a:r>
              <a:rPr lang="en-US" sz="1200" b="1" spc="200" kern="0" dirty="0">
                <a:solidFill>
                  <a:srgbClr val="6E7591"/>
                </a:solidFill>
                <a:latin typeface="Calibri" pitchFamily="34" charset="0"/>
                <a:ea typeface="Calibri" pitchFamily="34" charset="-122"/>
                <a:cs typeface="Calibri" pitchFamily="34" charset="-120"/>
              </a:rPr>
              <a:t>PUTTING IT TOGETHER</a:t>
            </a:r>
            <a:endParaRPr lang="en-US" sz="1200" dirty="0"/>
          </a:p>
        </p:txBody>
      </p:sp>
      <p:sp>
        <p:nvSpPr>
          <p:cNvPr id="3" name="Text 1"/>
          <p:cNvSpPr/>
          <p:nvPr/>
        </p:nvSpPr>
        <p:spPr>
          <a:xfrm>
            <a:off x="548640" y="621792"/>
            <a:ext cx="11064240" cy="685800"/>
          </a:xfrm>
          <a:prstGeom prst="rect">
            <a:avLst/>
          </a:prstGeom>
          <a:noFill/>
          <a:ln/>
        </p:spPr>
        <p:txBody>
          <a:bodyPr wrap="square"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Complete End-to-End Data Flow</a:t>
            </a:r>
            <a:endParaRPr lang="en-US" sz="3000" dirty="0"/>
          </a:p>
        </p:txBody>
      </p:sp>
      <p:sp>
        <p:nvSpPr>
          <p:cNvPr id="4" name="Shape 2"/>
          <p:cNvSpPr/>
          <p:nvPr/>
        </p:nvSpPr>
        <p:spPr>
          <a:xfrm>
            <a:off x="548640" y="1828800"/>
            <a:ext cx="1783080" cy="1051560"/>
          </a:xfrm>
          <a:prstGeom prst="roundRect">
            <a:avLst>
              <a:gd name="adj" fmla="val 6957"/>
            </a:avLst>
          </a:prstGeom>
          <a:solidFill>
            <a:srgbClr val="1E2761"/>
          </a:solidFill>
          <a:ln/>
        </p:spPr>
      </p:sp>
      <p:sp>
        <p:nvSpPr>
          <p:cNvPr id="5" name="Text 3"/>
          <p:cNvSpPr/>
          <p:nvPr/>
        </p:nvSpPr>
        <p:spPr>
          <a:xfrm>
            <a:off x="621792" y="1828800"/>
            <a:ext cx="1636776" cy="1051560"/>
          </a:xfrm>
          <a:prstGeom prst="rect">
            <a:avLst/>
          </a:prstGeom>
          <a:noFill/>
          <a:ln/>
        </p:spPr>
        <p:txBody>
          <a:bodyPr wrap="square" rtlCol="0" anchor="ctr"/>
          <a:lstStyle/>
          <a:p>
            <a:pPr algn="ctr" indent="0" marL="0">
              <a:lnSpc>
                <a:spcPts val="1300"/>
              </a:lnSpc>
              <a:buNone/>
            </a:pPr>
            <a:r>
              <a:rPr lang="en-US" sz="1050" b="1" dirty="0">
                <a:solidFill>
                  <a:srgbClr val="FFFFFF"/>
                </a:solidFill>
                <a:latin typeface="Calibri" pitchFamily="34" charset="0"/>
                <a:ea typeface="Calibri" pitchFamily="34" charset="-122"/>
                <a:cs typeface="Calibri" pitchFamily="34" charset="-120"/>
              </a:rPr>
              <a:t>Claim needs</a:t>
            </a:r>
            <a:endParaRPr lang="en-US" sz="1050" dirty="0"/>
          </a:p>
          <a:p>
            <a:pPr algn="ctr" indent="0" marL="0">
              <a:lnSpc>
                <a:spcPts val="1300"/>
              </a:lnSpc>
              <a:buNone/>
            </a:pPr>
            <a:r>
              <a:rPr lang="en-US" sz="1050" b="1" dirty="0">
                <a:solidFill>
                  <a:srgbClr val="FFFFFF"/>
                </a:solidFill>
                <a:latin typeface="Calibri" pitchFamily="34" charset="0"/>
                <a:ea typeface="Calibri" pitchFamily="34" charset="-122"/>
                <a:cs typeface="Calibri" pitchFamily="34" charset="-120"/>
              </a:rPr>
              <a:t>expert / vendor</a:t>
            </a:r>
            <a:endParaRPr lang="en-US" sz="1050" dirty="0"/>
          </a:p>
        </p:txBody>
      </p:sp>
      <p:sp>
        <p:nvSpPr>
          <p:cNvPr id="6" name="Text 4"/>
          <p:cNvSpPr/>
          <p:nvPr/>
        </p:nvSpPr>
        <p:spPr>
          <a:xfrm>
            <a:off x="2331720" y="1828800"/>
            <a:ext cx="118872" cy="1051560"/>
          </a:xfrm>
          <a:prstGeom prst="rect">
            <a:avLst/>
          </a:prstGeom>
          <a:noFill/>
          <a:ln/>
        </p:spPr>
        <p:txBody>
          <a:bodyPr wrap="square" rtlCol="0" anchor="ctr"/>
          <a:lstStyle/>
          <a:p>
            <a:pPr algn="ctr" indent="0" marL="0">
              <a:buNone/>
            </a:pPr>
            <a:r>
              <a:rPr lang="en-US" sz="1400" dirty="0">
                <a:solidFill>
                  <a:srgbClr val="6E7591"/>
                </a:solidFill>
                <a:latin typeface="Calibri" pitchFamily="34" charset="0"/>
                <a:ea typeface="Calibri" pitchFamily="34" charset="-122"/>
                <a:cs typeface="Calibri" pitchFamily="34" charset="-120"/>
              </a:rPr>
              <a:t>→</a:t>
            </a:r>
            <a:endParaRPr lang="en-US" sz="1400" dirty="0"/>
          </a:p>
        </p:txBody>
      </p:sp>
      <p:sp>
        <p:nvSpPr>
          <p:cNvPr id="7" name="Shape 5"/>
          <p:cNvSpPr/>
          <p:nvPr/>
        </p:nvSpPr>
        <p:spPr>
          <a:xfrm>
            <a:off x="2450592" y="1828800"/>
            <a:ext cx="1783080" cy="1051560"/>
          </a:xfrm>
          <a:prstGeom prst="roundRect">
            <a:avLst>
              <a:gd name="adj" fmla="val 6957"/>
            </a:avLst>
          </a:prstGeom>
          <a:solidFill>
            <a:srgbClr val="1E2761"/>
          </a:solidFill>
          <a:ln/>
        </p:spPr>
      </p:sp>
      <p:sp>
        <p:nvSpPr>
          <p:cNvPr id="8" name="Text 6"/>
          <p:cNvSpPr/>
          <p:nvPr/>
        </p:nvSpPr>
        <p:spPr>
          <a:xfrm>
            <a:off x="2523744" y="1828800"/>
            <a:ext cx="1636776" cy="1051560"/>
          </a:xfrm>
          <a:prstGeom prst="rect">
            <a:avLst/>
          </a:prstGeom>
          <a:noFill/>
          <a:ln/>
        </p:spPr>
        <p:txBody>
          <a:bodyPr wrap="square" rtlCol="0" anchor="ctr"/>
          <a:lstStyle/>
          <a:p>
            <a:pPr algn="ctr" indent="0" marL="0">
              <a:lnSpc>
                <a:spcPts val="1300"/>
              </a:lnSpc>
              <a:buNone/>
            </a:pPr>
            <a:r>
              <a:rPr lang="en-US" sz="1050" b="1" dirty="0">
                <a:solidFill>
                  <a:srgbClr val="FFFFFF"/>
                </a:solidFill>
                <a:latin typeface="Calibri" pitchFamily="34" charset="0"/>
                <a:ea typeface="Calibri" pitchFamily="34" charset="-122"/>
                <a:cs typeface="Calibri" pitchFamily="34" charset="-120"/>
              </a:rPr>
              <a:t>Validate claim</a:t>
            </a:r>
            <a:endParaRPr lang="en-US" sz="1050" dirty="0"/>
          </a:p>
          <a:p>
            <a:pPr algn="ctr" indent="0" marL="0">
              <a:lnSpc>
                <a:spcPts val="1300"/>
              </a:lnSpc>
              <a:buNone/>
            </a:pPr>
            <a:r>
              <a:rPr lang="en-US" sz="1050" b="1" dirty="0">
                <a:solidFill>
                  <a:srgbClr val="FFFFFF"/>
                </a:solidFill>
                <a:latin typeface="Calibri" pitchFamily="34" charset="0"/>
                <a:ea typeface="Calibri" pitchFamily="34" charset="-122"/>
                <a:cs typeface="Calibri" pitchFamily="34" charset="-120"/>
              </a:rPr>
              <a:t>+ expert</a:t>
            </a:r>
            <a:endParaRPr lang="en-US" sz="1050" dirty="0"/>
          </a:p>
        </p:txBody>
      </p:sp>
      <p:sp>
        <p:nvSpPr>
          <p:cNvPr id="9" name="Text 7"/>
          <p:cNvSpPr/>
          <p:nvPr/>
        </p:nvSpPr>
        <p:spPr>
          <a:xfrm>
            <a:off x="4233672" y="1828800"/>
            <a:ext cx="118872" cy="1051560"/>
          </a:xfrm>
          <a:prstGeom prst="rect">
            <a:avLst/>
          </a:prstGeom>
          <a:noFill/>
          <a:ln/>
        </p:spPr>
        <p:txBody>
          <a:bodyPr wrap="square" rtlCol="0" anchor="ctr"/>
          <a:lstStyle/>
          <a:p>
            <a:pPr algn="ctr" indent="0" marL="0">
              <a:buNone/>
            </a:pPr>
            <a:r>
              <a:rPr lang="en-US" sz="1400" dirty="0">
                <a:solidFill>
                  <a:srgbClr val="6E7591"/>
                </a:solidFill>
                <a:latin typeface="Calibri" pitchFamily="34" charset="0"/>
                <a:ea typeface="Calibri" pitchFamily="34" charset="-122"/>
                <a:cs typeface="Calibri" pitchFamily="34" charset="-120"/>
              </a:rPr>
              <a:t>→</a:t>
            </a:r>
            <a:endParaRPr lang="en-US" sz="1400" dirty="0"/>
          </a:p>
        </p:txBody>
      </p:sp>
      <p:sp>
        <p:nvSpPr>
          <p:cNvPr id="10" name="Shape 8"/>
          <p:cNvSpPr/>
          <p:nvPr/>
        </p:nvSpPr>
        <p:spPr>
          <a:xfrm>
            <a:off x="4352544" y="1828800"/>
            <a:ext cx="1783080" cy="1051560"/>
          </a:xfrm>
          <a:prstGeom prst="roundRect">
            <a:avLst>
              <a:gd name="adj" fmla="val 6957"/>
            </a:avLst>
          </a:prstGeom>
          <a:solidFill>
            <a:srgbClr val="1E2761"/>
          </a:solidFill>
          <a:ln/>
        </p:spPr>
      </p:sp>
      <p:sp>
        <p:nvSpPr>
          <p:cNvPr id="11" name="Text 9"/>
          <p:cNvSpPr/>
          <p:nvPr/>
        </p:nvSpPr>
        <p:spPr>
          <a:xfrm>
            <a:off x="4425696" y="1828800"/>
            <a:ext cx="1636776" cy="1051560"/>
          </a:xfrm>
          <a:prstGeom prst="rect">
            <a:avLst/>
          </a:prstGeom>
          <a:noFill/>
          <a:ln/>
        </p:spPr>
        <p:txBody>
          <a:bodyPr wrap="square" rtlCol="0" anchor="ctr"/>
          <a:lstStyle/>
          <a:p>
            <a:pPr algn="ctr" indent="0" marL="0">
              <a:lnSpc>
                <a:spcPts val="1300"/>
              </a:lnSpc>
              <a:buNone/>
            </a:pPr>
            <a:r>
              <a:rPr lang="en-US" sz="1050" b="1" dirty="0">
                <a:solidFill>
                  <a:srgbClr val="FFFFFF"/>
                </a:solidFill>
                <a:latin typeface="Calibri" pitchFamily="34" charset="0"/>
                <a:ea typeface="Calibri" pitchFamily="34" charset="-122"/>
                <a:cs typeface="Calibri" pitchFamily="34" charset="-120"/>
              </a:rPr>
              <a:t>Check duplicate &amp;</a:t>
            </a:r>
            <a:endParaRPr lang="en-US" sz="1050" dirty="0"/>
          </a:p>
          <a:p>
            <a:pPr algn="ctr" indent="0" marL="0">
              <a:lnSpc>
                <a:spcPts val="1300"/>
              </a:lnSpc>
              <a:buNone/>
            </a:pPr>
            <a:r>
              <a:rPr lang="en-US" sz="1050" b="1" dirty="0">
                <a:solidFill>
                  <a:srgbClr val="FFFFFF"/>
                </a:solidFill>
                <a:latin typeface="Calibri" pitchFamily="34" charset="0"/>
                <a:ea typeface="Calibri" pitchFamily="34" charset="-122"/>
                <a:cs typeface="Calibri" pitchFamily="34" charset="-120"/>
              </a:rPr>
              <a:t>double-booking</a:t>
            </a:r>
            <a:endParaRPr lang="en-US" sz="1050" dirty="0"/>
          </a:p>
        </p:txBody>
      </p:sp>
      <p:sp>
        <p:nvSpPr>
          <p:cNvPr id="12" name="Text 10"/>
          <p:cNvSpPr/>
          <p:nvPr/>
        </p:nvSpPr>
        <p:spPr>
          <a:xfrm>
            <a:off x="6135624" y="1828800"/>
            <a:ext cx="118872" cy="1051560"/>
          </a:xfrm>
          <a:prstGeom prst="rect">
            <a:avLst/>
          </a:prstGeom>
          <a:noFill/>
          <a:ln/>
        </p:spPr>
        <p:txBody>
          <a:bodyPr wrap="square" rtlCol="0" anchor="ctr"/>
          <a:lstStyle/>
          <a:p>
            <a:pPr algn="ctr" indent="0" marL="0">
              <a:buNone/>
            </a:pPr>
            <a:r>
              <a:rPr lang="en-US" sz="1400" dirty="0">
                <a:solidFill>
                  <a:srgbClr val="6E7591"/>
                </a:solidFill>
                <a:latin typeface="Calibri" pitchFamily="34" charset="0"/>
                <a:ea typeface="Calibri" pitchFamily="34" charset="-122"/>
                <a:cs typeface="Calibri" pitchFamily="34" charset="-120"/>
              </a:rPr>
              <a:t>→</a:t>
            </a:r>
            <a:endParaRPr lang="en-US" sz="1400" dirty="0"/>
          </a:p>
        </p:txBody>
      </p:sp>
      <p:sp>
        <p:nvSpPr>
          <p:cNvPr id="13" name="Shape 11"/>
          <p:cNvSpPr/>
          <p:nvPr/>
        </p:nvSpPr>
        <p:spPr>
          <a:xfrm>
            <a:off x="6254496" y="1828800"/>
            <a:ext cx="1783080" cy="1051560"/>
          </a:xfrm>
          <a:prstGeom prst="roundRect">
            <a:avLst>
              <a:gd name="adj" fmla="val 6957"/>
            </a:avLst>
          </a:prstGeom>
          <a:solidFill>
            <a:srgbClr val="3A4A9E"/>
          </a:solidFill>
          <a:ln/>
        </p:spPr>
      </p:sp>
      <p:sp>
        <p:nvSpPr>
          <p:cNvPr id="14" name="Text 12"/>
          <p:cNvSpPr/>
          <p:nvPr/>
        </p:nvSpPr>
        <p:spPr>
          <a:xfrm>
            <a:off x="6327648" y="1828800"/>
            <a:ext cx="1636776" cy="1051560"/>
          </a:xfrm>
          <a:prstGeom prst="rect">
            <a:avLst/>
          </a:prstGeom>
          <a:noFill/>
          <a:ln/>
        </p:spPr>
        <p:txBody>
          <a:bodyPr wrap="square" rtlCol="0" anchor="ctr"/>
          <a:lstStyle/>
          <a:p>
            <a:pPr algn="ctr" indent="0" marL="0">
              <a:lnSpc>
                <a:spcPts val="1300"/>
              </a:lnSpc>
              <a:buNone/>
            </a:pPr>
            <a:r>
              <a:rPr lang="en-US" sz="1050" b="1" dirty="0">
                <a:solidFill>
                  <a:srgbClr val="FFFFFF"/>
                </a:solidFill>
                <a:latin typeface="Calibri" pitchFamily="34" charset="0"/>
                <a:ea typeface="Calibri" pitchFamily="34" charset="-122"/>
                <a:cs typeface="Calibri" pitchFamily="34" charset="-120"/>
              </a:rPr>
              <a:t>Create</a:t>
            </a:r>
            <a:endParaRPr lang="en-US" sz="1050" dirty="0"/>
          </a:p>
          <a:p>
            <a:pPr algn="ctr" indent="0" marL="0">
              <a:lnSpc>
                <a:spcPts val="1300"/>
              </a:lnSpc>
              <a:buNone/>
            </a:pPr>
            <a:r>
              <a:rPr lang="en-US" sz="1050" b="1" dirty="0">
                <a:solidFill>
                  <a:srgbClr val="FFFFFF"/>
                </a:solidFill>
                <a:latin typeface="Calibri" pitchFamily="34" charset="0"/>
                <a:ea typeface="Calibri" pitchFamily="34" charset="-122"/>
                <a:cs typeface="Calibri" pitchFamily="34" charset="-120"/>
              </a:rPr>
              <a:t>work_orders</a:t>
            </a:r>
            <a:endParaRPr lang="en-US" sz="1050" dirty="0"/>
          </a:p>
        </p:txBody>
      </p:sp>
      <p:sp>
        <p:nvSpPr>
          <p:cNvPr id="15" name="Text 13"/>
          <p:cNvSpPr/>
          <p:nvPr/>
        </p:nvSpPr>
        <p:spPr>
          <a:xfrm>
            <a:off x="8037576" y="1828800"/>
            <a:ext cx="118872" cy="1051560"/>
          </a:xfrm>
          <a:prstGeom prst="rect">
            <a:avLst/>
          </a:prstGeom>
          <a:noFill/>
          <a:ln/>
        </p:spPr>
        <p:txBody>
          <a:bodyPr wrap="square" rtlCol="0" anchor="ctr"/>
          <a:lstStyle/>
          <a:p>
            <a:pPr algn="ctr" indent="0" marL="0">
              <a:buNone/>
            </a:pPr>
            <a:r>
              <a:rPr lang="en-US" sz="1400" dirty="0">
                <a:solidFill>
                  <a:srgbClr val="6E7591"/>
                </a:solidFill>
                <a:latin typeface="Calibri" pitchFamily="34" charset="0"/>
                <a:ea typeface="Calibri" pitchFamily="34" charset="-122"/>
                <a:cs typeface="Calibri" pitchFamily="34" charset="-120"/>
              </a:rPr>
              <a:t>→</a:t>
            </a:r>
            <a:endParaRPr lang="en-US" sz="1400" dirty="0"/>
          </a:p>
        </p:txBody>
      </p:sp>
      <p:sp>
        <p:nvSpPr>
          <p:cNvPr id="16" name="Shape 14"/>
          <p:cNvSpPr/>
          <p:nvPr/>
        </p:nvSpPr>
        <p:spPr>
          <a:xfrm>
            <a:off x="8156448" y="1828800"/>
            <a:ext cx="1783080" cy="1051560"/>
          </a:xfrm>
          <a:prstGeom prst="roundRect">
            <a:avLst>
              <a:gd name="adj" fmla="val 6957"/>
            </a:avLst>
          </a:prstGeom>
          <a:solidFill>
            <a:srgbClr val="3A4A9E"/>
          </a:solidFill>
          <a:ln/>
        </p:spPr>
      </p:sp>
      <p:sp>
        <p:nvSpPr>
          <p:cNvPr id="17" name="Text 15"/>
          <p:cNvSpPr/>
          <p:nvPr/>
        </p:nvSpPr>
        <p:spPr>
          <a:xfrm>
            <a:off x="8229600" y="1828800"/>
            <a:ext cx="1636776" cy="1051560"/>
          </a:xfrm>
          <a:prstGeom prst="rect">
            <a:avLst/>
          </a:prstGeom>
          <a:noFill/>
          <a:ln/>
        </p:spPr>
        <p:txBody>
          <a:bodyPr wrap="square" rtlCol="0" anchor="ctr"/>
          <a:lstStyle/>
          <a:p>
            <a:pPr algn="ctr" indent="0" marL="0">
              <a:lnSpc>
                <a:spcPts val="1300"/>
              </a:lnSpc>
              <a:buNone/>
            </a:pPr>
            <a:r>
              <a:rPr lang="en-US" sz="1050" b="1" dirty="0">
                <a:solidFill>
                  <a:srgbClr val="FFFFFF"/>
                </a:solidFill>
                <a:latin typeface="Calibri" pitchFamily="34" charset="0"/>
                <a:ea typeface="Calibri" pitchFamily="34" charset="-122"/>
                <a:cs typeface="Calibri" pitchFamily="34" charset="-120"/>
              </a:rPr>
              <a:t>Create</a:t>
            </a:r>
            <a:endParaRPr lang="en-US" sz="1050" dirty="0"/>
          </a:p>
          <a:p>
            <a:pPr algn="ctr" indent="0" marL="0">
              <a:lnSpc>
                <a:spcPts val="1300"/>
              </a:lnSpc>
              <a:buNone/>
            </a:pPr>
            <a:r>
              <a:rPr lang="en-US" sz="1050" b="1" dirty="0">
                <a:solidFill>
                  <a:srgbClr val="FFFFFF"/>
                </a:solidFill>
                <a:latin typeface="Calibri" pitchFamily="34" charset="0"/>
                <a:ea typeface="Calibri" pitchFamily="34" charset="-122"/>
                <a:cs typeface="Calibri" pitchFamily="34" charset="-120"/>
              </a:rPr>
              <a:t>dispatch_logs</a:t>
            </a:r>
            <a:endParaRPr lang="en-US" sz="1050" dirty="0"/>
          </a:p>
        </p:txBody>
      </p:sp>
      <p:sp>
        <p:nvSpPr>
          <p:cNvPr id="18" name="Text 16"/>
          <p:cNvSpPr/>
          <p:nvPr/>
        </p:nvSpPr>
        <p:spPr>
          <a:xfrm>
            <a:off x="9939528" y="1828800"/>
            <a:ext cx="118872" cy="1051560"/>
          </a:xfrm>
          <a:prstGeom prst="rect">
            <a:avLst/>
          </a:prstGeom>
          <a:noFill/>
          <a:ln/>
        </p:spPr>
        <p:txBody>
          <a:bodyPr wrap="square" rtlCol="0" anchor="ctr"/>
          <a:lstStyle/>
          <a:p>
            <a:pPr algn="ctr" indent="0" marL="0">
              <a:buNone/>
            </a:pPr>
            <a:r>
              <a:rPr lang="en-US" sz="1400" dirty="0">
                <a:solidFill>
                  <a:srgbClr val="6E7591"/>
                </a:solidFill>
                <a:latin typeface="Calibri" pitchFamily="34" charset="0"/>
                <a:ea typeface="Calibri" pitchFamily="34" charset="-122"/>
                <a:cs typeface="Calibri" pitchFamily="34" charset="-120"/>
              </a:rPr>
              <a:t>→</a:t>
            </a:r>
            <a:endParaRPr lang="en-US" sz="1400" dirty="0"/>
          </a:p>
        </p:txBody>
      </p:sp>
      <p:sp>
        <p:nvSpPr>
          <p:cNvPr id="19" name="Shape 17"/>
          <p:cNvSpPr/>
          <p:nvPr/>
        </p:nvSpPr>
        <p:spPr>
          <a:xfrm>
            <a:off x="10058400" y="1828800"/>
            <a:ext cx="1783080" cy="1051560"/>
          </a:xfrm>
          <a:prstGeom prst="roundRect">
            <a:avLst>
              <a:gd name="adj" fmla="val 6957"/>
            </a:avLst>
          </a:prstGeom>
          <a:solidFill>
            <a:srgbClr val="3A4A9E"/>
          </a:solidFill>
          <a:ln/>
        </p:spPr>
      </p:sp>
      <p:sp>
        <p:nvSpPr>
          <p:cNvPr id="20" name="Text 18"/>
          <p:cNvSpPr/>
          <p:nvPr/>
        </p:nvSpPr>
        <p:spPr>
          <a:xfrm>
            <a:off x="10131552" y="1828800"/>
            <a:ext cx="1636776" cy="1051560"/>
          </a:xfrm>
          <a:prstGeom prst="rect">
            <a:avLst/>
          </a:prstGeom>
          <a:noFill/>
          <a:ln/>
        </p:spPr>
        <p:txBody>
          <a:bodyPr wrap="square" rtlCol="0" anchor="ctr"/>
          <a:lstStyle/>
          <a:p>
            <a:pPr algn="ctr" indent="0" marL="0">
              <a:lnSpc>
                <a:spcPts val="1300"/>
              </a:lnSpc>
              <a:buNone/>
            </a:pPr>
            <a:r>
              <a:rPr lang="en-US" sz="1050" b="1" dirty="0">
                <a:solidFill>
                  <a:srgbClr val="FFFFFF"/>
                </a:solidFill>
                <a:latin typeface="Calibri" pitchFamily="34" charset="0"/>
                <a:ea typeface="Calibri" pitchFamily="34" charset="-122"/>
                <a:cs typeface="Calibri" pitchFamily="34" charset="-120"/>
              </a:rPr>
              <a:t>Resolve vendor +</a:t>
            </a:r>
            <a:endParaRPr lang="en-US" sz="1050" dirty="0"/>
          </a:p>
          <a:p>
            <a:pPr algn="ctr" indent="0" marL="0">
              <a:lnSpc>
                <a:spcPts val="1300"/>
              </a:lnSpc>
              <a:buNone/>
            </a:pPr>
            <a:r>
              <a:rPr lang="en-US" sz="1050" b="1" dirty="0">
                <a:solidFill>
                  <a:srgbClr val="FFFFFF"/>
                </a:solidFill>
                <a:latin typeface="Calibri" pitchFamily="34" charset="0"/>
                <a:ea typeface="Calibri" pitchFamily="34" charset="-122"/>
                <a:cs typeface="Calibri" pitchFamily="34" charset="-120"/>
              </a:rPr>
              <a:t>create vendor_jobs_input</a:t>
            </a:r>
            <a:endParaRPr lang="en-US" sz="1050" dirty="0"/>
          </a:p>
        </p:txBody>
      </p:sp>
      <p:sp>
        <p:nvSpPr>
          <p:cNvPr id="21" name="Text 19"/>
          <p:cNvSpPr/>
          <p:nvPr/>
        </p:nvSpPr>
        <p:spPr>
          <a:xfrm>
            <a:off x="548640" y="2926080"/>
            <a:ext cx="11064240" cy="320040"/>
          </a:xfrm>
          <a:prstGeom prst="rect">
            <a:avLst/>
          </a:prstGeom>
          <a:noFill/>
          <a:ln/>
        </p:spPr>
        <p:txBody>
          <a:bodyPr wrap="square" rtlCol="0" anchor="ctr"/>
          <a:lstStyle/>
          <a:p>
            <a:pPr algn="ctr" indent="0" marL="0">
              <a:buNone/>
            </a:pPr>
            <a:r>
              <a:rPr lang="en-US" sz="2000" dirty="0">
                <a:solidFill>
                  <a:srgbClr val="6E7591"/>
                </a:solidFill>
                <a:latin typeface="Calibri" pitchFamily="34" charset="0"/>
                <a:ea typeface="Calibri" pitchFamily="34" charset="-122"/>
                <a:cs typeface="Calibri" pitchFamily="34" charset="-120"/>
              </a:rPr>
              <a:t>↓</a:t>
            </a:r>
            <a:endParaRPr lang="en-US" sz="2000" dirty="0"/>
          </a:p>
        </p:txBody>
      </p:sp>
      <p:sp>
        <p:nvSpPr>
          <p:cNvPr id="22" name="Shape 20"/>
          <p:cNvSpPr/>
          <p:nvPr/>
        </p:nvSpPr>
        <p:spPr>
          <a:xfrm>
            <a:off x="2651760" y="3383280"/>
            <a:ext cx="2377440" cy="777240"/>
          </a:xfrm>
          <a:prstGeom prst="roundRect">
            <a:avLst>
              <a:gd name="adj" fmla="val 9412"/>
            </a:avLst>
          </a:prstGeom>
          <a:solidFill>
            <a:srgbClr val="1E2761"/>
          </a:solidFill>
          <a:ln/>
        </p:spPr>
      </p:sp>
      <p:sp>
        <p:nvSpPr>
          <p:cNvPr id="23" name="Text 21"/>
          <p:cNvSpPr/>
          <p:nvPr/>
        </p:nvSpPr>
        <p:spPr>
          <a:xfrm>
            <a:off x="2651760" y="3383280"/>
            <a:ext cx="2377440" cy="7772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Scheduled</a:t>
            </a:r>
            <a:endParaRPr lang="en-US" sz="1400" dirty="0"/>
          </a:p>
        </p:txBody>
      </p:sp>
      <p:sp>
        <p:nvSpPr>
          <p:cNvPr id="24" name="Text 22"/>
          <p:cNvSpPr/>
          <p:nvPr/>
        </p:nvSpPr>
        <p:spPr>
          <a:xfrm>
            <a:off x="5029200" y="3383280"/>
            <a:ext cx="457200" cy="777240"/>
          </a:xfrm>
          <a:prstGeom prst="rect">
            <a:avLst/>
          </a:prstGeom>
          <a:noFill/>
          <a:ln/>
        </p:spPr>
        <p:txBody>
          <a:bodyPr wrap="square" rtlCol="0" anchor="ctr"/>
          <a:lstStyle/>
          <a:p>
            <a:pPr algn="ctr" indent="0" marL="0">
              <a:buNone/>
            </a:pPr>
            <a:r>
              <a:rPr lang="en-US" sz="1800" dirty="0">
                <a:solidFill>
                  <a:srgbClr val="6E7591"/>
                </a:solidFill>
                <a:latin typeface="Calibri" pitchFamily="34" charset="0"/>
                <a:ea typeface="Calibri" pitchFamily="34" charset="-122"/>
                <a:cs typeface="Calibri" pitchFamily="34" charset="-120"/>
              </a:rPr>
              <a:t>→</a:t>
            </a:r>
            <a:endParaRPr lang="en-US" sz="1800" dirty="0"/>
          </a:p>
        </p:txBody>
      </p:sp>
      <p:sp>
        <p:nvSpPr>
          <p:cNvPr id="25" name="Shape 23"/>
          <p:cNvSpPr/>
          <p:nvPr/>
        </p:nvSpPr>
        <p:spPr>
          <a:xfrm>
            <a:off x="5486400" y="3383280"/>
            <a:ext cx="2377440" cy="777240"/>
          </a:xfrm>
          <a:prstGeom prst="roundRect">
            <a:avLst>
              <a:gd name="adj" fmla="val 9412"/>
            </a:avLst>
          </a:prstGeom>
          <a:solidFill>
            <a:srgbClr val="D98A2B"/>
          </a:solidFill>
          <a:ln/>
        </p:spPr>
      </p:sp>
      <p:sp>
        <p:nvSpPr>
          <p:cNvPr id="26" name="Text 24"/>
          <p:cNvSpPr/>
          <p:nvPr/>
        </p:nvSpPr>
        <p:spPr>
          <a:xfrm>
            <a:off x="5486400" y="3383280"/>
            <a:ext cx="2377440" cy="7772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In Progress</a:t>
            </a:r>
            <a:endParaRPr lang="en-US" sz="1400" dirty="0"/>
          </a:p>
        </p:txBody>
      </p:sp>
      <p:sp>
        <p:nvSpPr>
          <p:cNvPr id="27" name="Text 25"/>
          <p:cNvSpPr/>
          <p:nvPr/>
        </p:nvSpPr>
        <p:spPr>
          <a:xfrm>
            <a:off x="7863840" y="3383280"/>
            <a:ext cx="457200" cy="777240"/>
          </a:xfrm>
          <a:prstGeom prst="rect">
            <a:avLst/>
          </a:prstGeom>
          <a:noFill/>
          <a:ln/>
        </p:spPr>
        <p:txBody>
          <a:bodyPr wrap="square" rtlCol="0" anchor="ctr"/>
          <a:lstStyle/>
          <a:p>
            <a:pPr algn="ctr" indent="0" marL="0">
              <a:buNone/>
            </a:pPr>
            <a:r>
              <a:rPr lang="en-US" sz="1800" dirty="0">
                <a:solidFill>
                  <a:srgbClr val="6E7591"/>
                </a:solidFill>
                <a:latin typeface="Calibri" pitchFamily="34" charset="0"/>
                <a:ea typeface="Calibri" pitchFamily="34" charset="-122"/>
                <a:cs typeface="Calibri" pitchFamily="34" charset="-120"/>
              </a:rPr>
              <a:t>→</a:t>
            </a:r>
            <a:endParaRPr lang="en-US" sz="1800" dirty="0"/>
          </a:p>
        </p:txBody>
      </p:sp>
      <p:sp>
        <p:nvSpPr>
          <p:cNvPr id="28" name="Shape 26"/>
          <p:cNvSpPr/>
          <p:nvPr/>
        </p:nvSpPr>
        <p:spPr>
          <a:xfrm>
            <a:off x="8321040" y="3383280"/>
            <a:ext cx="2377440" cy="777240"/>
          </a:xfrm>
          <a:prstGeom prst="roundRect">
            <a:avLst>
              <a:gd name="adj" fmla="val 9412"/>
            </a:avLst>
          </a:prstGeom>
          <a:solidFill>
            <a:srgbClr val="2E9E6D"/>
          </a:solidFill>
          <a:ln/>
        </p:spPr>
      </p:sp>
      <p:sp>
        <p:nvSpPr>
          <p:cNvPr id="29" name="Text 27"/>
          <p:cNvSpPr/>
          <p:nvPr/>
        </p:nvSpPr>
        <p:spPr>
          <a:xfrm>
            <a:off x="8321040" y="3383280"/>
            <a:ext cx="2377440" cy="7772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Completed</a:t>
            </a:r>
            <a:endParaRPr lang="en-US" sz="1400" dirty="0"/>
          </a:p>
        </p:txBody>
      </p:sp>
      <p:sp>
        <p:nvSpPr>
          <p:cNvPr id="30" name="Text 28"/>
          <p:cNvSpPr/>
          <p:nvPr/>
        </p:nvSpPr>
        <p:spPr>
          <a:xfrm>
            <a:off x="548640" y="4206240"/>
            <a:ext cx="11064240" cy="320040"/>
          </a:xfrm>
          <a:prstGeom prst="rect">
            <a:avLst/>
          </a:prstGeom>
          <a:noFill/>
          <a:ln/>
        </p:spPr>
        <p:txBody>
          <a:bodyPr wrap="square" rtlCol="0" anchor="ctr"/>
          <a:lstStyle/>
          <a:p>
            <a:pPr algn="ctr" indent="0" marL="0">
              <a:buNone/>
            </a:pPr>
            <a:r>
              <a:rPr lang="en-US" sz="2000" dirty="0">
                <a:solidFill>
                  <a:srgbClr val="6E7591"/>
                </a:solidFill>
                <a:latin typeface="Calibri" pitchFamily="34" charset="0"/>
                <a:ea typeface="Calibri" pitchFamily="34" charset="-122"/>
                <a:cs typeface="Calibri" pitchFamily="34" charset="-120"/>
              </a:rPr>
              <a:t>↓</a:t>
            </a:r>
            <a:endParaRPr lang="en-US" sz="2000" dirty="0"/>
          </a:p>
        </p:txBody>
      </p:sp>
      <p:sp>
        <p:nvSpPr>
          <p:cNvPr id="31" name="Shape 29"/>
          <p:cNvSpPr/>
          <p:nvPr/>
        </p:nvSpPr>
        <p:spPr>
          <a:xfrm>
            <a:off x="3566160" y="4526280"/>
            <a:ext cx="5029200" cy="640080"/>
          </a:xfrm>
          <a:prstGeom prst="roundRect">
            <a:avLst>
              <a:gd name="adj" fmla="val 11429"/>
            </a:avLst>
          </a:prstGeom>
          <a:solidFill>
            <a:srgbClr val="F4F6FC"/>
          </a:solidFill>
          <a:ln w="12700">
            <a:solidFill>
              <a:srgbClr val="E3E7F5"/>
            </a:solidFill>
            <a:prstDash val="solid"/>
          </a:ln>
        </p:spPr>
      </p:sp>
      <p:sp>
        <p:nvSpPr>
          <p:cNvPr id="32" name="Text 30"/>
          <p:cNvSpPr/>
          <p:nvPr/>
        </p:nvSpPr>
        <p:spPr>
          <a:xfrm>
            <a:off x="3566160" y="4526280"/>
            <a:ext cx="5029200" cy="640080"/>
          </a:xfrm>
          <a:prstGeom prst="rect">
            <a:avLst/>
          </a:prstGeom>
          <a:noFill/>
          <a:ln/>
        </p:spPr>
        <p:txBody>
          <a:bodyPr wrap="square" rtlCol="0" anchor="ctr"/>
          <a:lstStyle/>
          <a:p>
            <a:pPr algn="ctr" indent="0" marL="0">
              <a:buNone/>
            </a:pPr>
            <a:r>
              <a:rPr lang="en-US" sz="1200" b="1" dirty="0">
                <a:solidFill>
                  <a:srgbClr val="23283B"/>
                </a:solidFill>
                <a:latin typeface="Courier New" pitchFamily="34" charset="0"/>
                <a:ea typeface="Courier New" pitchFamily="34" charset="-122"/>
                <a:cs typeface="Courier New" pitchFamily="34" charset="-120"/>
              </a:rPr>
              <a:t>vendor_jobs_input.active = No  →  ready for downstream agents</a:t>
            </a:r>
            <a:endParaRPr lang="en-US" sz="1200" dirty="0"/>
          </a:p>
        </p:txBody>
      </p:sp>
      <p:sp>
        <p:nvSpPr>
          <p:cNvPr id="33" name="Text 31"/>
          <p:cNvSpPr/>
          <p:nvPr/>
        </p:nvSpPr>
        <p:spPr>
          <a:xfrm>
            <a:off x="11548872" y="6400800"/>
            <a:ext cx="365760" cy="274320"/>
          </a:xfrm>
          <a:prstGeom prst="rect">
            <a:avLst/>
          </a:prstGeom>
          <a:noFill/>
          <a:ln/>
        </p:spPr>
        <p:txBody>
          <a:bodyPr wrap="square" rtlCol="0" anchor="ctr"/>
          <a:lstStyle/>
          <a:p>
            <a:pPr algn="r" indent="0" marL="0">
              <a:buNone/>
            </a:pPr>
            <a:r>
              <a:rPr lang="en-US" sz="1000" dirty="0">
                <a:solidFill>
                  <a:srgbClr val="6E7591"/>
                </a:solidFill>
                <a:latin typeface="Calibri" pitchFamily="34" charset="0"/>
                <a:ea typeface="Calibri" pitchFamily="34" charset="-122"/>
                <a:cs typeface="Calibri" pitchFamily="34" charset="-120"/>
              </a:rPr>
              <a:t>13</a:t>
            </a:r>
            <a:endParaRPr lang="en-US" sz="1000" dirty="0"/>
          </a:p>
        </p:txBody>
      </p:sp>
      <p:sp>
        <p:nvSpPr>
          <p:cNvPr id="34" name="Text 32"/>
          <p:cNvSpPr/>
          <p:nvPr/>
        </p:nvSpPr>
        <p:spPr>
          <a:xfrm>
            <a:off x="457200" y="6400800"/>
            <a:ext cx="5486400" cy="274320"/>
          </a:xfrm>
          <a:prstGeom prst="rect">
            <a:avLst/>
          </a:prstGeom>
          <a:noFill/>
          <a:ln/>
        </p:spPr>
        <p:txBody>
          <a:bodyPr wrap="square" rtlCol="0" anchor="ctr"/>
          <a:lstStyle/>
          <a:p>
            <a:pPr indent="0" marL="0">
              <a:buNone/>
            </a:pPr>
            <a:r>
              <a:rPr lang="en-US" sz="1000" dirty="0">
                <a:solidFill>
                  <a:srgbClr val="6E7591"/>
                </a:solidFill>
                <a:latin typeface="Calibri" pitchFamily="34" charset="0"/>
                <a:ea typeface="Calibri" pitchFamily="34" charset="-122"/>
                <a:cs typeface="Calibri" pitchFamily="34" charset="-120"/>
              </a:rPr>
              <a:t>Dispatch Agent</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2286000" y="4114800"/>
            <a:ext cx="5486400" cy="5486400"/>
          </a:xfrm>
          <a:prstGeom prst="ellipse">
            <a:avLst/>
          </a:prstGeom>
          <a:solidFill>
            <a:srgbClr val="141B47"/>
          </a:solidFill>
          <a:ln/>
        </p:spPr>
      </p:sp>
      <p:sp>
        <p:nvSpPr>
          <p:cNvPr id="3" name="Text 1"/>
          <p:cNvSpPr/>
          <p:nvPr/>
        </p:nvSpPr>
        <p:spPr>
          <a:xfrm>
            <a:off x="822960" y="914400"/>
            <a:ext cx="5486400" cy="320040"/>
          </a:xfrm>
          <a:prstGeom prst="rect">
            <a:avLst/>
          </a:prstGeom>
          <a:noFill/>
          <a:ln/>
        </p:spPr>
        <p:txBody>
          <a:bodyPr wrap="square" rtlCol="0" anchor="ctr"/>
          <a:lstStyle/>
          <a:p>
            <a:pPr indent="0" marL="0">
              <a:buNone/>
            </a:pPr>
            <a:r>
              <a:rPr lang="en-US" sz="1300" b="1" spc="300" kern="0" dirty="0">
                <a:solidFill>
                  <a:srgbClr val="CADCFC"/>
                </a:solidFill>
                <a:latin typeface="Calibri" pitchFamily="34" charset="0"/>
                <a:ea typeface="Calibri" pitchFamily="34" charset="-122"/>
                <a:cs typeface="Calibri" pitchFamily="34" charset="-120"/>
              </a:rPr>
              <a:t>SUMMARY</a:t>
            </a:r>
            <a:endParaRPr lang="en-US" sz="1300" dirty="0"/>
          </a:p>
        </p:txBody>
      </p:sp>
      <p:sp>
        <p:nvSpPr>
          <p:cNvPr id="4" name="Text 2"/>
          <p:cNvSpPr/>
          <p:nvPr/>
        </p:nvSpPr>
        <p:spPr>
          <a:xfrm>
            <a:off x="777240" y="1234440"/>
            <a:ext cx="10058400" cy="68580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One-Line Explanation</a:t>
            </a:r>
            <a:endParaRPr lang="en-US" sz="3200" dirty="0"/>
          </a:p>
        </p:txBody>
      </p:sp>
      <p:sp>
        <p:nvSpPr>
          <p:cNvPr id="5" name="Shape 3"/>
          <p:cNvSpPr/>
          <p:nvPr/>
        </p:nvSpPr>
        <p:spPr>
          <a:xfrm>
            <a:off x="822960" y="2194560"/>
            <a:ext cx="10515600" cy="2286000"/>
          </a:xfrm>
          <a:prstGeom prst="roundRect">
            <a:avLst>
              <a:gd name="adj" fmla="val 4000"/>
            </a:avLst>
          </a:prstGeom>
          <a:solidFill>
            <a:srgbClr val="141B47"/>
          </a:solidFill>
          <a:ln w="12700">
            <a:solidFill>
              <a:srgbClr val="34407A"/>
            </a:solidFill>
            <a:prstDash val="solid"/>
          </a:ln>
        </p:spPr>
      </p:sp>
      <p:sp>
        <p:nvSpPr>
          <p:cNvPr id="6" name="Text 4"/>
          <p:cNvSpPr/>
          <p:nvPr/>
        </p:nvSpPr>
        <p:spPr>
          <a:xfrm>
            <a:off x="1143000" y="2423160"/>
            <a:ext cx="9875520" cy="1828800"/>
          </a:xfrm>
          <a:prstGeom prst="rect">
            <a:avLst/>
          </a:prstGeom>
          <a:noFill/>
          <a:ln/>
        </p:spPr>
        <p:txBody>
          <a:bodyPr wrap="square" rtlCol="0" anchor="ctr"/>
          <a:lstStyle/>
          <a:p>
            <a:pPr indent="0" marL="0">
              <a:lnSpc>
                <a:spcPts val="2200"/>
              </a:lnSpc>
              <a:buNone/>
            </a:pPr>
            <a:r>
              <a:rPr lang="en-US" sz="1500" i="1" dirty="0">
                <a:solidFill>
                  <a:srgbClr val="CADCFC"/>
                </a:solidFill>
                <a:latin typeface="Calibri" pitchFamily="34" charset="0"/>
                <a:ea typeface="Calibri" pitchFamily="34" charset="-122"/>
                <a:cs typeface="Calibri" pitchFamily="34" charset="-120"/>
              </a:rPr>
              <a:t>The Dispatch Agent takes an eligible claim and selected expert/scheduling information, validates the claim and expert against master data, prevents duplicate or conflicting assignments, creates and tracks the work order and audit history, and synchronizes the corresponding vendor job through its Scheduled → In Progress → Completed/Canceled lifecycle for downstream vendor-management processing.</a:t>
            </a:r>
            <a:endParaRPr lang="en-US" sz="1500" dirty="0"/>
          </a:p>
        </p:txBody>
      </p:sp>
      <p:sp>
        <p:nvSpPr>
          <p:cNvPr id="7" name="Shape 5"/>
          <p:cNvSpPr/>
          <p:nvPr/>
        </p:nvSpPr>
        <p:spPr>
          <a:xfrm>
            <a:off x="822960" y="4892040"/>
            <a:ext cx="3383280" cy="640080"/>
          </a:xfrm>
          <a:prstGeom prst="roundRect">
            <a:avLst>
              <a:gd name="adj" fmla="val 50000"/>
            </a:avLst>
          </a:prstGeom>
          <a:solidFill>
            <a:srgbClr val="232C63"/>
          </a:solidFill>
          <a:ln/>
        </p:spPr>
      </p:sp>
      <p:sp>
        <p:nvSpPr>
          <p:cNvPr id="8" name="Text 6"/>
          <p:cNvSpPr/>
          <p:nvPr/>
        </p:nvSpPr>
        <p:spPr>
          <a:xfrm>
            <a:off x="822960" y="4892040"/>
            <a:ext cx="3383280" cy="640080"/>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Validated at every step</a:t>
            </a:r>
            <a:endParaRPr lang="en-US" sz="1250" dirty="0"/>
          </a:p>
        </p:txBody>
      </p:sp>
      <p:sp>
        <p:nvSpPr>
          <p:cNvPr id="9" name="Shape 7"/>
          <p:cNvSpPr/>
          <p:nvPr/>
        </p:nvSpPr>
        <p:spPr>
          <a:xfrm>
            <a:off x="4389120" y="4892040"/>
            <a:ext cx="3383280" cy="640080"/>
          </a:xfrm>
          <a:prstGeom prst="roundRect">
            <a:avLst>
              <a:gd name="adj" fmla="val 50000"/>
            </a:avLst>
          </a:prstGeom>
          <a:solidFill>
            <a:srgbClr val="232C63"/>
          </a:solidFill>
          <a:ln/>
        </p:spPr>
      </p:sp>
      <p:sp>
        <p:nvSpPr>
          <p:cNvPr id="10" name="Text 8"/>
          <p:cNvSpPr/>
          <p:nvPr/>
        </p:nvSpPr>
        <p:spPr>
          <a:xfrm>
            <a:off x="4389120" y="4892040"/>
            <a:ext cx="3383280" cy="640080"/>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Fully auditable</a:t>
            </a:r>
            <a:endParaRPr lang="en-US" sz="1250" dirty="0"/>
          </a:p>
        </p:txBody>
      </p:sp>
      <p:sp>
        <p:nvSpPr>
          <p:cNvPr id="11" name="Shape 9"/>
          <p:cNvSpPr/>
          <p:nvPr/>
        </p:nvSpPr>
        <p:spPr>
          <a:xfrm>
            <a:off x="7955280" y="4892040"/>
            <a:ext cx="3383280" cy="640080"/>
          </a:xfrm>
          <a:prstGeom prst="roundRect">
            <a:avLst>
              <a:gd name="adj" fmla="val 50000"/>
            </a:avLst>
          </a:prstGeom>
          <a:solidFill>
            <a:srgbClr val="232C63"/>
          </a:solidFill>
          <a:ln/>
        </p:spPr>
      </p:sp>
      <p:sp>
        <p:nvSpPr>
          <p:cNvPr id="12" name="Text 10"/>
          <p:cNvSpPr/>
          <p:nvPr/>
        </p:nvSpPr>
        <p:spPr>
          <a:xfrm>
            <a:off x="7955280" y="4892040"/>
            <a:ext cx="3383280" cy="640080"/>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Vendor-synced automatically</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2026-08-24T08:13:29Z</dcterms:created>
  <dcterms:modified xsi:type="dcterms:W3CDTF">2026-08-24T08:13:29Z</dcterms:modified>
</cp:coreProperties>
</file>